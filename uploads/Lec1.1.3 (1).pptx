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29"/>
  </p:notesMasterIdLst>
  <p:sldIdLst>
    <p:sldId id="257" r:id="rId3"/>
    <p:sldId id="452" r:id="rId4"/>
    <p:sldId id="466" r:id="rId5"/>
    <p:sldId id="453" r:id="rId6"/>
    <p:sldId id="454" r:id="rId7"/>
    <p:sldId id="455" r:id="rId8"/>
    <p:sldId id="456" r:id="rId9"/>
    <p:sldId id="457" r:id="rId10"/>
    <p:sldId id="458" r:id="rId11"/>
    <p:sldId id="372" r:id="rId12"/>
    <p:sldId id="419" r:id="rId13"/>
    <p:sldId id="373" r:id="rId14"/>
    <p:sldId id="438" r:id="rId15"/>
    <p:sldId id="439" r:id="rId16"/>
    <p:sldId id="444" r:id="rId17"/>
    <p:sldId id="418" r:id="rId18"/>
    <p:sldId id="428" r:id="rId19"/>
    <p:sldId id="459" r:id="rId20"/>
    <p:sldId id="460" r:id="rId21"/>
    <p:sldId id="467" r:id="rId22"/>
    <p:sldId id="468" r:id="rId23"/>
    <p:sldId id="469" r:id="rId24"/>
    <p:sldId id="470" r:id="rId25"/>
    <p:sldId id="423" r:id="rId26"/>
    <p:sldId id="465" r:id="rId27"/>
    <p:sldId id="42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97BBC-1C78-4FB1-8248-4F719F764F24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ED7F6-E93D-4BE5-AE85-A45E9BEEF2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79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4650" y="698500"/>
            <a:ext cx="6205538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503EA0-C788-D447-B8B6-EF9D00D7B489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750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29187C-6286-4A77-A777-243F60DE312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426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BC19A3-050A-459F-8D79-FF245B4A601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Background source: PCA (1992).</a:t>
            </a:r>
          </a:p>
        </p:txBody>
      </p:sp>
    </p:spTree>
    <p:extLst>
      <p:ext uri="{BB962C8B-B14F-4D97-AF65-F5344CB8AC3E}">
        <p14:creationId xmlns:p14="http://schemas.microsoft.com/office/powerpoint/2010/main" val="4066779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29187C-6286-4A77-A777-243F60DE312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426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BC19A3-050A-459F-8D79-FF245B4A601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Background source: PCA (1992).</a:t>
            </a:r>
          </a:p>
        </p:txBody>
      </p:sp>
    </p:spTree>
    <p:extLst>
      <p:ext uri="{BB962C8B-B14F-4D97-AF65-F5344CB8AC3E}">
        <p14:creationId xmlns:p14="http://schemas.microsoft.com/office/powerpoint/2010/main" val="4066779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ED7F6-E93D-4BE5-AE85-A45E9BEEF28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392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29187C-6286-4A77-A777-243F60DE312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8500"/>
            <a:ext cx="6205538" cy="3490913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426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FCB7-CB7A-EF57-09CC-A16E0110A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9D702-E07E-0EBD-F3E0-BAF032BA5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07FA9-7673-5127-6605-FA5532142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3C572-61DC-3504-3EF6-B02BA6BD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5949C-B4A2-995F-04D5-772F5D7C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352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B2B2-AE93-4E0C-DC60-9C5BAD9C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A7E5C-69D5-65C1-9365-F44A32AFC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D3A33-6EE6-6635-F1B1-BFFD1933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921A2-80CC-AE09-77CE-D90E13343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BA64E-8998-7D0A-B335-A6CB43380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21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60E4A-5F49-E15A-5BB3-CB4D5AE31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C0574-FB47-AC9F-A2A7-19B35B3F6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4AD1D-8073-5B92-2061-3F3B8844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1740A-029C-3FD0-D545-1F0483A4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2889E-72E9-ABC0-168F-63F56608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67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CFDFE-8218-5F63-1558-059415FC8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CB4BA-5113-F2EA-AA78-D949A4E69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78578-A2E1-C35F-5FA2-068852166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9DB37-A4A8-EF3B-2F03-C9061D41A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3167A-3A53-8C95-2F99-7B4C755F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A96F7-2C4D-A4E7-B072-44A2330E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10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469E6-0CD5-9827-1B8C-BE8EEB40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441A8-79F5-FE94-6833-2EB6F8536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3DA6F-2BF0-1A2F-85C7-FB8EF10D3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30F1E-5C4D-CA72-E163-2636503BC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1A63F-09BA-7DD0-61BE-C475B21F9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6B3027-D899-F183-9A21-ABF78891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1012C-1E64-9F39-CA7A-EC1A7A61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9547C-FCD5-9D3B-EFDB-ED1F5ACC6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17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772F-D857-4EB9-9382-4FE3E0957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05008-4CCE-BA6F-BE07-454DCC29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0C4D7-A815-967C-1EFB-13833F39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4ABC5-0B67-4F0F-5660-4D434F63D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19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087326-B102-923B-7336-B97A6C4A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621E2-F767-1422-60DB-3C3B73F4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7C595-CB6C-F112-9464-21F7F14F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95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9604-9504-956E-F7B1-7E7C07B22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FA1D-F667-C0C2-72A3-2BC364275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C71D8-053C-AC44-6C9E-515AB9213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E19AA-34B2-41E2-47D0-90C766316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C3156-6812-3CEA-40D0-838D6042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B241F-6B6E-2F2F-7776-773B1C32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714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EA0D-0437-8122-F480-34B6FAD09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935010-8407-296E-92CD-076A55581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BA20B-C725-8D83-B588-9A8F8A5D9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12000-7E1C-E770-2515-8557AECC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543E5-63C5-F78E-F7A1-3477915C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ADB5D-1B6F-F64B-D554-2E73B1E4A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01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4B38-E12C-0018-9F04-743342D7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348DB-C5C3-9CB4-C907-0FB9B2E90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3430A-D453-05CB-016A-8824F736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0B230-3568-70FB-0F1B-54BD9AC2B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249E0-026A-E098-591F-FEBEC8B5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912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F49A20-4B83-1AC5-14F1-99B9BFD6F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10FE6-63BF-13F3-A387-819E90E67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F91C8-6C4B-FBD2-EE41-CCBC3C26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4C813-6013-9790-A311-22F5C6988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C5212-AFA5-D3F2-D451-7622F41D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352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marR="0" lvl="0" indent="-507987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219170" marR="0" lvl="1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74121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09" y="29379"/>
            <a:ext cx="869748" cy="1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52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33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527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71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24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86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186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89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818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590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6292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264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800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800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2" y="1009650"/>
            <a:ext cx="10020301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800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2" y="2819400"/>
            <a:ext cx="8496301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04227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9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8F50E5-D19B-CD39-35E4-FC9C3AD1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97161-CC43-E59E-09FE-5D0FA7DD8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31827-6712-2205-A07C-90C41CC64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7D9B2-DACF-4D45-BAAA-7DEC758E98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CD520-F1FE-4ABE-79EB-90C198D4B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0D6F2-CFD3-0FCB-1C95-79C6687D7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367CC-D4DD-4254-8921-7354FB1AB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67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EE81D-909D-4FAE-8600-C45BE91A7671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C18B4-EC45-4806-BAF9-0B6705CC58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47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nptel.ac.in/courses/111/105/111105090/" TargetMode="External"/><Relationship Id="rId2" Type="http://schemas.openxmlformats.org/officeDocument/2006/relationships/hyperlink" Target="https://nptel.ac.in/courses/106/105/106105191/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youtube.com/watch?v=S_Zx-g8FU0w&amp;list=PL6C92B335BD4238AB&amp;index=18" TargetMode="External"/><Relationship Id="rId4" Type="http://schemas.openxmlformats.org/officeDocument/2006/relationships/hyperlink" Target="https://www.youtube.com/watch?v=RYIb1u3C13I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7" y="1623357"/>
            <a:ext cx="3710644" cy="371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8763000" y="65087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10395517" y="5716751"/>
            <a:ext cx="1291200" cy="1157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7046399" y="-65087"/>
            <a:ext cx="5145600" cy="5853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124075" y="2025527"/>
            <a:ext cx="6829600" cy="1580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9814000" y="5239000"/>
            <a:ext cx="2366400" cy="16004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40863" y="813557"/>
            <a:ext cx="10951200" cy="5525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3200"/>
              <a:buFontTx/>
              <a:buNone/>
              <a:tabLst/>
              <a:defRPr/>
            </a:pPr>
            <a:r>
              <a:rPr kumimoji="0" lang="en-US" sz="42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prstClr val="black"/>
              </a:buClr>
              <a:buSzPts val="3200"/>
              <a:buFontTx/>
              <a:buNone/>
              <a:tabLst/>
              <a:defRPr/>
            </a:pPr>
            <a:r>
              <a:rPr kumimoji="0" lang="en-US" sz="42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AIT-CSE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prstClr val="black"/>
              </a:buClr>
              <a:buSzPts val="2800"/>
              <a:buFontTx/>
              <a:buNone/>
              <a:tabLst/>
              <a:defRPr/>
            </a:pPr>
            <a:r>
              <a:rPr kumimoji="0" lang="en-IN" sz="26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(CSE)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prstClr val="black"/>
              </a:buClr>
              <a:buSzPts val="2800"/>
              <a:buFontTx/>
              <a:buNone/>
              <a:tabLst/>
              <a:defRPr/>
            </a:pPr>
            <a:r>
              <a:rPr kumimoji="0" lang="en-US" sz="26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AIML\Semester-4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307"/>
              </a:spcBef>
              <a:spcAft>
                <a:spcPts val="0"/>
              </a:spcAft>
              <a:buClr>
                <a:prstClr val="black"/>
              </a:buClr>
              <a:buSzPts val="2800"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STATISTICAL METHODS FOR AI</a:t>
            </a:r>
            <a:endParaRPr kumimoji="0" sz="213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307"/>
              </a:spcBef>
              <a:spcAft>
                <a:spcPts val="0"/>
              </a:spcAft>
              <a:buClr>
                <a:prstClr val="black"/>
              </a:buClr>
              <a:buSzPts val="2800"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24CST-295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kumimoji="0" sz="213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493"/>
              </a:spcBef>
              <a:spcAft>
                <a:spcPts val="0"/>
              </a:spcAft>
              <a:buClrTx/>
              <a:buSzPts val="32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 1                    Chapter No.  1                   Lecture No.1.1.</a:t>
            </a:r>
            <a:r>
              <a:rPr lang="en-US" sz="2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spcBef>
                <a:spcPts val="1493"/>
              </a:spcBef>
              <a:buSzPts val="3200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IN" sz="2400" b="1" dirty="0"/>
              <a:t>Population and Sample, Data Types</a:t>
            </a: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93"/>
              </a:spcBef>
              <a:spcAft>
                <a:spcPts val="0"/>
              </a:spcAft>
              <a:buClrTx/>
              <a:buSzPts val="3200"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Name and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E_Code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Dr Neetu(E17077)             Designation: Assistant Professor</a:t>
            </a: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7046401" y="0"/>
            <a:ext cx="5145599" cy="789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A91DC9-7965-FB48-9385-20B56B4847C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602701" y="206459"/>
          <a:ext cx="9619654" cy="3331028"/>
        </p:xfrm>
        <a:graphic>
          <a:graphicData uri="http://schemas.openxmlformats.org/drawingml/2006/table">
            <a:tbl>
              <a:tblPr/>
              <a:tblGrid>
                <a:gridCol w="1053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6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7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Chapter</a:t>
                      </a:r>
                      <a:endParaRPr lang="en-IN" sz="18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Course Objectives</a:t>
                      </a:r>
                      <a:endParaRPr lang="en-IN" sz="1800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00"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/>
                        <a:buNone/>
                      </a:pPr>
                      <a:r>
                        <a:rPr lang="en-US" sz="1800" baseline="0" dirty="0">
                          <a:latin typeface="Arial" pitchFamily="34" charset="0"/>
                          <a:ea typeface="Noto Sans Symbols"/>
                          <a:cs typeface="Arial" pitchFamily="34" charset="0"/>
                        </a:rPr>
                        <a:t> 1</a:t>
                      </a:r>
                      <a:endParaRPr lang="en-IN" sz="1800" dirty="0">
                        <a:latin typeface="Arial" pitchFamily="34" charset="0"/>
                        <a:ea typeface="Noto Sans Symbols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enable students to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 a solid understanding of foundational statistical concepts and techniques relevant to artificial intelligence applications. </a:t>
                      </a:r>
                      <a:endParaRPr lang="en-IN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impart analytical ability in solving mathematical problems as applied to the respective branches of Engineering.</a:t>
                      </a:r>
                      <a:endParaRPr lang="en-IN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enable students to gain proficiency in applying statistical methodologies, including regression, classification, clustering, time series analysis, and experimental design, to analyze and model data in AI contexts.</a:t>
                      </a:r>
                      <a:endParaRPr lang="en-IN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prepare students for real-world AI projects and research endeavors by providing them with a solid foundation in statistical methods, enabling them to contribute effectively to the advancement of AI technologies.</a:t>
                      </a:r>
                      <a:endParaRPr lang="en-IN" sz="2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622323" y="3537487"/>
          <a:ext cx="9600032" cy="1730830"/>
        </p:xfrm>
        <a:graphic>
          <a:graphicData uri="http://schemas.openxmlformats.org/drawingml/2006/table">
            <a:tbl>
              <a:tblPr/>
              <a:tblGrid>
                <a:gridCol w="1022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7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6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Chapter</a:t>
                      </a:r>
                      <a:endParaRPr lang="en-IN" sz="180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Course Outcomes</a:t>
                      </a:r>
                      <a:endParaRPr lang="en-IN" sz="180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0230">
                <a:tc>
                  <a:txBody>
                    <a:bodyPr/>
                    <a:lstStyle/>
                    <a:p>
                      <a:pPr marL="342265" indent="-25400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</a:t>
                      </a:r>
                      <a:endParaRPr lang="en-IN" sz="180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6866" marR="6686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35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 will be able to </a:t>
                      </a:r>
                    </a:p>
                    <a:p>
                      <a:pPr algn="just"/>
                      <a:endParaRPr lang="en-US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Remember the foundational concepts of statistics, probability theory, regression methods, and estimation principles essential for AI and data-driven problem-solving.</a:t>
                      </a:r>
                      <a:endParaRPr lang="en-US" sz="135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866" marR="668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176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AC45DC-216D-F305-7B32-EEBAE20C2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48" y="1292204"/>
            <a:ext cx="11715921" cy="383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23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Contents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969645" y="1847852"/>
            <a:ext cx="1025271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28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IN" sz="2800" dirty="0"/>
              <a:t>Population and Sample</a:t>
            </a:r>
          </a:p>
          <a:p>
            <a:pPr lvl="1"/>
            <a:r>
              <a:rPr lang="en-IN" sz="2800" dirty="0"/>
              <a:t>Population Parameter</a:t>
            </a:r>
          </a:p>
          <a:p>
            <a:pPr lvl="1"/>
            <a:r>
              <a:rPr lang="en-IN" sz="2800" dirty="0"/>
              <a:t>Sample Statistic</a:t>
            </a:r>
          </a:p>
          <a:p>
            <a:pPr lvl="1"/>
            <a:r>
              <a:rPr lang="en-IN" sz="2800" dirty="0"/>
              <a:t>Data Types in Statistics</a:t>
            </a:r>
          </a:p>
          <a:p>
            <a:pPr marL="457200" lvl="1" indent="0">
              <a:buNone/>
            </a:pP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A91DC9-7965-FB48-9385-20B56B4847C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9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7A7FB-8C4A-4909-A782-5009DF74456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90600" y="1399309"/>
            <a:ext cx="10515600" cy="4777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69913" marR="0" lvl="1" indent="-5699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</a:t>
            </a: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ED8A7F-21A6-42B7-9466-E4AF02407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85" y="136522"/>
            <a:ext cx="8573024" cy="658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01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79D002-7B66-27E4-36C0-CD9B34789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99" y="1302969"/>
            <a:ext cx="11087558" cy="16958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2EE83A-3C00-5EA3-B0CB-FDA190DDA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057" y="3087329"/>
            <a:ext cx="5933536" cy="342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9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950155" y="431409"/>
            <a:ext cx="10698480" cy="11430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/>
                <a:ea typeface="Times New Roman"/>
              </a:rPr>
              <a:t>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1"/>
          </p:nvPr>
        </p:nvSpPr>
        <p:spPr>
          <a:xfrm>
            <a:off x="869093" y="1594022"/>
            <a:ext cx="10509325" cy="4793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583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870052-B5DC-4471-86EB-FCE6B5DF9748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EBBEB2-937F-5023-8C01-6D3C72B95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57" y="1347279"/>
            <a:ext cx="11592232" cy="371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7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BF154-7BCA-9055-9E45-11CCF52D7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97" y="1241017"/>
            <a:ext cx="9926059" cy="17676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62FF07-BB25-574A-65D4-630B7F82E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00" y="3008671"/>
            <a:ext cx="5047500" cy="315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35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1043940" y="609602"/>
            <a:ext cx="9113520" cy="1063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 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imes New Roman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34" charset="-127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9DA06-BDAC-9EC0-5B9D-896ABF411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02" y="1310296"/>
            <a:ext cx="11896226" cy="344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0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7A7FB-8C4A-4909-A782-5009DF74456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90600" y="1399309"/>
            <a:ext cx="10515600" cy="4777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69913" marR="0" lvl="1" indent="-5699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</a:t>
            </a: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AA7B2E-DE0D-1F5E-1D68-D13D81791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96" y="1219919"/>
            <a:ext cx="11741422" cy="282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1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975C1A-7AE2-3516-66CD-66502EED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4" y="1180319"/>
            <a:ext cx="11249452" cy="476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21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950155" y="431409"/>
            <a:ext cx="10698480" cy="11430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/>
                <a:ea typeface="Times New Roman"/>
              </a:rPr>
              <a:t>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1"/>
          </p:nvPr>
        </p:nvSpPr>
        <p:spPr>
          <a:xfrm>
            <a:off x="869093" y="1594022"/>
            <a:ext cx="10509325" cy="4793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583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870052-B5DC-4471-86EB-FCE6B5DF9748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FF6666-9F92-CB36-2991-AE4C60B44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38" y="1260132"/>
            <a:ext cx="11287062" cy="390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765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65A46A-9445-77E7-739D-BBDC0663D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90" y="223258"/>
            <a:ext cx="11032277" cy="579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00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1043940" y="609602"/>
            <a:ext cx="9113520" cy="1063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 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imes New Roman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34" charset="-127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573FDB-A94B-3C79-2424-6C5E67513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24" y="89891"/>
            <a:ext cx="10558229" cy="14242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D30623-954C-BE13-43F0-A3D9E18D5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51" y="1514167"/>
            <a:ext cx="7259017" cy="525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77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E6A31E-8A78-B2AD-3F55-9BC9685A0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64" y="1305499"/>
            <a:ext cx="11965871" cy="325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49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3B7326-39D9-5419-E52C-98768E91D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4" y="1366358"/>
            <a:ext cx="11680757" cy="276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55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A5A9C2-2C5D-59BD-74AD-E5EDC38FC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01" y="205645"/>
            <a:ext cx="6347765" cy="28816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CE06E4-52FE-9822-C176-E742C5CDA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924" y="3087329"/>
            <a:ext cx="7480239" cy="204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2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7A7FB-8C4A-4909-A782-5009DF74456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763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0600" y="180340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82E12C-5C67-D98A-EC2A-5E2C69A7D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1" y="1236230"/>
            <a:ext cx="10936609" cy="438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28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268230-BB16-D316-11E1-AF53769A6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23" y="478285"/>
            <a:ext cx="10861102" cy="565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13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0C3791-787F-D30D-1E0D-CCE940238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23" y="147664"/>
            <a:ext cx="9743132" cy="18876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FC8533-04F3-8CE7-AE3E-EA65DB1D5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669" y="2160373"/>
            <a:ext cx="4626510" cy="417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8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D5A80B-B8FC-DBEB-56C3-9002EDA81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03" y="1206537"/>
            <a:ext cx="11755674" cy="436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04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356031-5369-8DF5-BD72-DEC2A6398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41" y="190192"/>
            <a:ext cx="10930781" cy="599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10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DCE87B-9A14-58F5-7286-32BE7BED8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90" y="1319141"/>
            <a:ext cx="11889339" cy="357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92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871977" y="-77269"/>
            <a:ext cx="10252710" cy="84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4800" dirty="0">
                <a:latin typeface="+mn-lt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4748C1-214E-5A42-AFB0-AA37B5C4913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738D0-5625-F201-2DBC-470515D7E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00" y="581510"/>
            <a:ext cx="11060257" cy="561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46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0F6FB-3FC8-2746-A698-52D038A1F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Online Video Link-</a:t>
            </a:r>
            <a:endParaRPr lang="en-IN" b="1" dirty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  <a:hlinkClick r:id="rId3"/>
              </a:rPr>
              <a:t>https://nptel.ac.in/courses/111/105/111105090/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  <a:hlinkClick r:id="rId4"/>
              </a:rPr>
              <a:t>https://www.youtube.com/watch?v=RYIb1u3C13I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hlinkClick r:id="rId5"/>
              </a:rPr>
              <a:t>https://www.youtube.com/watch?v=S_Zx-g8FU0w&amp;list=PL6C92B335BD4238AB&amp;index=18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620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152400" y="0"/>
            <a:ext cx="118872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265920" y="0"/>
            <a:ext cx="1783081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067302" y="0"/>
            <a:ext cx="647373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867491" y="6294601"/>
            <a:ext cx="544386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533165" y="5129693"/>
            <a:ext cx="1685103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601157" y="2249080"/>
            <a:ext cx="10457019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727962" y="1214279"/>
            <a:ext cx="2369701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978707" y="1214279"/>
            <a:ext cx="2369701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383984" y="152400"/>
            <a:ext cx="400299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63556" y="5394451"/>
            <a:ext cx="33169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Segoe UI" panose="020B0502040204020203" pitchFamily="34" charset="0"/>
                <a:cs typeface="Times New Roman" pitchFamily="18" charset="0"/>
              </a:rPr>
              <a:t>For queries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Email: neetu.e17077@cumail.in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B4D36D-60F8-0547-9CD4-56091D03A88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698109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 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329</Words>
  <Application>Microsoft Office PowerPoint</Application>
  <PresentationFormat>Widescreen</PresentationFormat>
  <Paragraphs>83</Paragraphs>
  <Slides>26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Cambria</vt:lpstr>
      <vt:lpstr>Casper</vt:lpstr>
      <vt:lpstr>Times New Roman</vt:lpstr>
      <vt:lpstr>1_Office Theme</vt:lpstr>
      <vt:lpstr>Theme1 CU</vt:lpstr>
      <vt:lpstr>CorelDRAW</vt:lpstr>
      <vt:lpstr>PowerPoint Presentation</vt:lpstr>
      <vt:lpstr>PowerPoint Presentation</vt:lpstr>
      <vt:lpstr>PowerPoint Presentation</vt:lpstr>
      <vt:lpstr>Contents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neetu malik</dc:creator>
  <cp:lastModifiedBy>neetu malik</cp:lastModifiedBy>
  <cp:revision>1</cp:revision>
  <dcterms:created xsi:type="dcterms:W3CDTF">2025-12-14T14:36:40Z</dcterms:created>
  <dcterms:modified xsi:type="dcterms:W3CDTF">2025-12-14T15:13:24Z</dcterms:modified>
</cp:coreProperties>
</file>