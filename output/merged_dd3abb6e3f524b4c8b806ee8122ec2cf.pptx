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88717" y="1623357"/>
            <a:ext cx="3710644" cy="3710644"/>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8763000" y="6508751"/>
            <a:ext cx="2743200" cy="365200"/>
          </a:xfrm>
          <a:prstGeom prst="rect">
            <a:avLst/>
          </a:prstGeom>
          <a:no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94" name="Google Shape;94;p1"/>
          <p:cNvSpPr/>
          <p:nvPr/>
        </p:nvSpPr>
        <p:spPr>
          <a:xfrm rot="10800000" flipH="1">
            <a:off x="10395517" y="5716751"/>
            <a:ext cx="1291200" cy="1157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96" name="Google Shape;96;p1"/>
          <p:cNvSpPr/>
          <p:nvPr/>
        </p:nvSpPr>
        <p:spPr>
          <a:xfrm flipH="1">
            <a:off x="7046399" y="-65087"/>
            <a:ext cx="5145600" cy="5853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97" name="Google Shape;97;p1"/>
          <p:cNvSpPr/>
          <p:nvPr/>
        </p:nvSpPr>
        <p:spPr>
          <a:xfrm>
            <a:off x="2124075" y="2025527"/>
            <a:ext cx="6829600" cy="15808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121900" tIns="60933" rIns="121900" bIns="60933"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1800"/>
              <a:buFontTx/>
              <a:buNone/>
              <a:tabLst/>
              <a:defRPr/>
            </a:pPr>
            <a:endParaRPr kumimoji="0" sz="24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98" name="Google Shape;98;p1"/>
          <p:cNvSpPr/>
          <p:nvPr/>
        </p:nvSpPr>
        <p:spPr>
          <a:xfrm flipH="1">
            <a:off x="9814000" y="5239000"/>
            <a:ext cx="2366400" cy="1600400"/>
          </a:xfrm>
          <a:prstGeom prst="rtTriangle">
            <a:avLst/>
          </a:prstGeom>
          <a:solidFill>
            <a:srgbClr val="C00000"/>
          </a:solid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102" name="Google Shape;102;p1"/>
          <p:cNvSpPr txBox="1"/>
          <p:nvPr/>
        </p:nvSpPr>
        <p:spPr>
          <a:xfrm>
            <a:off x="840863" y="813557"/>
            <a:ext cx="10951200" cy="5525817"/>
          </a:xfrm>
          <a:prstGeom prst="rect">
            <a:avLst/>
          </a:prstGeom>
          <a:noFill/>
          <a:ln>
            <a:noFill/>
          </a:ln>
        </p:spPr>
        <p:txBody>
          <a:bodyPr spcFirstLastPara="1" wrap="square" lIns="121900" tIns="60933" rIns="121900" bIns="60933" anchor="t" anchorCtr="0">
            <a:spAutoFit/>
          </a:bodyPr>
          <a:lstStyle/>
          <a:p>
            <a:pPr marL="0" marR="0" lvl="0" indent="0" algn="ctr" defTabSz="914400" rtl="0" eaLnBrk="1" fontAlgn="auto" latinLnBrk="0" hangingPunct="1">
              <a:lnSpc>
                <a:spcPct val="90000"/>
              </a:lnSpc>
              <a:spcBef>
                <a:spcPts val="0"/>
              </a:spcBef>
              <a:spcAft>
                <a:spcPts val="0"/>
              </a:spcAft>
              <a:buClr>
                <a:prstClr val="black"/>
              </a:buClr>
              <a:buSzPts val="3200"/>
              <a:buFontTx/>
              <a:buNone/>
              <a:tabLst/>
              <a:defRPr/>
            </a:pPr>
            <a:r>
              <a:rPr kumimoji="0" lang="en-US" sz="42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kumimoji="0" sz="1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defTabSz="914400" rtl="0" eaLnBrk="1" fontAlgn="auto" latinLnBrk="0" hangingPunct="1">
              <a:lnSpc>
                <a:spcPct val="90000"/>
              </a:lnSpc>
              <a:spcBef>
                <a:spcPts val="1493"/>
              </a:spcBef>
              <a:spcAft>
                <a:spcPts val="0"/>
              </a:spcAft>
              <a:buClr>
                <a:prstClr val="black"/>
              </a:buClr>
              <a:buSzPts val="3200"/>
              <a:buFontTx/>
              <a:buNone/>
              <a:tabLst/>
              <a:defRPr/>
            </a:pPr>
            <a:r>
              <a:rPr kumimoji="0" lang="en-US" sz="42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Black"/>
              </a:rPr>
              <a:t>DEPARTMENT OF AIT-CSE</a:t>
            </a:r>
            <a:endParaRPr kumimoji="0" sz="1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defTabSz="914400" rtl="0" eaLnBrk="1" fontAlgn="auto" latinLnBrk="0" hangingPunct="1">
              <a:lnSpc>
                <a:spcPct val="90000"/>
              </a:lnSpc>
              <a:spcBef>
                <a:spcPts val="1493"/>
              </a:spcBef>
              <a:spcAft>
                <a:spcPts val="0"/>
              </a:spcAft>
              <a:buClr>
                <a:prstClr val="black"/>
              </a:buClr>
              <a:buSzPts val="2800"/>
              <a:buFontTx/>
              <a:buNone/>
              <a:tabLst/>
              <a:defRPr/>
            </a:pPr>
            <a:r>
              <a:rPr kumimoji="0" lang="en-IN" sz="26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Times New Roman"/>
              </a:rPr>
              <a:t>Bachelor of Engineering (CSE)</a:t>
            </a:r>
            <a:endParaRPr kumimoji="0"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90000"/>
              </a:lnSpc>
              <a:spcBef>
                <a:spcPts val="1493"/>
              </a:spcBef>
              <a:spcAft>
                <a:spcPts val="0"/>
              </a:spcAft>
              <a:buClr>
                <a:prstClr val="black"/>
              </a:buClr>
              <a:buSzPts val="2800"/>
              <a:buFontTx/>
              <a:buNone/>
              <a:tabLst/>
              <a:defRPr/>
            </a:pPr>
            <a:r>
              <a:rPr kumimoji="0" lang="en-US" sz="26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Times New Roman"/>
              </a:rPr>
              <a:t>AIML\Semester-4</a:t>
            </a:r>
            <a:endParaRPr kumimoji="0"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90000"/>
              </a:lnSpc>
              <a:spcBef>
                <a:spcPts val="1307"/>
              </a:spcBef>
              <a:spcAft>
                <a:spcPts val="0"/>
              </a:spcAft>
              <a:buClr>
                <a:prstClr val="black"/>
              </a:buClr>
              <a:buSzPts val="2800"/>
              <a:buFontTx/>
              <a:buNone/>
              <a:tabLst/>
              <a:defRPr/>
            </a:pPr>
            <a:r>
              <a:rPr kumimoji="0" lang="en-IN"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STATISTICAL METHODS FOR AI</a:t>
            </a:r>
            <a:endParaRPr kumimoji="0" sz="2133"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90000"/>
              </a:lnSpc>
              <a:spcBef>
                <a:spcPts val="1307"/>
              </a:spcBef>
              <a:spcAft>
                <a:spcPts val="0"/>
              </a:spcAft>
              <a:buClr>
                <a:prstClr val="black"/>
              </a:buClr>
              <a:buSzPts val="2800"/>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24CST-295</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endParaRPr kumimoji="0" sz="2133"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1493"/>
              </a:spcBef>
              <a:spcAft>
                <a:spcPts val="0"/>
              </a:spcAft>
              <a:buClrTx/>
              <a:buSzPts val="3200"/>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Unit No.  1                    Chapter No.  </a:t>
            </a:r>
            <a:r>
              <a:rPr lang="en-US" sz="2400" b="1" dirty="0">
                <a:solidFill>
                  <a:prstClr val="black"/>
                </a:solidFill>
                <a:latin typeface="Calibri" panose="020F0502020204030204" pitchFamily="34" charset="0"/>
                <a:ea typeface="Calibri" panose="020F0502020204030204" pitchFamily="34" charset="0"/>
                <a:cs typeface="Calibri" panose="020F0502020204030204" pitchFamily="34" charset="0"/>
              </a:rPr>
              <a:t>1</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Lecture No.1.1.1</a:t>
            </a:r>
          </a:p>
          <a:p>
            <a:pPr marL="0" marR="0" lvl="0" indent="0" algn="l" defTabSz="914400" rtl="0" eaLnBrk="1" fontAlgn="auto" latinLnBrk="0" hangingPunct="1">
              <a:lnSpc>
                <a:spcPct val="100000"/>
              </a:lnSpc>
              <a:spcBef>
                <a:spcPts val="1493"/>
              </a:spcBef>
              <a:spcAft>
                <a:spcPts val="0"/>
              </a:spcAft>
              <a:buClrTx/>
              <a:buSzPts val="3200"/>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Topic : </a:t>
            </a:r>
            <a:r>
              <a:rPr lang="en-US" sz="2400" b="1" u="sng" dirty="0">
                <a:solidFill>
                  <a:prstClr val="black"/>
                </a:solidFill>
                <a:latin typeface="Calibri" panose="020F0502020204030204" pitchFamily="34" charset="0"/>
                <a:ea typeface="Calibri" panose="020F0502020204030204" pitchFamily="34" charset="0"/>
                <a:cs typeface="Calibri" panose="020F0502020204030204" pitchFamily="34" charset="0"/>
              </a:rPr>
              <a:t>Introduction to Statistics</a:t>
            </a:r>
            <a:endParaRPr kumimoji="0" lang="en-US" sz="24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1493"/>
              </a:spcBef>
              <a:spcAft>
                <a:spcPts val="0"/>
              </a:spcAft>
              <a:buClrTx/>
              <a:buSzPts val="3200"/>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Faculty Name and </a:t>
            </a:r>
            <a:r>
              <a:rPr kumimoji="0" lang="en-US" sz="24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E_Code</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Dr Neetu(E17077)             Designation: Assistant Professor</a:t>
            </a:r>
            <a:endParaRPr kumimoji="0" lang="en-US" sz="4267" b="1" i="0" u="none" strike="noStrike" kern="1200" cap="none" spc="0" normalizeH="0" baseline="0" noProof="0" dirty="0">
              <a:ln>
                <a:noFill/>
              </a:ln>
              <a:solidFill>
                <a:srgbClr val="E7E6E6"/>
              </a:solidFill>
              <a:effectLst/>
              <a:uLnTx/>
              <a:uFillTx/>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7046401" y="0"/>
            <a:ext cx="5145599" cy="83099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Academic Session 2025-26 </a:t>
            </a:r>
          </a:p>
          <a:p>
            <a:pPr algn="r" defTabSz="685800">
              <a:buClrTx/>
              <a:defRPr/>
            </a:pPr>
            <a:r>
              <a:rPr lang="en-IN" sz="2400" b="1">
                <a:solidFill>
                  <a:prstClr val="black"/>
                </a:solidFill>
                <a:latin typeface="Calibri" panose="020F0502020204030204" pitchFamily="34" charset="0"/>
                <a:ea typeface="Calibri" panose="020F0502020204030204" pitchFamily="34" charset="0"/>
                <a:cs typeface="Calibri" panose="020F0502020204030204" pitchFamily="34" charset="0"/>
              </a:rPr>
              <a:t>Even Semester Jan-July 2026</a:t>
            </a:r>
            <a:endParaRPr lang="en-IN" sz="2400" b="1"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A91DC9-7965-FB48-9385-20B56B4847C1}"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10" name="Table 9"/>
          <p:cNvGraphicFramePr>
            <a:graphicFrameLocks noGrp="1"/>
          </p:cNvGraphicFramePr>
          <p:nvPr>
            <p:extLst>
              <p:ext uri="{D42A27DB-BD31-4B8C-83A1-F6EECF244321}">
                <p14:modId xmlns:p14="http://schemas.microsoft.com/office/powerpoint/2010/main" val="3151919217"/>
              </p:ext>
            </p:extLst>
          </p:nvPr>
        </p:nvGraphicFramePr>
        <p:xfrm>
          <a:off x="1602701" y="206459"/>
          <a:ext cx="9619654" cy="3331028"/>
        </p:xfrm>
        <a:graphic>
          <a:graphicData uri="http://schemas.openxmlformats.org/drawingml/2006/table">
            <a:tbl>
              <a:tblPr/>
              <a:tblGrid>
                <a:gridCol w="1053117">
                  <a:extLst>
                    <a:ext uri="{9D8B030D-6E8A-4147-A177-3AD203B41FA5}">
                      <a16:colId xmlns:a16="http://schemas.microsoft.com/office/drawing/2014/main" val="20000"/>
                    </a:ext>
                  </a:extLst>
                </a:gridCol>
                <a:gridCol w="8566537">
                  <a:extLst>
                    <a:ext uri="{9D8B030D-6E8A-4147-A177-3AD203B41FA5}">
                      <a16:colId xmlns:a16="http://schemas.microsoft.com/office/drawing/2014/main" val="20001"/>
                    </a:ext>
                  </a:extLst>
                </a:gridCol>
              </a:tblGrid>
              <a:tr h="518728">
                <a:tc>
                  <a:txBody>
                    <a:bodyPr/>
                    <a:lstStyle/>
                    <a:p>
                      <a:pPr algn="ctr">
                        <a:lnSpc>
                          <a:spcPct val="115000"/>
                        </a:lnSpc>
                        <a:spcAft>
                          <a:spcPts val="1000"/>
                        </a:spcAft>
                      </a:pPr>
                      <a:r>
                        <a:rPr lang="en-US" sz="1800" b="1" dirty="0">
                          <a:solidFill>
                            <a:schemeClr val="tx1"/>
                          </a:solidFill>
                          <a:latin typeface="Arial" pitchFamily="34" charset="0"/>
                          <a:ea typeface="Calibri"/>
                          <a:cs typeface="Arial" pitchFamily="34" charset="0"/>
                        </a:rPr>
                        <a:t>Chapter</a:t>
                      </a:r>
                      <a:endParaRPr lang="en-IN" sz="1800" b="1" dirty="0">
                        <a:solidFill>
                          <a:schemeClr val="tx1"/>
                        </a:solidFill>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lnSpc>
                          <a:spcPct val="115000"/>
                        </a:lnSpc>
                        <a:spcAft>
                          <a:spcPts val="1000"/>
                        </a:spcAft>
                      </a:pPr>
                      <a:r>
                        <a:rPr lang="en-US" sz="1800" b="1" dirty="0">
                          <a:solidFill>
                            <a:schemeClr val="tx1"/>
                          </a:solidFill>
                          <a:latin typeface="Arial" pitchFamily="34" charset="0"/>
                          <a:ea typeface="Times New Roman"/>
                          <a:cs typeface="Arial" pitchFamily="34" charset="0"/>
                        </a:rPr>
                        <a:t>Course Objectives</a:t>
                      </a:r>
                      <a:endParaRPr lang="en-IN" sz="1800" dirty="0">
                        <a:solidFill>
                          <a:schemeClr val="tx1"/>
                        </a:solidFill>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812300">
                <a:tc>
                  <a:txBody>
                    <a:bodyPr/>
                    <a:lstStyle/>
                    <a:p>
                      <a:pPr marL="342900" lvl="0" indent="-342900" algn="ctr">
                        <a:lnSpc>
                          <a:spcPct val="150000"/>
                        </a:lnSpc>
                        <a:spcAft>
                          <a:spcPts val="0"/>
                        </a:spcAft>
                        <a:buFont typeface="Arial"/>
                        <a:buNone/>
                      </a:pPr>
                      <a:r>
                        <a:rPr lang="en-US" sz="1800" baseline="0" dirty="0">
                          <a:latin typeface="Arial" pitchFamily="34" charset="0"/>
                          <a:ea typeface="Noto Sans Symbols"/>
                          <a:cs typeface="Arial" pitchFamily="34" charset="0"/>
                        </a:rPr>
                        <a:t> 1</a:t>
                      </a:r>
                      <a:endParaRPr lang="en-IN" sz="1800" dirty="0">
                        <a:latin typeface="Arial" pitchFamily="34" charset="0"/>
                        <a:ea typeface="Noto Sans Symbols"/>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enable students to</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develop a solid understanding of foundational statistical concepts and techniques relevant to artificial intelligence applications. </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impart analytical ability in solving mathematical problems as applied to the respective branches of Engineering.</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enable students to gain proficiency in applying statistical methodologies, including regression, classification, clustering, time series analysis, and experimental design, to analyze and model data in AI contexts.</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prepare students for real-world AI projects and research endeavors by providing them with a solid foundation in statistical methods, enabling them to contribute effectively to the advancement of AI technologies.</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640468085"/>
              </p:ext>
            </p:extLst>
          </p:nvPr>
        </p:nvGraphicFramePr>
        <p:xfrm>
          <a:off x="1622323" y="3537487"/>
          <a:ext cx="9600032" cy="1730830"/>
        </p:xfrm>
        <a:graphic>
          <a:graphicData uri="http://schemas.openxmlformats.org/drawingml/2006/table">
            <a:tbl>
              <a:tblPr/>
              <a:tblGrid>
                <a:gridCol w="1022554">
                  <a:extLst>
                    <a:ext uri="{9D8B030D-6E8A-4147-A177-3AD203B41FA5}">
                      <a16:colId xmlns:a16="http://schemas.microsoft.com/office/drawing/2014/main" val="20000"/>
                    </a:ext>
                  </a:extLst>
                </a:gridCol>
                <a:gridCol w="8577478">
                  <a:extLst>
                    <a:ext uri="{9D8B030D-6E8A-4147-A177-3AD203B41FA5}">
                      <a16:colId xmlns:a16="http://schemas.microsoft.com/office/drawing/2014/main" val="20001"/>
                    </a:ext>
                  </a:extLst>
                </a:gridCol>
              </a:tblGrid>
              <a:tr h="300600">
                <a:tc>
                  <a:txBody>
                    <a:bodyPr/>
                    <a:lstStyle/>
                    <a:p>
                      <a:pPr algn="ctr">
                        <a:lnSpc>
                          <a:spcPct val="115000"/>
                        </a:lnSpc>
                        <a:spcAft>
                          <a:spcPts val="1000"/>
                        </a:spcAft>
                      </a:pPr>
                      <a:r>
                        <a:rPr lang="en-US" sz="1800" b="1" dirty="0">
                          <a:latin typeface="Arial" pitchFamily="34" charset="0"/>
                          <a:ea typeface="Calibri"/>
                          <a:cs typeface="Arial" pitchFamily="34" charset="0"/>
                        </a:rPr>
                        <a:t>Chapter</a:t>
                      </a:r>
                      <a:endParaRPr lang="en-IN" sz="1800" dirty="0">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lnSpc>
                          <a:spcPct val="115000"/>
                        </a:lnSpc>
                        <a:spcAft>
                          <a:spcPts val="1000"/>
                        </a:spcAft>
                      </a:pPr>
                      <a:r>
                        <a:rPr lang="en-US" sz="1800" b="1" dirty="0">
                          <a:latin typeface="Arial" pitchFamily="34" charset="0"/>
                          <a:ea typeface="Times New Roman"/>
                          <a:cs typeface="Arial" pitchFamily="34" charset="0"/>
                        </a:rPr>
                        <a:t>Course Outcomes</a:t>
                      </a:r>
                      <a:endParaRPr lang="en-IN" sz="1800" dirty="0">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430230">
                <a:tc>
                  <a:txBody>
                    <a:bodyPr/>
                    <a:lstStyle/>
                    <a:p>
                      <a:pPr marL="342265" indent="-254000" algn="ctr">
                        <a:lnSpc>
                          <a:spcPct val="115000"/>
                        </a:lnSpc>
                        <a:spcAft>
                          <a:spcPts val="1000"/>
                        </a:spcAft>
                      </a:pPr>
                      <a:r>
                        <a:rPr lang="en-US" sz="1800">
                          <a:solidFill>
                            <a:srgbClr val="000000"/>
                          </a:solidFill>
                          <a:latin typeface="Arial" pitchFamily="34" charset="0"/>
                          <a:ea typeface="Calibri"/>
                          <a:cs typeface="Arial" pitchFamily="34" charset="0"/>
                        </a:rPr>
                        <a:t>1</a:t>
                      </a:r>
                      <a:endParaRPr lang="en-IN" sz="1800" dirty="0">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IN" sz="1350" b="0" i="0" u="none" strike="noStrike" kern="1200" baseline="0" dirty="0">
                        <a:solidFill>
                          <a:schemeClr val="tx1"/>
                        </a:solidFill>
                        <a:latin typeface="+mn-lt"/>
                        <a:ea typeface="+mn-ea"/>
                        <a:cs typeface="+mn-cs"/>
                      </a:endParaRPr>
                    </a:p>
                    <a:p>
                      <a:pPr algn="just"/>
                      <a:r>
                        <a:rPr lang="en-US" sz="1800" kern="1200" dirty="0">
                          <a:solidFill>
                            <a:schemeClr val="tx1"/>
                          </a:solidFill>
                          <a:effectLst/>
                          <a:latin typeface="+mn-lt"/>
                          <a:ea typeface="+mn-ea"/>
                          <a:cs typeface="+mn-cs"/>
                        </a:rPr>
                        <a:t>Student will be able to </a:t>
                      </a:r>
                    </a:p>
                    <a:p>
                      <a:pPr algn="just"/>
                      <a:endParaRPr lang="en-US" sz="1600" b="0" i="0" u="none" strike="noStrike" kern="1200" baseline="0" dirty="0">
                        <a:solidFill>
                          <a:schemeClr val="tx1"/>
                        </a:solidFill>
                        <a:latin typeface="+mn-lt"/>
                        <a:ea typeface="+mn-ea"/>
                        <a:cs typeface="+mn-cs"/>
                      </a:endParaRPr>
                    </a:p>
                    <a:p>
                      <a:pPr algn="just"/>
                      <a:r>
                        <a:rPr lang="en-US" sz="1800" kern="1200" dirty="0">
                          <a:solidFill>
                            <a:schemeClr val="tx1"/>
                          </a:solidFill>
                          <a:effectLst/>
                          <a:latin typeface="+mn-lt"/>
                          <a:ea typeface="+mn-ea"/>
                          <a:cs typeface="+mn-cs"/>
                        </a:rPr>
                        <a:t>Remember the foundational concepts of statistics, probability theory, regression methods, and estimation principles essential for AI and data-driven problem-solving.</a:t>
                      </a:r>
                      <a:endParaRPr lang="en-US" sz="1350" b="0" i="0" u="none" strike="noStrike" kern="1200" baseline="0" dirty="0">
                        <a:solidFill>
                          <a:schemeClr val="tx1"/>
                        </a:solidFill>
                        <a:latin typeface="+mn-lt"/>
                        <a:ea typeface="+mn-ea"/>
                        <a:cs typeface="+mn-cs"/>
                      </a:endParaRPr>
                    </a:p>
                  </a:txBody>
                  <a:tcPr marL="66866" marR="66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Title 5"/>
          <p:cNvSpPr>
            <a:spLocks noGrp="1"/>
          </p:cNvSpPr>
          <p:nvPr>
            <p:ph type="title"/>
          </p:nvPr>
        </p:nvSpPr>
        <p:spPr/>
        <p:txBody>
          <a:bodyPr>
            <a:normAutofit/>
          </a:bodyPr>
          <a:lstStyle/>
          <a:p>
            <a:r>
              <a:rPr lang="en-US" sz="3200" b="1" dirty="0">
                <a:latin typeface="Times New Roman" pitchFamily="18" charset="0"/>
                <a:cs typeface="Times New Roman" pitchFamily="18" charset="0"/>
              </a:rPr>
              <a:t>Contents</a:t>
            </a:r>
            <a:endParaRPr lang="en-IN" sz="3200" b="1" dirty="0">
              <a:latin typeface="Times New Roman" pitchFamily="18" charset="0"/>
              <a:cs typeface="Times New Roman" pitchFamily="18" charset="0"/>
            </a:endParaRPr>
          </a:p>
        </p:txBody>
      </p:sp>
      <p:sp>
        <p:nvSpPr>
          <p:cNvPr id="7" name="Content Placeholder 6"/>
          <p:cNvSpPr>
            <a:spLocks noGrp="1"/>
          </p:cNvSpPr>
          <p:nvPr>
            <p:ph idx="1"/>
          </p:nvPr>
        </p:nvSpPr>
        <p:spPr>
          <a:xfrm>
            <a:off x="969645" y="1847852"/>
            <a:ext cx="10252710" cy="4351338"/>
          </a:xfrm>
        </p:spPr>
        <p:txBody>
          <a:bodyPr>
            <a:normAutofit/>
          </a:bodyPr>
          <a:lstStyle/>
          <a:p>
            <a:pPr marL="0" indent="0">
              <a:buNone/>
            </a:pPr>
            <a:r>
              <a:rPr lang="en-US" b="1" spc="-75" dirty="0">
                <a:solidFill>
                  <a:srgbClr val="333333"/>
                </a:solidFill>
                <a:latin typeface="Times New Roman" pitchFamily="18" charset="0"/>
                <a:ea typeface="Times New Roman" panose="02020603050405020304" pitchFamily="18" charset="0"/>
                <a:cs typeface="Times New Roman" pitchFamily="18" charset="0"/>
              </a:rPr>
              <a:t>Introduction to Statistics</a:t>
            </a:r>
            <a:endParaRPr lang="en-US" b="1" dirty="0">
              <a:solidFill>
                <a:srgbClr val="333333"/>
              </a:solidFill>
              <a:effectLst/>
              <a:latin typeface="Times New Roman" panose="02020603050405020304" pitchFamily="18" charset="0"/>
              <a:ea typeface="Times New Roman" panose="02020603050405020304" pitchFamily="18" charset="0"/>
              <a:cs typeface="Times New Roman" pitchFamily="18" charset="0"/>
            </a:endParaRPr>
          </a:p>
          <a:p>
            <a:pPr marL="457200" lvl="1" indent="0">
              <a:buNone/>
            </a:pPr>
            <a:endParaRPr lang="en-US" sz="2800" b="1" dirty="0">
              <a:solidFill>
                <a:srgbClr val="000000"/>
              </a:solidFill>
              <a:latin typeface="Times New Roman" pitchFamily="18" charset="0"/>
              <a:cs typeface="Times New Roman" pitchFamily="18" charset="0"/>
            </a:endParaRPr>
          </a:p>
          <a:p>
            <a:pPr lvl="1"/>
            <a:r>
              <a:rPr lang="en-US" sz="2800" b="1" dirty="0">
                <a:solidFill>
                  <a:srgbClr val="000000"/>
                </a:solidFill>
                <a:latin typeface="Times New Roman" pitchFamily="18" charset="0"/>
                <a:cs typeface="Times New Roman" pitchFamily="18" charset="0"/>
              </a:rPr>
              <a:t>Definitions of Statistics</a:t>
            </a:r>
          </a:p>
          <a:p>
            <a:pPr lvl="1"/>
            <a:r>
              <a:rPr lang="en-IN" sz="2800" b="1" dirty="0">
                <a:latin typeface="Times New Roman" panose="02020603050405020304" pitchFamily="18" charset="0"/>
                <a:cs typeface="Times New Roman" panose="02020603050405020304" pitchFamily="18" charset="0"/>
              </a:rPr>
              <a:t>Major Areas of Statistics</a:t>
            </a:r>
          </a:p>
          <a:p>
            <a:pPr lvl="1"/>
            <a:r>
              <a:rPr lang="en-IN" sz="2800" b="1" dirty="0">
                <a:latin typeface="Times New Roman" panose="02020603050405020304" pitchFamily="18" charset="0"/>
                <a:cs typeface="Times New Roman" panose="02020603050405020304" pitchFamily="18" charset="0"/>
              </a:rPr>
              <a:t>Descriptive Statistics</a:t>
            </a:r>
          </a:p>
          <a:p>
            <a:pPr lvl="1"/>
            <a:r>
              <a:rPr lang="en-IN" sz="2800" b="1" dirty="0">
                <a:latin typeface="Times New Roman" panose="02020603050405020304" pitchFamily="18" charset="0"/>
                <a:cs typeface="Times New Roman" panose="02020603050405020304" pitchFamily="18" charset="0"/>
              </a:rPr>
              <a:t>Inferential Statistics</a:t>
            </a:r>
          </a:p>
          <a:p>
            <a:pPr lvl="1"/>
            <a:r>
              <a:rPr lang="en-IN" sz="2800" b="1" dirty="0">
                <a:latin typeface="Times New Roman" panose="02020603050405020304" pitchFamily="18" charset="0"/>
                <a:cs typeface="Times New Roman" panose="02020603050405020304" pitchFamily="18" charset="0"/>
              </a:rPr>
              <a:t>Experimental Design</a:t>
            </a:r>
            <a:endParaRPr lang="en-US" sz="2800" b="1" dirty="0">
              <a:solidFill>
                <a:srgbClr val="000000"/>
              </a:solidFill>
              <a:latin typeface="Times New Roman" panose="02020603050405020304"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A91DC9-7965-FB48-9385-20B56B4847C1}"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32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B77A7FB-8C4A-4909-A782-5009DF744569}"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4</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9" name="Content Placeholder 2"/>
          <p:cNvSpPr txBox="1">
            <a:spLocks/>
          </p:cNvSpPr>
          <p:nvPr/>
        </p:nvSpPr>
        <p:spPr>
          <a:xfrm>
            <a:off x="990600" y="1399309"/>
            <a:ext cx="10515600" cy="4777654"/>
          </a:xfrm>
          <a:prstGeom prst="rect">
            <a:avLst/>
          </a:prstGeom>
        </p:spPr>
        <p:txBody>
          <a:bodyPr vert="horz" lIns="91440" tIns="45720" rIns="91440" bIns="45720" rtlCol="0">
            <a:normAutofit/>
          </a:bodyPr>
          <a:lstStyle/>
          <a:p>
            <a:pPr marL="569913" marR="0" lvl="1" indent="-569913"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80000"/>
              </a:lnSpc>
              <a:spcBef>
                <a:spcPts val="1000"/>
              </a:spcBef>
              <a:spcAft>
                <a:spcPts val="0"/>
              </a:spcAft>
              <a:buClr>
                <a:prstClr val="black"/>
              </a:buClr>
              <a:buSzTx/>
              <a:buFontTx/>
              <a:buNone/>
              <a:tabLst/>
              <a:defRPr/>
            </a:pPr>
            <a:r>
              <a:rPr kumimoji="0" lang="en-IN"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5" name="Picture 4">
            <a:extLst>
              <a:ext uri="{FF2B5EF4-FFF2-40B4-BE49-F238E27FC236}">
                <a16:creationId xmlns:a16="http://schemas.microsoft.com/office/drawing/2014/main" id="{9096E08B-8E03-C161-D794-DEDA0F1BD579}"/>
              </a:ext>
            </a:extLst>
          </p:cNvPr>
          <p:cNvPicPr>
            <a:picLocks noChangeAspect="1"/>
          </p:cNvPicPr>
          <p:nvPr/>
        </p:nvPicPr>
        <p:blipFill>
          <a:blip r:embed="rId3"/>
          <a:stretch>
            <a:fillRect/>
          </a:stretch>
        </p:blipFill>
        <p:spPr>
          <a:xfrm>
            <a:off x="734852" y="891320"/>
            <a:ext cx="11027096" cy="50753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a:extLst>
              <a:ext uri="{FF2B5EF4-FFF2-40B4-BE49-F238E27FC236}">
                <a16:creationId xmlns:a16="http://schemas.microsoft.com/office/drawing/2014/main" id="{6C848BFB-995F-4D31-B9FF-30160C01E27D}"/>
              </a:ext>
            </a:extLst>
          </p:cNvPr>
          <p:cNvPicPr>
            <a:picLocks noChangeAspect="1"/>
          </p:cNvPicPr>
          <p:nvPr/>
        </p:nvPicPr>
        <p:blipFill>
          <a:blip r:embed="rId2"/>
          <a:stretch>
            <a:fillRect/>
          </a:stretch>
        </p:blipFill>
        <p:spPr>
          <a:xfrm>
            <a:off x="677710" y="1306646"/>
            <a:ext cx="10836579" cy="42447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371" name="Rectangle 2"/>
          <p:cNvSpPr>
            <a:spLocks noGrp="1" noChangeArrowheads="1"/>
          </p:cNvSpPr>
          <p:nvPr>
            <p:ph type="title"/>
          </p:nvPr>
        </p:nvSpPr>
        <p:spPr>
          <a:xfrm>
            <a:off x="950155" y="431409"/>
            <a:ext cx="10698480" cy="1143000"/>
          </a:xfrm>
        </p:spPr>
        <p:txBody>
          <a:bodyPr>
            <a:normAutofit/>
          </a:bodyPr>
          <a:lstStyle/>
          <a:p>
            <a:pPr algn="ctr"/>
            <a:r>
              <a:rPr lang="en-IN" sz="3200" b="1" dirty="0">
                <a:latin typeface="Times New Roman"/>
                <a:ea typeface="Times New Roman"/>
              </a:rPr>
              <a:t> </a:t>
            </a:r>
            <a:endParaRPr lang="en-US" sz="3200" dirty="0">
              <a:latin typeface="Times New Roman" pitchFamily="18" charset="0"/>
              <a:cs typeface="Times New Roman" pitchFamily="18" charset="0"/>
            </a:endParaRPr>
          </a:p>
        </p:txBody>
      </p:sp>
      <p:sp>
        <p:nvSpPr>
          <p:cNvPr id="58372" name="Rectangle 3"/>
          <p:cNvSpPr>
            <a:spLocks noGrp="1" noChangeArrowheads="1"/>
          </p:cNvSpPr>
          <p:nvPr>
            <p:ph idx="1"/>
          </p:nvPr>
        </p:nvSpPr>
        <p:spPr>
          <a:xfrm>
            <a:off x="869093" y="1594022"/>
            <a:ext cx="10509325" cy="4793566"/>
          </a:xfrm>
        </p:spPr>
        <p:txBody>
          <a:bodyPr>
            <a:normAutofit/>
          </a:bodyPr>
          <a:lstStyle/>
          <a:p>
            <a:pPr marL="0" indent="0">
              <a:buNone/>
            </a:pPr>
            <a:r>
              <a:rPr lang="en-US" dirty="0">
                <a:latin typeface="Times New Roman" pitchFamily="18" charset="0"/>
                <a:cs typeface="Times New Roman" pitchFamily="18" charset="0"/>
              </a:rPr>
              <a:t>  </a:t>
            </a:r>
          </a:p>
        </p:txBody>
      </p:sp>
      <p:sp>
        <p:nvSpPr>
          <p:cNvPr id="5837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F870052-B5DC-4471-86EB-FCE6B5DF9748}"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6</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4" name="Picture 3">
            <a:extLst>
              <a:ext uri="{FF2B5EF4-FFF2-40B4-BE49-F238E27FC236}">
                <a16:creationId xmlns:a16="http://schemas.microsoft.com/office/drawing/2014/main" id="{B55C7069-E6FE-F40D-CDFE-8C7799FA32B3}"/>
              </a:ext>
            </a:extLst>
          </p:cNvPr>
          <p:cNvPicPr>
            <a:picLocks noChangeAspect="1"/>
          </p:cNvPicPr>
          <p:nvPr/>
        </p:nvPicPr>
        <p:blipFill>
          <a:blip r:embed="rId3"/>
          <a:stretch>
            <a:fillRect/>
          </a:stretch>
        </p:blipFill>
        <p:spPr>
          <a:xfrm>
            <a:off x="990600" y="1318927"/>
            <a:ext cx="7925487" cy="929721"/>
          </a:xfrm>
          <a:prstGeom prst="rect">
            <a:avLst/>
          </a:prstGeom>
        </p:spPr>
      </p:pic>
      <p:pic>
        <p:nvPicPr>
          <p:cNvPr id="5" name="Picture 4">
            <a:extLst>
              <a:ext uri="{FF2B5EF4-FFF2-40B4-BE49-F238E27FC236}">
                <a16:creationId xmlns:a16="http://schemas.microsoft.com/office/drawing/2014/main" id="{45F8BF2E-8C2A-749B-1CE9-EC0A5DFA0181}"/>
              </a:ext>
            </a:extLst>
          </p:cNvPr>
          <p:cNvPicPr>
            <a:picLocks noChangeAspect="1"/>
          </p:cNvPicPr>
          <p:nvPr/>
        </p:nvPicPr>
        <p:blipFill>
          <a:blip r:embed="rId4"/>
          <a:stretch>
            <a:fillRect/>
          </a:stretch>
        </p:blipFill>
        <p:spPr>
          <a:xfrm>
            <a:off x="990600" y="2396575"/>
            <a:ext cx="9922100" cy="106689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3BA7F004-EB89-0C8A-2AD7-15AB73BEB3BE}"/>
              </a:ext>
            </a:extLst>
          </p:cNvPr>
          <p:cNvPicPr>
            <a:picLocks noChangeAspect="1"/>
          </p:cNvPicPr>
          <p:nvPr/>
        </p:nvPicPr>
        <p:blipFill>
          <a:blip r:embed="rId2"/>
          <a:stretch>
            <a:fillRect/>
          </a:stretch>
        </p:blipFill>
        <p:spPr>
          <a:xfrm>
            <a:off x="328171" y="1200223"/>
            <a:ext cx="11767021" cy="431567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74" name="Rectangle 8"/>
          <p:cNvSpPr>
            <a:spLocks noChangeArrowheads="1"/>
          </p:cNvSpPr>
          <p:nvPr/>
        </p:nvSpPr>
        <p:spPr bwMode="auto">
          <a:xfrm>
            <a:off x="1043940" y="609602"/>
            <a:ext cx="9113520" cy="106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a:ea typeface="Times New Roman"/>
                <a:cs typeface="Times New Roman"/>
              </a:rPr>
              <a:t>  </a:t>
            </a:r>
            <a:endParaRPr kumimoji="0" lang="en-IN" sz="3200" b="0" i="0" u="none" strike="noStrike" kern="1200" cap="none" spc="0" normalizeH="0" baseline="0" noProof="0" dirty="0">
              <a:ln>
                <a:noFill/>
              </a:ln>
              <a:solidFill>
                <a:prstClr val="black"/>
              </a:solidFill>
              <a:effectLst/>
              <a:uLnTx/>
              <a:uFillTx/>
              <a:latin typeface="Calibri"/>
              <a:ea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ko-KR" sz="1800" b="0" i="0" u="none" strike="noStrike" kern="1200" cap="none" spc="0" normalizeH="0" baseline="0" noProof="0" dirty="0">
              <a:ln>
                <a:noFill/>
              </a:ln>
              <a:solidFill>
                <a:prstClr val="black"/>
              </a:solidFill>
              <a:effectLst/>
              <a:uLnTx/>
              <a:uFillTx/>
              <a:latin typeface="Calibri"/>
              <a:ea typeface="맑은 고딕" panose="020B0503020000020004" pitchFamily="34" charset="-127"/>
              <a:cs typeface="Times New Roman" pitchFamily="18" charset="0"/>
            </a:endParaRPr>
          </a:p>
        </p:txBody>
      </p:sp>
      <p:pic>
        <p:nvPicPr>
          <p:cNvPr id="3" name="Picture 2">
            <a:extLst>
              <a:ext uri="{FF2B5EF4-FFF2-40B4-BE49-F238E27FC236}">
                <a16:creationId xmlns:a16="http://schemas.microsoft.com/office/drawing/2014/main" id="{299D3CD3-89FF-D26C-F5E2-EB0AE394FBC9}"/>
              </a:ext>
            </a:extLst>
          </p:cNvPr>
          <p:cNvPicPr>
            <a:picLocks noChangeAspect="1"/>
          </p:cNvPicPr>
          <p:nvPr/>
        </p:nvPicPr>
        <p:blipFill>
          <a:blip r:embed="rId2"/>
          <a:stretch>
            <a:fillRect/>
          </a:stretch>
        </p:blipFill>
        <p:spPr>
          <a:xfrm>
            <a:off x="525402" y="1574310"/>
            <a:ext cx="10868714" cy="330249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32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B77A7FB-8C4A-4909-A782-5009DF744569}"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9</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9" name="Content Placeholder 2"/>
          <p:cNvSpPr txBox="1">
            <a:spLocks/>
          </p:cNvSpPr>
          <p:nvPr/>
        </p:nvSpPr>
        <p:spPr>
          <a:xfrm>
            <a:off x="990600" y="1399309"/>
            <a:ext cx="10515600" cy="4777654"/>
          </a:xfrm>
          <a:prstGeom prst="rect">
            <a:avLst/>
          </a:prstGeom>
        </p:spPr>
        <p:txBody>
          <a:bodyPr vert="horz" lIns="91440" tIns="45720" rIns="91440" bIns="45720" rtlCol="0">
            <a:normAutofit/>
          </a:bodyPr>
          <a:lstStyle/>
          <a:p>
            <a:pPr marL="569913" marR="0" lvl="1" indent="-569913"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80000"/>
              </a:lnSpc>
              <a:spcBef>
                <a:spcPts val="1000"/>
              </a:spcBef>
              <a:spcAft>
                <a:spcPts val="0"/>
              </a:spcAft>
              <a:buClr>
                <a:prstClr val="black"/>
              </a:buClr>
              <a:buSzTx/>
              <a:buFontTx/>
              <a:buNone/>
              <a:tabLst/>
              <a:defRPr/>
            </a:pPr>
            <a:r>
              <a:rPr kumimoji="0" lang="en-IN"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3" name="Picture 2">
            <a:extLst>
              <a:ext uri="{FF2B5EF4-FFF2-40B4-BE49-F238E27FC236}">
                <a16:creationId xmlns:a16="http://schemas.microsoft.com/office/drawing/2014/main" id="{81F17E3F-41A9-EB72-6823-B5B7541B565A}"/>
              </a:ext>
            </a:extLst>
          </p:cNvPr>
          <p:cNvPicPr>
            <a:picLocks noChangeAspect="1"/>
          </p:cNvPicPr>
          <p:nvPr/>
        </p:nvPicPr>
        <p:blipFill>
          <a:blip r:embed="rId3"/>
          <a:stretch>
            <a:fillRect/>
          </a:stretch>
        </p:blipFill>
        <p:spPr>
          <a:xfrm>
            <a:off x="336563" y="1803401"/>
            <a:ext cx="11017237" cy="29033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9FBE15D8-E0DA-2FFB-75D6-2AD8B058A4FA}"/>
              </a:ext>
            </a:extLst>
          </p:cNvPr>
          <p:cNvPicPr>
            <a:picLocks noChangeAspect="1"/>
          </p:cNvPicPr>
          <p:nvPr/>
        </p:nvPicPr>
        <p:blipFill>
          <a:blip r:embed="rId2"/>
          <a:stretch>
            <a:fillRect/>
          </a:stretch>
        </p:blipFill>
        <p:spPr>
          <a:xfrm>
            <a:off x="639607" y="1760075"/>
            <a:ext cx="10912786" cy="333784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371" name="Rectangle 2"/>
          <p:cNvSpPr>
            <a:spLocks noGrp="1" noChangeArrowheads="1"/>
          </p:cNvSpPr>
          <p:nvPr>
            <p:ph type="title"/>
          </p:nvPr>
        </p:nvSpPr>
        <p:spPr>
          <a:xfrm>
            <a:off x="950155" y="431409"/>
            <a:ext cx="10698480" cy="1143000"/>
          </a:xfrm>
        </p:spPr>
        <p:txBody>
          <a:bodyPr>
            <a:normAutofit/>
          </a:bodyPr>
          <a:lstStyle/>
          <a:p>
            <a:pPr algn="ctr"/>
            <a:r>
              <a:rPr lang="en-IN" sz="3200" b="1" dirty="0">
                <a:latin typeface="Times New Roman"/>
                <a:ea typeface="Times New Roman"/>
              </a:rPr>
              <a:t> </a:t>
            </a:r>
            <a:endParaRPr lang="en-US" sz="3200" dirty="0">
              <a:latin typeface="Times New Roman" pitchFamily="18" charset="0"/>
              <a:cs typeface="Times New Roman" pitchFamily="18" charset="0"/>
            </a:endParaRPr>
          </a:p>
        </p:txBody>
      </p:sp>
      <p:sp>
        <p:nvSpPr>
          <p:cNvPr id="58372" name="Rectangle 3"/>
          <p:cNvSpPr>
            <a:spLocks noGrp="1" noChangeArrowheads="1"/>
          </p:cNvSpPr>
          <p:nvPr>
            <p:ph idx="1"/>
          </p:nvPr>
        </p:nvSpPr>
        <p:spPr>
          <a:xfrm>
            <a:off x="869093" y="1594022"/>
            <a:ext cx="10509325" cy="4793566"/>
          </a:xfrm>
        </p:spPr>
        <p:txBody>
          <a:bodyPr>
            <a:normAutofit/>
          </a:bodyPr>
          <a:lstStyle/>
          <a:p>
            <a:pPr marL="0" indent="0">
              <a:buNone/>
            </a:pPr>
            <a:r>
              <a:rPr lang="en-US" dirty="0">
                <a:latin typeface="Times New Roman" pitchFamily="18" charset="0"/>
                <a:cs typeface="Times New Roman" pitchFamily="18" charset="0"/>
              </a:rPr>
              <a:t>  </a:t>
            </a:r>
          </a:p>
        </p:txBody>
      </p:sp>
      <p:sp>
        <p:nvSpPr>
          <p:cNvPr id="5837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F870052-B5DC-4471-86EB-FCE6B5DF9748}"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11</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3" name="Picture 2">
            <a:extLst>
              <a:ext uri="{FF2B5EF4-FFF2-40B4-BE49-F238E27FC236}">
                <a16:creationId xmlns:a16="http://schemas.microsoft.com/office/drawing/2014/main" id="{A946F4C2-02C6-A1F2-B4F2-44708E3F7A17}"/>
              </a:ext>
            </a:extLst>
          </p:cNvPr>
          <p:cNvPicPr>
            <a:picLocks noChangeAspect="1"/>
          </p:cNvPicPr>
          <p:nvPr/>
        </p:nvPicPr>
        <p:blipFill>
          <a:blip r:embed="rId3"/>
          <a:stretch>
            <a:fillRect/>
          </a:stretch>
        </p:blipFill>
        <p:spPr>
          <a:xfrm>
            <a:off x="743470" y="526544"/>
            <a:ext cx="10905165" cy="582980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8FE8C241-4B65-938D-C9BD-3EDEA3BBBEE4}"/>
              </a:ext>
            </a:extLst>
          </p:cNvPr>
          <p:cNvPicPr>
            <a:picLocks noChangeAspect="1"/>
          </p:cNvPicPr>
          <p:nvPr/>
        </p:nvPicPr>
        <p:blipFill>
          <a:blip r:embed="rId2"/>
          <a:stretch>
            <a:fillRect/>
          </a:stretch>
        </p:blipFill>
        <p:spPr>
          <a:xfrm>
            <a:off x="798894" y="424300"/>
            <a:ext cx="10790855" cy="1958510"/>
          </a:xfrm>
          <a:prstGeom prst="rect">
            <a:avLst/>
          </a:prstGeom>
        </p:spPr>
      </p:pic>
      <p:pic>
        <p:nvPicPr>
          <p:cNvPr id="3" name="Picture 2">
            <a:extLst>
              <a:ext uri="{FF2B5EF4-FFF2-40B4-BE49-F238E27FC236}">
                <a16:creationId xmlns:a16="http://schemas.microsoft.com/office/drawing/2014/main" id="{08140D16-CFA0-56AE-2287-72BDCD213F1B}"/>
              </a:ext>
            </a:extLst>
          </p:cNvPr>
          <p:cNvPicPr>
            <a:picLocks noChangeAspect="1"/>
          </p:cNvPicPr>
          <p:nvPr/>
        </p:nvPicPr>
        <p:blipFill>
          <a:blip r:embed="rId3"/>
          <a:stretch>
            <a:fillRect/>
          </a:stretch>
        </p:blipFill>
        <p:spPr>
          <a:xfrm>
            <a:off x="2631077" y="2209397"/>
            <a:ext cx="6477561" cy="464860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74" name="Rectangle 8"/>
          <p:cNvSpPr>
            <a:spLocks noChangeArrowheads="1"/>
          </p:cNvSpPr>
          <p:nvPr/>
        </p:nvSpPr>
        <p:spPr bwMode="auto">
          <a:xfrm>
            <a:off x="1043940" y="609602"/>
            <a:ext cx="9113520" cy="106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a:ea typeface="Times New Roman"/>
                <a:cs typeface="Times New Roman"/>
              </a:rPr>
              <a:t>  </a:t>
            </a:r>
            <a:endParaRPr kumimoji="0" lang="en-IN" sz="3200" b="0" i="0" u="none" strike="noStrike" kern="1200" cap="none" spc="0" normalizeH="0" baseline="0" noProof="0" dirty="0">
              <a:ln>
                <a:noFill/>
              </a:ln>
              <a:solidFill>
                <a:prstClr val="black"/>
              </a:solidFill>
              <a:effectLst/>
              <a:uLnTx/>
              <a:uFillTx/>
              <a:latin typeface="Calibri"/>
              <a:ea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ko-KR" sz="1800" b="0" i="0" u="none" strike="noStrike" kern="1200" cap="none" spc="0" normalizeH="0" baseline="0" noProof="0" dirty="0">
              <a:ln>
                <a:noFill/>
              </a:ln>
              <a:solidFill>
                <a:prstClr val="black"/>
              </a:solidFill>
              <a:effectLst/>
              <a:uLnTx/>
              <a:uFillTx/>
              <a:latin typeface="Calibri"/>
              <a:ea typeface="맑은 고딕" panose="020B0503020000020004" pitchFamily="34" charset="-127"/>
              <a:cs typeface="Times New Roman" pitchFamily="18" charset="0"/>
            </a:endParaRPr>
          </a:p>
        </p:txBody>
      </p:sp>
      <p:pic>
        <p:nvPicPr>
          <p:cNvPr id="3" name="Picture 2">
            <a:extLst>
              <a:ext uri="{FF2B5EF4-FFF2-40B4-BE49-F238E27FC236}">
                <a16:creationId xmlns:a16="http://schemas.microsoft.com/office/drawing/2014/main" id="{C8E0C0B8-0610-CBCA-4E87-CC34ED112517}"/>
              </a:ext>
            </a:extLst>
          </p:cNvPr>
          <p:cNvPicPr>
            <a:picLocks noChangeAspect="1"/>
          </p:cNvPicPr>
          <p:nvPr/>
        </p:nvPicPr>
        <p:blipFill>
          <a:blip r:embed="rId2"/>
          <a:stretch>
            <a:fillRect/>
          </a:stretch>
        </p:blipFill>
        <p:spPr>
          <a:xfrm>
            <a:off x="2141675" y="609602"/>
            <a:ext cx="6492803" cy="480101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560B0638-CDDD-22FD-829D-ED404F87EE7F}"/>
              </a:ext>
            </a:extLst>
          </p:cNvPr>
          <p:cNvPicPr>
            <a:picLocks noChangeAspect="1"/>
          </p:cNvPicPr>
          <p:nvPr/>
        </p:nvPicPr>
        <p:blipFill>
          <a:blip r:embed="rId2"/>
          <a:stretch>
            <a:fillRect/>
          </a:stretch>
        </p:blipFill>
        <p:spPr>
          <a:xfrm>
            <a:off x="754663" y="204153"/>
            <a:ext cx="10486029" cy="2575783"/>
          </a:xfrm>
          <a:prstGeom prst="rect">
            <a:avLst/>
          </a:prstGeom>
        </p:spPr>
      </p:pic>
      <p:pic>
        <p:nvPicPr>
          <p:cNvPr id="3" name="Picture 2">
            <a:extLst>
              <a:ext uri="{FF2B5EF4-FFF2-40B4-BE49-F238E27FC236}">
                <a16:creationId xmlns:a16="http://schemas.microsoft.com/office/drawing/2014/main" id="{AF720A1A-3BDE-004A-9404-3F72BD0C4DDA}"/>
              </a:ext>
            </a:extLst>
          </p:cNvPr>
          <p:cNvPicPr>
            <a:picLocks noChangeAspect="1"/>
          </p:cNvPicPr>
          <p:nvPr/>
        </p:nvPicPr>
        <p:blipFill>
          <a:blip r:embed="rId3"/>
          <a:stretch>
            <a:fillRect/>
          </a:stretch>
        </p:blipFill>
        <p:spPr>
          <a:xfrm>
            <a:off x="754663" y="2806975"/>
            <a:ext cx="9768298" cy="354466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4D46B220-875E-FC9B-0DA7-88FE0AAA7848}"/>
              </a:ext>
            </a:extLst>
          </p:cNvPr>
          <p:cNvPicPr>
            <a:picLocks noChangeAspect="1"/>
          </p:cNvPicPr>
          <p:nvPr/>
        </p:nvPicPr>
        <p:blipFill>
          <a:blip r:embed="rId2"/>
          <a:stretch>
            <a:fillRect/>
          </a:stretch>
        </p:blipFill>
        <p:spPr>
          <a:xfrm>
            <a:off x="941768" y="183130"/>
            <a:ext cx="7956426" cy="669627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13F2C3DE-BA42-C8D5-CE19-46E6C1049EA2}"/>
              </a:ext>
            </a:extLst>
          </p:cNvPr>
          <p:cNvPicPr>
            <a:picLocks noChangeAspect="1"/>
          </p:cNvPicPr>
          <p:nvPr/>
        </p:nvPicPr>
        <p:blipFill>
          <a:blip r:embed="rId2"/>
          <a:stretch>
            <a:fillRect/>
          </a:stretch>
        </p:blipFill>
        <p:spPr>
          <a:xfrm>
            <a:off x="1044275" y="427257"/>
            <a:ext cx="10651262" cy="52557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32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B77A7FB-8C4A-4909-A782-5009DF744569}"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17</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2" name="Picture 1">
            <a:extLst>
              <a:ext uri="{FF2B5EF4-FFF2-40B4-BE49-F238E27FC236}">
                <a16:creationId xmlns:a16="http://schemas.microsoft.com/office/drawing/2014/main" id="{E9067F7D-BF89-6C33-7FF7-CDDAFDE133C0}"/>
              </a:ext>
            </a:extLst>
          </p:cNvPr>
          <p:cNvPicPr>
            <a:picLocks noChangeAspect="1"/>
          </p:cNvPicPr>
          <p:nvPr/>
        </p:nvPicPr>
        <p:blipFill>
          <a:blip r:embed="rId3"/>
          <a:stretch>
            <a:fillRect/>
          </a:stretch>
        </p:blipFill>
        <p:spPr>
          <a:xfrm>
            <a:off x="990600" y="219627"/>
            <a:ext cx="10458084" cy="5148785"/>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12ED916C-D2AD-39F4-2DD8-A0AB835A93E9}"/>
              </a:ext>
            </a:extLst>
          </p:cNvPr>
          <p:cNvPicPr>
            <a:picLocks noChangeAspect="1"/>
          </p:cNvPicPr>
          <p:nvPr/>
        </p:nvPicPr>
        <p:blipFill>
          <a:blip r:embed="rId2"/>
          <a:stretch>
            <a:fillRect/>
          </a:stretch>
        </p:blipFill>
        <p:spPr>
          <a:xfrm>
            <a:off x="1025221" y="159441"/>
            <a:ext cx="8226934" cy="2518057"/>
          </a:xfrm>
          <a:prstGeom prst="rect">
            <a:avLst/>
          </a:prstGeom>
        </p:spPr>
      </p:pic>
      <p:pic>
        <p:nvPicPr>
          <p:cNvPr id="3" name="Picture 2">
            <a:extLst>
              <a:ext uri="{FF2B5EF4-FFF2-40B4-BE49-F238E27FC236}">
                <a16:creationId xmlns:a16="http://schemas.microsoft.com/office/drawing/2014/main" id="{01D660F4-482D-84BF-422D-A5D774FA9FF8}"/>
              </a:ext>
            </a:extLst>
          </p:cNvPr>
          <p:cNvPicPr>
            <a:picLocks noChangeAspect="1"/>
          </p:cNvPicPr>
          <p:nvPr/>
        </p:nvPicPr>
        <p:blipFill>
          <a:blip r:embed="rId3"/>
          <a:stretch>
            <a:fillRect/>
          </a:stretch>
        </p:blipFill>
        <p:spPr>
          <a:xfrm>
            <a:off x="2254770" y="2910348"/>
            <a:ext cx="6626641" cy="378821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371" name="Rectangle 2"/>
          <p:cNvSpPr>
            <a:spLocks noGrp="1" noChangeArrowheads="1"/>
          </p:cNvSpPr>
          <p:nvPr>
            <p:ph type="title"/>
          </p:nvPr>
        </p:nvSpPr>
        <p:spPr>
          <a:xfrm>
            <a:off x="950155" y="431409"/>
            <a:ext cx="10698480" cy="1143000"/>
          </a:xfrm>
        </p:spPr>
        <p:txBody>
          <a:bodyPr>
            <a:normAutofit/>
          </a:bodyPr>
          <a:lstStyle/>
          <a:p>
            <a:pPr algn="ctr"/>
            <a:r>
              <a:rPr lang="en-IN" sz="3200" b="1" dirty="0">
                <a:latin typeface="Times New Roman"/>
                <a:ea typeface="Times New Roman"/>
              </a:rPr>
              <a:t> </a:t>
            </a:r>
            <a:endParaRPr lang="en-US" sz="3200" dirty="0">
              <a:latin typeface="Times New Roman" pitchFamily="18" charset="0"/>
              <a:cs typeface="Times New Roman" pitchFamily="18" charset="0"/>
            </a:endParaRPr>
          </a:p>
        </p:txBody>
      </p:sp>
      <p:sp>
        <p:nvSpPr>
          <p:cNvPr id="58372" name="Rectangle 3"/>
          <p:cNvSpPr>
            <a:spLocks noGrp="1" noChangeArrowheads="1"/>
          </p:cNvSpPr>
          <p:nvPr>
            <p:ph idx="1"/>
          </p:nvPr>
        </p:nvSpPr>
        <p:spPr>
          <a:xfrm>
            <a:off x="869093" y="1594022"/>
            <a:ext cx="10509325" cy="4793566"/>
          </a:xfrm>
        </p:spPr>
        <p:txBody>
          <a:bodyPr>
            <a:normAutofit/>
          </a:bodyPr>
          <a:lstStyle/>
          <a:p>
            <a:pPr marL="0" indent="0">
              <a:buNone/>
            </a:pPr>
            <a:r>
              <a:rPr lang="en-US" dirty="0">
                <a:latin typeface="Times New Roman" pitchFamily="18" charset="0"/>
                <a:cs typeface="Times New Roman" pitchFamily="18" charset="0"/>
              </a:rPr>
              <a:t>  </a:t>
            </a:r>
          </a:p>
        </p:txBody>
      </p:sp>
      <p:sp>
        <p:nvSpPr>
          <p:cNvPr id="5837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F870052-B5DC-4471-86EB-FCE6B5DF9748}"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19</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2" name="Picture 1">
            <a:extLst>
              <a:ext uri="{FF2B5EF4-FFF2-40B4-BE49-F238E27FC236}">
                <a16:creationId xmlns:a16="http://schemas.microsoft.com/office/drawing/2014/main" id="{54F7624C-6F0D-8889-25B7-07FD9D3F97E3}"/>
              </a:ext>
            </a:extLst>
          </p:cNvPr>
          <p:cNvPicPr>
            <a:picLocks noChangeAspect="1"/>
          </p:cNvPicPr>
          <p:nvPr/>
        </p:nvPicPr>
        <p:blipFill>
          <a:blip r:embed="rId3"/>
          <a:stretch>
            <a:fillRect/>
          </a:stretch>
        </p:blipFill>
        <p:spPr>
          <a:xfrm>
            <a:off x="813582" y="275057"/>
            <a:ext cx="10828958" cy="2827265"/>
          </a:xfrm>
          <a:prstGeom prst="rect">
            <a:avLst/>
          </a:prstGeom>
        </p:spPr>
      </p:pic>
      <p:pic>
        <p:nvPicPr>
          <p:cNvPr id="3" name="Picture 2">
            <a:extLst>
              <a:ext uri="{FF2B5EF4-FFF2-40B4-BE49-F238E27FC236}">
                <a16:creationId xmlns:a16="http://schemas.microsoft.com/office/drawing/2014/main" id="{610DCD76-73A0-5942-DC59-17116F0B0979}"/>
              </a:ext>
            </a:extLst>
          </p:cNvPr>
          <p:cNvPicPr>
            <a:picLocks noChangeAspect="1"/>
          </p:cNvPicPr>
          <p:nvPr/>
        </p:nvPicPr>
        <p:blipFill>
          <a:blip r:embed="rId4"/>
          <a:stretch>
            <a:fillRect/>
          </a:stretch>
        </p:blipFill>
        <p:spPr>
          <a:xfrm>
            <a:off x="1207612" y="3193877"/>
            <a:ext cx="8359175" cy="307091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a:extLst>
              <a:ext uri="{FF2B5EF4-FFF2-40B4-BE49-F238E27FC236}">
                <a16:creationId xmlns:a16="http://schemas.microsoft.com/office/drawing/2014/main" id="{EBCC3F19-E139-1CEF-F2D5-C038254D0428}"/>
              </a:ext>
            </a:extLst>
          </p:cNvPr>
          <p:cNvPicPr>
            <a:picLocks noChangeAspect="1"/>
          </p:cNvPicPr>
          <p:nvPr/>
        </p:nvPicPr>
        <p:blipFill>
          <a:blip r:embed="rId2"/>
          <a:stretch>
            <a:fillRect/>
          </a:stretch>
        </p:blipFill>
        <p:spPr>
          <a:xfrm>
            <a:off x="1179340" y="415081"/>
            <a:ext cx="8606818" cy="630035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5CFCA889-BD0A-4DBA-8E4C-ACD58D47884E}"/>
              </a:ext>
            </a:extLst>
          </p:cNvPr>
          <p:cNvPicPr>
            <a:picLocks noChangeAspect="1"/>
          </p:cNvPicPr>
          <p:nvPr/>
        </p:nvPicPr>
        <p:blipFill>
          <a:blip r:embed="rId2"/>
          <a:stretch>
            <a:fillRect/>
          </a:stretch>
        </p:blipFill>
        <p:spPr>
          <a:xfrm>
            <a:off x="2868650" y="239753"/>
            <a:ext cx="6454699" cy="637849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 name="Picture 8">
            <a:extLst>
              <a:ext uri="{FF2B5EF4-FFF2-40B4-BE49-F238E27FC236}">
                <a16:creationId xmlns:a16="http://schemas.microsoft.com/office/drawing/2014/main" id="{918072B5-059D-B497-39F5-ABF3BD50C2C3}"/>
              </a:ext>
            </a:extLst>
          </p:cNvPr>
          <p:cNvPicPr>
            <a:picLocks noChangeAspect="1"/>
          </p:cNvPicPr>
          <p:nvPr/>
        </p:nvPicPr>
        <p:blipFill>
          <a:blip r:embed="rId2"/>
          <a:stretch>
            <a:fillRect/>
          </a:stretch>
        </p:blipFill>
        <p:spPr>
          <a:xfrm>
            <a:off x="814695" y="1359778"/>
            <a:ext cx="10730554" cy="361534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7" name="Picture 6">
            <a:extLst>
              <a:ext uri="{FF2B5EF4-FFF2-40B4-BE49-F238E27FC236}">
                <a16:creationId xmlns:a16="http://schemas.microsoft.com/office/drawing/2014/main" id="{3A1D54C5-097B-A761-C104-FA36C9468348}"/>
              </a:ext>
            </a:extLst>
          </p:cNvPr>
          <p:cNvPicPr>
            <a:picLocks noChangeAspect="1"/>
          </p:cNvPicPr>
          <p:nvPr/>
        </p:nvPicPr>
        <p:blipFill>
          <a:blip r:embed="rId2"/>
          <a:stretch>
            <a:fillRect/>
          </a:stretch>
        </p:blipFill>
        <p:spPr>
          <a:xfrm>
            <a:off x="1315658" y="563363"/>
            <a:ext cx="10320713" cy="5719449"/>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7890" name="Title 1"/>
          <p:cNvSpPr>
            <a:spLocks noGrp="1"/>
          </p:cNvSpPr>
          <p:nvPr>
            <p:ph type="title"/>
          </p:nvPr>
        </p:nvSpPr>
        <p:spPr>
          <a:xfrm>
            <a:off x="871977" y="-77269"/>
            <a:ext cx="10252710" cy="841974"/>
          </a:xfrm>
        </p:spPr>
        <p:txBody>
          <a:bodyPr vert="horz" lIns="91440" tIns="45720" rIns="91440" bIns="45720" rtlCol="0" anchor="ctr">
            <a:normAutofit/>
          </a:bodyPr>
          <a:lstStyle/>
          <a:p>
            <a:pPr algn="ctr"/>
            <a:r>
              <a:rPr lang="en-US" altLang="en-US" sz="4800" dirty="0">
                <a:latin typeface="+mn-lt"/>
                <a:cs typeface="Arial" panose="020B0604020202020204" pitchFamily="34" charset="0"/>
              </a:rPr>
              <a:t>References</a:t>
            </a:r>
          </a:p>
        </p:txBody>
      </p:sp>
      <p:sp>
        <p:nvSpPr>
          <p:cNvPr id="37891" name="Content Placeholder 2"/>
          <p:cNvSpPr>
            <a:spLocks noGrp="1"/>
          </p:cNvSpPr>
          <p:nvPr>
            <p:ph idx="1"/>
          </p:nvPr>
        </p:nvSpPr>
        <p:spPr>
          <a:xfrm>
            <a:off x="918520" y="783961"/>
            <a:ext cx="10770937" cy="5925761"/>
          </a:xfrm>
        </p:spPr>
        <p:txBody>
          <a:bodyPr>
            <a:normAutofit/>
          </a:bodyPr>
          <a:lstStyle/>
          <a:p>
            <a:pPr>
              <a:lnSpc>
                <a:spcPct val="100000"/>
              </a:lnSpc>
              <a:buNone/>
            </a:pPr>
            <a:endParaRPr lang="en-US" sz="1600" b="1" dirty="0">
              <a:solidFill>
                <a:srgbClr val="000000"/>
              </a:solidFill>
              <a:latin typeface="Calibri" panose="020F0502020204030204" pitchFamily="34" charset="0"/>
            </a:endParaRP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748C1-214E-5A42-AFB0-AA37B5C4913C}"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Title 1">
            <a:extLst>
              <a:ext uri="{FF2B5EF4-FFF2-40B4-BE49-F238E27FC236}">
                <a16:creationId xmlns:a16="http://schemas.microsoft.com/office/drawing/2014/main" id="{39C2C645-0ABF-FE90-E8E1-63EAB682AD42}"/>
              </a:ext>
            </a:extLst>
          </p:cNvPr>
          <p:cNvSpPr txBox="1">
            <a:spLocks/>
          </p:cNvSpPr>
          <p:nvPr/>
        </p:nvSpPr>
        <p:spPr>
          <a:xfrm>
            <a:off x="871977" y="-77269"/>
            <a:ext cx="10252710" cy="84197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4800">
                <a:latin typeface="+mn-lt"/>
                <a:cs typeface="Arial" panose="020B0604020202020204" pitchFamily="34" charset="0"/>
              </a:rPr>
              <a:t>References</a:t>
            </a:r>
            <a:endParaRPr lang="en-US" altLang="en-US" sz="4800" dirty="0">
              <a:latin typeface="+mn-lt"/>
              <a:cs typeface="Arial" panose="020B0604020202020204" pitchFamily="34" charset="0"/>
            </a:endParaRPr>
          </a:p>
        </p:txBody>
      </p:sp>
      <p:sp>
        <p:nvSpPr>
          <p:cNvPr id="7" name="Slide Number Placeholder 1">
            <a:extLst>
              <a:ext uri="{FF2B5EF4-FFF2-40B4-BE49-F238E27FC236}">
                <a16:creationId xmlns:a16="http://schemas.microsoft.com/office/drawing/2014/main" id="{239AD93D-82CE-E285-BD8D-F66EB7F1DCDD}"/>
              </a:ext>
            </a:extLst>
          </p:cNvPr>
          <p:cNvSpPr txBox="1">
            <a:spLocks/>
          </p:cNvSpPr>
          <p:nvPr/>
        </p:nvSpPr>
        <p:spPr>
          <a:xfrm>
            <a:off x="8610600" y="635635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94748C1-214E-5A42-AFB0-AA37B5C4913C}" type="slidenum">
              <a:rPr lang="en-US" altLang="en-US" smtClean="0">
                <a:solidFill>
                  <a:prstClr val="black">
                    <a:tint val="75000"/>
                  </a:prstClr>
                </a:solidFill>
                <a:latin typeface="Calibri"/>
              </a:rPr>
              <a:pPr>
                <a:defRPr/>
              </a:pPr>
              <a:t>24</a:t>
            </a:fld>
            <a:endParaRPr lang="en-US" altLang="en-US">
              <a:solidFill>
                <a:prstClr val="black">
                  <a:tint val="75000"/>
                </a:prstClr>
              </a:solidFill>
              <a:latin typeface="Calibri"/>
            </a:endParaRPr>
          </a:p>
        </p:txBody>
      </p:sp>
      <p:pic>
        <p:nvPicPr>
          <p:cNvPr id="8" name="Picture 7">
            <a:extLst>
              <a:ext uri="{FF2B5EF4-FFF2-40B4-BE49-F238E27FC236}">
                <a16:creationId xmlns:a16="http://schemas.microsoft.com/office/drawing/2014/main" id="{7A8F4B0D-10D2-2D93-4D2F-997EC2F99E0E}"/>
              </a:ext>
            </a:extLst>
          </p:cNvPr>
          <p:cNvPicPr>
            <a:picLocks noChangeAspect="1"/>
          </p:cNvPicPr>
          <p:nvPr/>
        </p:nvPicPr>
        <p:blipFill>
          <a:blip r:embed="rId2"/>
          <a:stretch>
            <a:fillRect/>
          </a:stretch>
        </p:blipFill>
        <p:spPr>
          <a:xfrm>
            <a:off x="741100" y="581510"/>
            <a:ext cx="11060257" cy="5612813"/>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a:extLst>
              <a:ext uri="{FF2B5EF4-FFF2-40B4-BE49-F238E27FC236}">
                <a16:creationId xmlns:a16="http://schemas.microsoft.com/office/drawing/2014/main" id="{DB51C402-9D7B-8034-AA23-2FA38C9E1AD0}"/>
              </a:ext>
            </a:extLst>
          </p:cNvPr>
          <p:cNvSpPr txBox="1"/>
          <p:nvPr/>
        </p:nvSpPr>
        <p:spPr>
          <a:xfrm>
            <a:off x="668592" y="1876717"/>
            <a:ext cx="10441859" cy="1938992"/>
          </a:xfrm>
          <a:prstGeom prst="rect">
            <a:avLst/>
          </a:prstGeom>
          <a:noFill/>
        </p:spPr>
        <p:txBody>
          <a:bodyPr wrap="square">
            <a:spAutoFit/>
          </a:bodyPr>
          <a:lstStyle/>
          <a:p>
            <a:pPr>
              <a:lnSpc>
                <a:spcPct val="100000"/>
              </a:lnSpc>
              <a:buNone/>
            </a:pPr>
            <a:r>
              <a:rPr lang="en-US" sz="2400" b="1" dirty="0">
                <a:latin typeface="Times New Roman" pitchFamily="18" charset="0"/>
                <a:cs typeface="Times New Roman" pitchFamily="18" charset="0"/>
              </a:rPr>
              <a:t>Online Video Link-</a:t>
            </a:r>
            <a:endParaRPr lang="en-IN" sz="2400" b="1" dirty="0">
              <a:latin typeface="Times New Roman" pitchFamily="18" charset="0"/>
              <a:cs typeface="Times New Roman" pitchFamily="18" charset="0"/>
              <a:hlinkClick r:id="rId2"/>
            </a:endParaRPr>
          </a:p>
          <a:p>
            <a:pPr>
              <a:lnSpc>
                <a:spcPct val="100000"/>
              </a:lnSpc>
            </a:pPr>
            <a:r>
              <a:rPr lang="en-IN" sz="2400" dirty="0">
                <a:latin typeface="Times New Roman" pitchFamily="18" charset="0"/>
                <a:cs typeface="Times New Roman" pitchFamily="18" charset="0"/>
                <a:hlinkClick r:id="rId3"/>
              </a:rPr>
              <a:t>https://nptel.ac.in/courses/111/105/111105090/</a:t>
            </a:r>
            <a:endParaRPr lang="en-IN" sz="2400" dirty="0">
              <a:latin typeface="Times New Roman" pitchFamily="18" charset="0"/>
              <a:cs typeface="Times New Roman" pitchFamily="18" charset="0"/>
            </a:endParaRPr>
          </a:p>
          <a:p>
            <a:pPr>
              <a:lnSpc>
                <a:spcPct val="100000"/>
              </a:lnSpc>
            </a:pPr>
            <a:r>
              <a:rPr lang="en-IN" sz="2400" dirty="0">
                <a:latin typeface="Times New Roman" pitchFamily="18" charset="0"/>
                <a:cs typeface="Times New Roman" pitchFamily="18" charset="0"/>
                <a:hlinkClick r:id="rId4"/>
              </a:rPr>
              <a:t>https://www.youtube.com/watch?v=RYIb1u3C13I</a:t>
            </a:r>
            <a:r>
              <a:rPr lang="en-IN" sz="2400" dirty="0">
                <a:latin typeface="Times New Roman" pitchFamily="18" charset="0"/>
                <a:cs typeface="Times New Roman" pitchFamily="18" charset="0"/>
              </a:rPr>
              <a:t> </a:t>
            </a:r>
          </a:p>
          <a:p>
            <a:pPr>
              <a:lnSpc>
                <a:spcPct val="100000"/>
              </a:lnSpc>
            </a:pPr>
            <a:r>
              <a:rPr lang="en-US" sz="2400" dirty="0">
                <a:solidFill>
                  <a:srgbClr val="000000"/>
                </a:solidFill>
                <a:latin typeface="Times New Roman" pitchFamily="18" charset="0"/>
                <a:cs typeface="Times New Roman" pitchFamily="18" charset="0"/>
                <a:hlinkClick r:id="rId5"/>
              </a:rPr>
              <a:t>https://www.youtube.com/watch?v=S_Zx-g8FU0w&amp;list=PL6C92B335BD4238AB&amp;index=18</a:t>
            </a:r>
            <a:r>
              <a:rPr lang="en-US" sz="2400" dirty="0">
                <a:solidFill>
                  <a:srgbClr val="000000"/>
                </a:solidFill>
                <a:latin typeface="Times New Roman" pitchFamily="18" charset="0"/>
                <a:cs typeface="Times New Roman" pitchFamily="18" charset="0"/>
              </a:rPr>
              <a:t> </a:t>
            </a:r>
            <a:endParaRPr lang="en-US" sz="2400" b="1" dirty="0">
              <a:solidFill>
                <a:srgbClr val="000000"/>
              </a:solidFill>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Rectangle 16">
            <a:extLst>
              <a:ext uri="{FF2B5EF4-FFF2-40B4-BE49-F238E27FC236}">
                <a16:creationId xmlns:a16="http://schemas.microsoft.com/office/drawing/2014/main" id="{2C813A83-4CF3-4942-8C24-169E11C40466}"/>
              </a:ext>
            </a:extLst>
          </p:cNvPr>
          <p:cNvSpPr/>
          <p:nvPr/>
        </p:nvSpPr>
        <p:spPr>
          <a:xfrm>
            <a:off x="152400" y="0"/>
            <a:ext cx="118872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ea typeface="+mn-ea"/>
                <a:cs typeface="+mn-cs"/>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265920" y="0"/>
            <a:ext cx="1783081"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067302" y="0"/>
            <a:ext cx="647373"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867491" y="6294601"/>
            <a:ext cx="544386"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533165" y="5129693"/>
            <a:ext cx="1685103"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601157" y="2249080"/>
            <a:ext cx="10457019"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727962" y="1214279"/>
            <a:ext cx="2369701"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23" name="Diamond 6">
            <a:extLst>
              <a:ext uri="{FF2B5EF4-FFF2-40B4-BE49-F238E27FC236}">
                <a16:creationId xmlns:a16="http://schemas.microsoft.com/office/drawing/2014/main" id="{4F0CA98B-3337-4AC3-8305-ED6C9C731FFB}"/>
              </a:ext>
            </a:extLst>
          </p:cNvPr>
          <p:cNvSpPr/>
          <p:nvPr/>
        </p:nvSpPr>
        <p:spPr>
          <a:xfrm>
            <a:off x="2978707" y="1214279"/>
            <a:ext cx="2369701"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grpSp>
        <p:nvGrpSpPr>
          <p:cNvPr id="3" name="Group 28"/>
          <p:cNvGrpSpPr/>
          <p:nvPr/>
        </p:nvGrpSpPr>
        <p:grpSpPr>
          <a:xfrm>
            <a:off x="383984" y="152400"/>
            <a:ext cx="400299"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63556" y="5394451"/>
            <a:ext cx="331693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itchFamily="18" charset="0"/>
                <a:ea typeface="Segoe UI" panose="020B0502040204020203" pitchFamily="34" charset="0"/>
                <a:cs typeface="Times New Roman" pitchFamily="18" charset="0"/>
              </a:rPr>
              <a:t>For queries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Email: neetu.e17077@cumail.in</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B4D36D-60F8-0547-9CD4-56091D03A888}"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88717" y="1623357"/>
            <a:ext cx="3710644" cy="3710644"/>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8763000" y="6508751"/>
            <a:ext cx="2743200" cy="365200"/>
          </a:xfrm>
          <a:prstGeom prst="rect">
            <a:avLst/>
          </a:prstGeom>
          <a:no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94" name="Google Shape;94;p1"/>
          <p:cNvSpPr/>
          <p:nvPr/>
        </p:nvSpPr>
        <p:spPr>
          <a:xfrm rot="10800000" flipH="1">
            <a:off x="10395517" y="5716751"/>
            <a:ext cx="1291200" cy="1157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96" name="Google Shape;96;p1"/>
          <p:cNvSpPr/>
          <p:nvPr/>
        </p:nvSpPr>
        <p:spPr>
          <a:xfrm flipH="1">
            <a:off x="7046399" y="-65087"/>
            <a:ext cx="5145600" cy="5853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97" name="Google Shape;97;p1"/>
          <p:cNvSpPr/>
          <p:nvPr/>
        </p:nvSpPr>
        <p:spPr>
          <a:xfrm>
            <a:off x="2124075" y="2025527"/>
            <a:ext cx="6829600" cy="15808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121900" tIns="60933" rIns="121900" bIns="60933"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1800"/>
              <a:buFontTx/>
              <a:buNone/>
              <a:tabLst/>
              <a:defRPr/>
            </a:pPr>
            <a:endParaRPr kumimoji="0" sz="24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98" name="Google Shape;98;p1"/>
          <p:cNvSpPr/>
          <p:nvPr/>
        </p:nvSpPr>
        <p:spPr>
          <a:xfrm flipH="1">
            <a:off x="9814000" y="5239000"/>
            <a:ext cx="2366400" cy="1600400"/>
          </a:xfrm>
          <a:prstGeom prst="rtTriangle">
            <a:avLst/>
          </a:prstGeom>
          <a:solidFill>
            <a:srgbClr val="C00000"/>
          </a:solid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102" name="Google Shape;102;p1"/>
          <p:cNvSpPr txBox="1"/>
          <p:nvPr/>
        </p:nvSpPr>
        <p:spPr>
          <a:xfrm>
            <a:off x="840863" y="813557"/>
            <a:ext cx="10951200" cy="5525817"/>
          </a:xfrm>
          <a:prstGeom prst="rect">
            <a:avLst/>
          </a:prstGeom>
          <a:noFill/>
          <a:ln>
            <a:noFill/>
          </a:ln>
        </p:spPr>
        <p:txBody>
          <a:bodyPr spcFirstLastPara="1" wrap="square" lIns="121900" tIns="60933" rIns="121900" bIns="60933" anchor="t" anchorCtr="0">
            <a:spAutoFit/>
          </a:bodyPr>
          <a:lstStyle/>
          <a:p>
            <a:pPr marL="0" marR="0" lvl="0" indent="0" algn="ctr" defTabSz="914400" rtl="0" eaLnBrk="1" fontAlgn="auto" latinLnBrk="0" hangingPunct="1">
              <a:lnSpc>
                <a:spcPct val="90000"/>
              </a:lnSpc>
              <a:spcBef>
                <a:spcPts val="0"/>
              </a:spcBef>
              <a:spcAft>
                <a:spcPts val="0"/>
              </a:spcAft>
              <a:buClr>
                <a:prstClr val="black"/>
              </a:buClr>
              <a:buSzPts val="3200"/>
              <a:buFontTx/>
              <a:buNone/>
              <a:tabLst/>
              <a:defRPr/>
            </a:pPr>
            <a:r>
              <a:rPr kumimoji="0" lang="en-US" sz="42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kumimoji="0" sz="1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defTabSz="914400" rtl="0" eaLnBrk="1" fontAlgn="auto" latinLnBrk="0" hangingPunct="1">
              <a:lnSpc>
                <a:spcPct val="90000"/>
              </a:lnSpc>
              <a:spcBef>
                <a:spcPts val="1493"/>
              </a:spcBef>
              <a:spcAft>
                <a:spcPts val="0"/>
              </a:spcAft>
              <a:buClr>
                <a:prstClr val="black"/>
              </a:buClr>
              <a:buSzPts val="3200"/>
              <a:buFontTx/>
              <a:buNone/>
              <a:tabLst/>
              <a:defRPr/>
            </a:pPr>
            <a:r>
              <a:rPr kumimoji="0" lang="en-US" sz="42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Black"/>
              </a:rPr>
              <a:t>DEPARTMENT OF AIT-CSE</a:t>
            </a:r>
            <a:endParaRPr kumimoji="0" sz="1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defTabSz="914400" rtl="0" eaLnBrk="1" fontAlgn="auto" latinLnBrk="0" hangingPunct="1">
              <a:lnSpc>
                <a:spcPct val="90000"/>
              </a:lnSpc>
              <a:spcBef>
                <a:spcPts val="1493"/>
              </a:spcBef>
              <a:spcAft>
                <a:spcPts val="0"/>
              </a:spcAft>
              <a:buClr>
                <a:prstClr val="black"/>
              </a:buClr>
              <a:buSzPts val="2800"/>
              <a:buFontTx/>
              <a:buNone/>
              <a:tabLst/>
              <a:defRPr/>
            </a:pPr>
            <a:r>
              <a:rPr kumimoji="0" lang="en-IN" sz="26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Times New Roman"/>
              </a:rPr>
              <a:t>Bachelor of Engineering (CSE)</a:t>
            </a:r>
            <a:endParaRPr kumimoji="0"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90000"/>
              </a:lnSpc>
              <a:spcBef>
                <a:spcPts val="1493"/>
              </a:spcBef>
              <a:spcAft>
                <a:spcPts val="0"/>
              </a:spcAft>
              <a:buClr>
                <a:prstClr val="black"/>
              </a:buClr>
              <a:buSzPts val="2800"/>
              <a:buFontTx/>
              <a:buNone/>
              <a:tabLst/>
              <a:defRPr/>
            </a:pPr>
            <a:r>
              <a:rPr kumimoji="0" lang="en-US" sz="26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Times New Roman"/>
              </a:rPr>
              <a:t>AIML\Semester-4</a:t>
            </a:r>
            <a:endParaRPr kumimoji="0"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90000"/>
              </a:lnSpc>
              <a:spcBef>
                <a:spcPts val="1307"/>
              </a:spcBef>
              <a:spcAft>
                <a:spcPts val="0"/>
              </a:spcAft>
              <a:buClr>
                <a:prstClr val="black"/>
              </a:buClr>
              <a:buSzPts val="2800"/>
              <a:buFontTx/>
              <a:buNone/>
              <a:tabLst/>
              <a:defRPr/>
            </a:pPr>
            <a:r>
              <a:rPr kumimoji="0" lang="en-IN"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STATISTICAL METHODS FOR AI</a:t>
            </a:r>
            <a:endParaRPr kumimoji="0" sz="2133"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90000"/>
              </a:lnSpc>
              <a:spcBef>
                <a:spcPts val="1307"/>
              </a:spcBef>
              <a:spcAft>
                <a:spcPts val="0"/>
              </a:spcAft>
              <a:buClr>
                <a:prstClr val="black"/>
              </a:buClr>
              <a:buSzPts val="2800"/>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24CST-295</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endParaRPr kumimoji="0" sz="2133"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1493"/>
              </a:spcBef>
              <a:spcAft>
                <a:spcPts val="0"/>
              </a:spcAft>
              <a:buClrTx/>
              <a:buSzPts val="3200"/>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Unit No.  1                    Chapter No.  1                   Lecture No.1.1.2</a:t>
            </a:r>
          </a:p>
          <a:p>
            <a:pPr lvl="0">
              <a:spcBef>
                <a:spcPts val="1493"/>
              </a:spcBef>
              <a:buSzPts val="3200"/>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Topic : </a:t>
            </a:r>
            <a:r>
              <a:rPr lang="en-IN" sz="2400" b="1" dirty="0"/>
              <a:t>Dispersion Parameters</a:t>
            </a:r>
            <a:endParaRPr kumimoji="0" lang="en-US" sz="24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1493"/>
              </a:spcBef>
              <a:spcAft>
                <a:spcPts val="0"/>
              </a:spcAft>
              <a:buClrTx/>
              <a:buSzPts val="3200"/>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Faculty Name and </a:t>
            </a:r>
            <a:r>
              <a:rPr kumimoji="0" lang="en-US" sz="24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E_Code</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Dr Neetu(E17077)             Designation: Assistant Professor</a:t>
            </a:r>
            <a:endParaRPr kumimoji="0" lang="en-US" sz="4267" b="1" i="0" u="none" strike="noStrike" kern="1200" cap="none" spc="0" normalizeH="0" baseline="0" noProof="0" dirty="0">
              <a:ln>
                <a:noFill/>
              </a:ln>
              <a:solidFill>
                <a:srgbClr val="E7E6E6"/>
              </a:solidFill>
              <a:effectLst/>
              <a:uLnTx/>
              <a:uFillTx/>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7046401" y="0"/>
            <a:ext cx="5145599" cy="78989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Academic Session 2025-26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2133"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A91DC9-7965-FB48-9385-20B56B4847C1}"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10" name="Table 9"/>
          <p:cNvGraphicFramePr>
            <a:graphicFrameLocks noGrp="1"/>
          </p:cNvGraphicFramePr>
          <p:nvPr/>
        </p:nvGraphicFramePr>
        <p:xfrm>
          <a:off x="1602701" y="206459"/>
          <a:ext cx="9619654" cy="3331028"/>
        </p:xfrm>
        <a:graphic>
          <a:graphicData uri="http://schemas.openxmlformats.org/drawingml/2006/table">
            <a:tbl>
              <a:tblPr/>
              <a:tblGrid>
                <a:gridCol w="1053117">
                  <a:extLst>
                    <a:ext uri="{9D8B030D-6E8A-4147-A177-3AD203B41FA5}">
                      <a16:colId xmlns:a16="http://schemas.microsoft.com/office/drawing/2014/main" val="20000"/>
                    </a:ext>
                  </a:extLst>
                </a:gridCol>
                <a:gridCol w="8566537">
                  <a:extLst>
                    <a:ext uri="{9D8B030D-6E8A-4147-A177-3AD203B41FA5}">
                      <a16:colId xmlns:a16="http://schemas.microsoft.com/office/drawing/2014/main" val="20001"/>
                    </a:ext>
                  </a:extLst>
                </a:gridCol>
              </a:tblGrid>
              <a:tr h="518728">
                <a:tc>
                  <a:txBody>
                    <a:bodyPr/>
                    <a:lstStyle/>
                    <a:p>
                      <a:pPr algn="ctr">
                        <a:lnSpc>
                          <a:spcPct val="115000"/>
                        </a:lnSpc>
                        <a:spcAft>
                          <a:spcPts val="1000"/>
                        </a:spcAft>
                      </a:pPr>
                      <a:r>
                        <a:rPr lang="en-US" sz="1800" b="1" dirty="0">
                          <a:solidFill>
                            <a:schemeClr val="tx1"/>
                          </a:solidFill>
                          <a:latin typeface="Arial" pitchFamily="34" charset="0"/>
                          <a:ea typeface="Calibri"/>
                          <a:cs typeface="Arial" pitchFamily="34" charset="0"/>
                        </a:rPr>
                        <a:t>Chapter</a:t>
                      </a:r>
                      <a:endParaRPr lang="en-IN" sz="1800" b="1" dirty="0">
                        <a:solidFill>
                          <a:schemeClr val="tx1"/>
                        </a:solidFill>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lnSpc>
                          <a:spcPct val="115000"/>
                        </a:lnSpc>
                        <a:spcAft>
                          <a:spcPts val="1000"/>
                        </a:spcAft>
                      </a:pPr>
                      <a:r>
                        <a:rPr lang="en-US" sz="1800" b="1" dirty="0">
                          <a:solidFill>
                            <a:schemeClr val="tx1"/>
                          </a:solidFill>
                          <a:latin typeface="Arial" pitchFamily="34" charset="0"/>
                          <a:ea typeface="Times New Roman"/>
                          <a:cs typeface="Arial" pitchFamily="34" charset="0"/>
                        </a:rPr>
                        <a:t>Course Objectives</a:t>
                      </a:r>
                      <a:endParaRPr lang="en-IN" sz="1800" dirty="0">
                        <a:solidFill>
                          <a:schemeClr val="tx1"/>
                        </a:solidFill>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812300">
                <a:tc>
                  <a:txBody>
                    <a:bodyPr/>
                    <a:lstStyle/>
                    <a:p>
                      <a:pPr marL="342900" lvl="0" indent="-342900" algn="ctr">
                        <a:lnSpc>
                          <a:spcPct val="150000"/>
                        </a:lnSpc>
                        <a:spcAft>
                          <a:spcPts val="0"/>
                        </a:spcAft>
                        <a:buFont typeface="Arial"/>
                        <a:buNone/>
                      </a:pPr>
                      <a:r>
                        <a:rPr lang="en-US" sz="1800" baseline="0" dirty="0">
                          <a:latin typeface="Arial" pitchFamily="34" charset="0"/>
                          <a:ea typeface="Noto Sans Symbols"/>
                          <a:cs typeface="Arial" pitchFamily="34" charset="0"/>
                        </a:rPr>
                        <a:t> 1</a:t>
                      </a:r>
                      <a:endParaRPr lang="en-IN" sz="1800" dirty="0">
                        <a:latin typeface="Arial" pitchFamily="34" charset="0"/>
                        <a:ea typeface="Noto Sans Symbols"/>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enable students to</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develop a solid understanding of foundational statistical concepts and techniques relevant to artificial intelligence applications. </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impart analytical ability in solving mathematical problems as applied to the respective branches of Engineering.</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enable students to gain proficiency in applying statistical methodologies, including regression, classification, clustering, time series analysis, and experimental design, to analyze and model data in AI contexts.</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prepare students for real-world AI projects and research endeavors by providing them with a solid foundation in statistical methods, enabling them to contribute effectively to the advancement of AI technologies.</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nvGraphicFramePr>
        <p:xfrm>
          <a:off x="1622323" y="3537487"/>
          <a:ext cx="9600032" cy="1730830"/>
        </p:xfrm>
        <a:graphic>
          <a:graphicData uri="http://schemas.openxmlformats.org/drawingml/2006/table">
            <a:tbl>
              <a:tblPr/>
              <a:tblGrid>
                <a:gridCol w="1022554">
                  <a:extLst>
                    <a:ext uri="{9D8B030D-6E8A-4147-A177-3AD203B41FA5}">
                      <a16:colId xmlns:a16="http://schemas.microsoft.com/office/drawing/2014/main" val="20000"/>
                    </a:ext>
                  </a:extLst>
                </a:gridCol>
                <a:gridCol w="8577478">
                  <a:extLst>
                    <a:ext uri="{9D8B030D-6E8A-4147-A177-3AD203B41FA5}">
                      <a16:colId xmlns:a16="http://schemas.microsoft.com/office/drawing/2014/main" val="20001"/>
                    </a:ext>
                  </a:extLst>
                </a:gridCol>
              </a:tblGrid>
              <a:tr h="300600">
                <a:tc>
                  <a:txBody>
                    <a:bodyPr/>
                    <a:lstStyle/>
                    <a:p>
                      <a:pPr algn="ctr">
                        <a:lnSpc>
                          <a:spcPct val="115000"/>
                        </a:lnSpc>
                        <a:spcAft>
                          <a:spcPts val="1000"/>
                        </a:spcAft>
                      </a:pPr>
                      <a:r>
                        <a:rPr lang="en-US" sz="1800" b="1" dirty="0">
                          <a:latin typeface="Arial" pitchFamily="34" charset="0"/>
                          <a:ea typeface="Calibri"/>
                          <a:cs typeface="Arial" pitchFamily="34" charset="0"/>
                        </a:rPr>
                        <a:t>Chapter</a:t>
                      </a:r>
                      <a:endParaRPr lang="en-IN" sz="1800" dirty="0">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lnSpc>
                          <a:spcPct val="115000"/>
                        </a:lnSpc>
                        <a:spcAft>
                          <a:spcPts val="1000"/>
                        </a:spcAft>
                      </a:pPr>
                      <a:r>
                        <a:rPr lang="en-US" sz="1800" b="1" dirty="0">
                          <a:latin typeface="Arial" pitchFamily="34" charset="0"/>
                          <a:ea typeface="Times New Roman"/>
                          <a:cs typeface="Arial" pitchFamily="34" charset="0"/>
                        </a:rPr>
                        <a:t>Course Outcomes</a:t>
                      </a:r>
                      <a:endParaRPr lang="en-IN" sz="1800" dirty="0">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430230">
                <a:tc>
                  <a:txBody>
                    <a:bodyPr/>
                    <a:lstStyle/>
                    <a:p>
                      <a:pPr marL="342265" indent="-254000" algn="ctr">
                        <a:lnSpc>
                          <a:spcPct val="115000"/>
                        </a:lnSpc>
                        <a:spcAft>
                          <a:spcPts val="1000"/>
                        </a:spcAft>
                      </a:pPr>
                      <a:r>
                        <a:rPr lang="en-US" sz="1800">
                          <a:solidFill>
                            <a:srgbClr val="000000"/>
                          </a:solidFill>
                          <a:latin typeface="Arial" pitchFamily="34" charset="0"/>
                          <a:ea typeface="Calibri"/>
                          <a:cs typeface="Arial" pitchFamily="34" charset="0"/>
                        </a:rPr>
                        <a:t>1</a:t>
                      </a:r>
                      <a:endParaRPr lang="en-IN" sz="1800" dirty="0">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IN" sz="1350" b="0" i="0" u="none" strike="noStrike" kern="1200" baseline="0" dirty="0">
                        <a:solidFill>
                          <a:schemeClr val="tx1"/>
                        </a:solidFill>
                        <a:latin typeface="+mn-lt"/>
                        <a:ea typeface="+mn-ea"/>
                        <a:cs typeface="+mn-cs"/>
                      </a:endParaRPr>
                    </a:p>
                    <a:p>
                      <a:pPr algn="just"/>
                      <a:r>
                        <a:rPr lang="en-US" sz="1800" kern="1200" dirty="0">
                          <a:solidFill>
                            <a:schemeClr val="tx1"/>
                          </a:solidFill>
                          <a:effectLst/>
                          <a:latin typeface="+mn-lt"/>
                          <a:ea typeface="+mn-ea"/>
                          <a:cs typeface="+mn-cs"/>
                        </a:rPr>
                        <a:t>Student will be able to </a:t>
                      </a:r>
                    </a:p>
                    <a:p>
                      <a:pPr algn="just"/>
                      <a:endParaRPr lang="en-US" sz="1600" b="0" i="0" u="none" strike="noStrike" kern="1200" baseline="0" dirty="0">
                        <a:solidFill>
                          <a:schemeClr val="tx1"/>
                        </a:solidFill>
                        <a:latin typeface="+mn-lt"/>
                        <a:ea typeface="+mn-ea"/>
                        <a:cs typeface="+mn-cs"/>
                      </a:endParaRPr>
                    </a:p>
                    <a:p>
                      <a:pPr algn="just"/>
                      <a:r>
                        <a:rPr lang="en-US" sz="1800" kern="1200" dirty="0">
                          <a:solidFill>
                            <a:schemeClr val="tx1"/>
                          </a:solidFill>
                          <a:effectLst/>
                          <a:latin typeface="+mn-lt"/>
                          <a:ea typeface="+mn-ea"/>
                          <a:cs typeface="+mn-cs"/>
                        </a:rPr>
                        <a:t>Remember the foundational concepts of statistics, probability theory, regression methods, and estimation principles essential for AI and data-driven problem-solving.</a:t>
                      </a:r>
                      <a:endParaRPr lang="en-US" sz="1350" b="0" i="0" u="none" strike="noStrike" kern="1200" baseline="0" dirty="0">
                        <a:solidFill>
                          <a:schemeClr val="tx1"/>
                        </a:solidFill>
                        <a:latin typeface="+mn-lt"/>
                        <a:ea typeface="+mn-ea"/>
                        <a:cs typeface="+mn-cs"/>
                      </a:endParaRPr>
                    </a:p>
                  </a:txBody>
                  <a:tcPr marL="66866" marR="66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a:extLst>
              <a:ext uri="{FF2B5EF4-FFF2-40B4-BE49-F238E27FC236}">
                <a16:creationId xmlns:a16="http://schemas.microsoft.com/office/drawing/2014/main" id="{3F746F28-3F47-F2EB-7800-AAE703AFA689}"/>
              </a:ext>
            </a:extLst>
          </p:cNvPr>
          <p:cNvPicPr>
            <a:picLocks noChangeAspect="1"/>
          </p:cNvPicPr>
          <p:nvPr/>
        </p:nvPicPr>
        <p:blipFill>
          <a:blip r:embed="rId2"/>
          <a:stretch>
            <a:fillRect/>
          </a:stretch>
        </p:blipFill>
        <p:spPr>
          <a:xfrm>
            <a:off x="81991" y="1326869"/>
            <a:ext cx="11892936" cy="3923557"/>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Title 5"/>
          <p:cNvSpPr>
            <a:spLocks noGrp="1"/>
          </p:cNvSpPr>
          <p:nvPr>
            <p:ph type="title"/>
          </p:nvPr>
        </p:nvSpPr>
        <p:spPr/>
        <p:txBody>
          <a:bodyPr>
            <a:normAutofit/>
          </a:bodyPr>
          <a:lstStyle/>
          <a:p>
            <a:r>
              <a:rPr lang="en-US" sz="3200" b="1" dirty="0">
                <a:latin typeface="Times New Roman" pitchFamily="18" charset="0"/>
                <a:cs typeface="Times New Roman" pitchFamily="18" charset="0"/>
              </a:rPr>
              <a:t>Contents</a:t>
            </a:r>
            <a:endParaRPr lang="en-IN" sz="3200" b="1" dirty="0">
              <a:latin typeface="Times New Roman" pitchFamily="18" charset="0"/>
              <a:cs typeface="Times New Roman" pitchFamily="18" charset="0"/>
            </a:endParaRPr>
          </a:p>
        </p:txBody>
      </p:sp>
      <p:sp>
        <p:nvSpPr>
          <p:cNvPr id="7" name="Content Placeholder 6"/>
          <p:cNvSpPr>
            <a:spLocks noGrp="1"/>
          </p:cNvSpPr>
          <p:nvPr>
            <p:ph idx="1"/>
          </p:nvPr>
        </p:nvSpPr>
        <p:spPr>
          <a:xfrm>
            <a:off x="969645" y="1847852"/>
            <a:ext cx="10252710" cy="4351338"/>
          </a:xfrm>
        </p:spPr>
        <p:txBody>
          <a:bodyPr>
            <a:normAutofit/>
          </a:bodyPr>
          <a:lstStyle/>
          <a:p>
            <a:pPr marL="457200" lvl="1" indent="0">
              <a:buNone/>
            </a:pPr>
            <a:endParaRPr lang="en-US" sz="2800" b="1" dirty="0">
              <a:solidFill>
                <a:srgbClr val="000000"/>
              </a:solidFill>
              <a:latin typeface="Times New Roman" pitchFamily="18" charset="0"/>
              <a:cs typeface="Times New Roman" pitchFamily="18" charset="0"/>
            </a:endParaRPr>
          </a:p>
          <a:p>
            <a:pPr lvl="1"/>
            <a:r>
              <a:rPr lang="en-IN" sz="2800" dirty="0"/>
              <a:t>Standard Deviation</a:t>
            </a:r>
          </a:p>
          <a:p>
            <a:pPr lvl="1"/>
            <a:r>
              <a:rPr lang="en-IN" sz="2800" dirty="0"/>
              <a:t>Variance</a:t>
            </a:r>
          </a:p>
          <a:p>
            <a:pPr lvl="1"/>
            <a:r>
              <a:rPr lang="en-IN" sz="2800" dirty="0"/>
              <a:t>Range</a:t>
            </a:r>
          </a:p>
          <a:p>
            <a:pPr lvl="1"/>
            <a:r>
              <a:rPr lang="en-IN" sz="2800" dirty="0"/>
              <a:t>Quartiles</a:t>
            </a:r>
          </a:p>
          <a:p>
            <a:pPr lvl="1"/>
            <a:r>
              <a:rPr lang="en-IN" sz="2800" dirty="0"/>
              <a:t>Inferential Statistics</a:t>
            </a:r>
            <a:endParaRPr lang="en-US" sz="2800" b="1" dirty="0">
              <a:solidFill>
                <a:srgbClr val="000000"/>
              </a:solidFill>
              <a:latin typeface="Times New Roman" panose="02020603050405020304"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A91DC9-7965-FB48-9385-20B56B4847C1}"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32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B77A7FB-8C4A-4909-A782-5009DF744569}"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5</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9" name="Content Placeholder 2"/>
          <p:cNvSpPr txBox="1">
            <a:spLocks/>
          </p:cNvSpPr>
          <p:nvPr/>
        </p:nvSpPr>
        <p:spPr>
          <a:xfrm>
            <a:off x="990600" y="1399309"/>
            <a:ext cx="10515600" cy="4777654"/>
          </a:xfrm>
          <a:prstGeom prst="rect">
            <a:avLst/>
          </a:prstGeom>
        </p:spPr>
        <p:txBody>
          <a:bodyPr vert="horz" lIns="91440" tIns="45720" rIns="91440" bIns="45720" rtlCol="0">
            <a:normAutofit/>
          </a:bodyPr>
          <a:lstStyle/>
          <a:p>
            <a:pPr marL="569913" marR="0" lvl="1" indent="-569913"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80000"/>
              </a:lnSpc>
              <a:spcBef>
                <a:spcPts val="1000"/>
              </a:spcBef>
              <a:spcAft>
                <a:spcPts val="0"/>
              </a:spcAft>
              <a:buClr>
                <a:prstClr val="black"/>
              </a:buClr>
              <a:buSzTx/>
              <a:buFontTx/>
              <a:buNone/>
              <a:tabLst/>
              <a:defRPr/>
            </a:pPr>
            <a:r>
              <a:rPr kumimoji="0" lang="en-IN"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5" name="Picture 4">
            <a:extLst>
              <a:ext uri="{FF2B5EF4-FFF2-40B4-BE49-F238E27FC236}">
                <a16:creationId xmlns:a16="http://schemas.microsoft.com/office/drawing/2014/main" id="{4829AA72-9362-EE74-47A7-E8D9160F31DE}"/>
              </a:ext>
            </a:extLst>
          </p:cNvPr>
          <p:cNvPicPr>
            <a:picLocks noChangeAspect="1"/>
          </p:cNvPicPr>
          <p:nvPr/>
        </p:nvPicPr>
        <p:blipFill>
          <a:blip r:embed="rId3"/>
          <a:stretch>
            <a:fillRect/>
          </a:stretch>
        </p:blipFill>
        <p:spPr>
          <a:xfrm>
            <a:off x="888609" y="136522"/>
            <a:ext cx="10836471" cy="651008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a:extLst>
              <a:ext uri="{FF2B5EF4-FFF2-40B4-BE49-F238E27FC236}">
                <a16:creationId xmlns:a16="http://schemas.microsoft.com/office/drawing/2014/main" id="{A05668FA-A03B-55A9-F81D-00D0C7C3AE21}"/>
              </a:ext>
            </a:extLst>
          </p:cNvPr>
          <p:cNvPicPr>
            <a:picLocks noChangeAspect="1"/>
          </p:cNvPicPr>
          <p:nvPr/>
        </p:nvPicPr>
        <p:blipFill>
          <a:blip r:embed="rId2"/>
          <a:stretch>
            <a:fillRect/>
          </a:stretch>
        </p:blipFill>
        <p:spPr>
          <a:xfrm>
            <a:off x="984587" y="273805"/>
            <a:ext cx="10875224" cy="441618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371" name="Rectangle 2"/>
          <p:cNvSpPr>
            <a:spLocks noGrp="1" noChangeArrowheads="1"/>
          </p:cNvSpPr>
          <p:nvPr>
            <p:ph type="title"/>
          </p:nvPr>
        </p:nvSpPr>
        <p:spPr>
          <a:xfrm>
            <a:off x="950155" y="431409"/>
            <a:ext cx="10698480" cy="1143000"/>
          </a:xfrm>
        </p:spPr>
        <p:txBody>
          <a:bodyPr>
            <a:normAutofit/>
          </a:bodyPr>
          <a:lstStyle/>
          <a:p>
            <a:pPr algn="ctr"/>
            <a:r>
              <a:rPr lang="en-IN" sz="3200" b="1" dirty="0">
                <a:latin typeface="Times New Roman"/>
                <a:ea typeface="Times New Roman"/>
              </a:rPr>
              <a:t> </a:t>
            </a:r>
            <a:endParaRPr lang="en-US" sz="3200" dirty="0">
              <a:latin typeface="Times New Roman" pitchFamily="18" charset="0"/>
              <a:cs typeface="Times New Roman" pitchFamily="18" charset="0"/>
            </a:endParaRPr>
          </a:p>
        </p:txBody>
      </p:sp>
      <p:sp>
        <p:nvSpPr>
          <p:cNvPr id="58372" name="Rectangle 3"/>
          <p:cNvSpPr>
            <a:spLocks noGrp="1" noChangeArrowheads="1"/>
          </p:cNvSpPr>
          <p:nvPr>
            <p:ph idx="1"/>
          </p:nvPr>
        </p:nvSpPr>
        <p:spPr>
          <a:xfrm>
            <a:off x="869093" y="1594022"/>
            <a:ext cx="10509325" cy="4793566"/>
          </a:xfrm>
        </p:spPr>
        <p:txBody>
          <a:bodyPr>
            <a:normAutofit/>
          </a:bodyPr>
          <a:lstStyle/>
          <a:p>
            <a:pPr marL="0" indent="0">
              <a:buNone/>
            </a:pPr>
            <a:r>
              <a:rPr lang="en-US" dirty="0">
                <a:latin typeface="Times New Roman" pitchFamily="18" charset="0"/>
                <a:cs typeface="Times New Roman" pitchFamily="18" charset="0"/>
              </a:rPr>
              <a:t>  </a:t>
            </a:r>
          </a:p>
        </p:txBody>
      </p:sp>
      <p:sp>
        <p:nvSpPr>
          <p:cNvPr id="5837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F870052-B5DC-4471-86EB-FCE6B5DF9748}"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7</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4" name="Picture 3">
            <a:extLst>
              <a:ext uri="{FF2B5EF4-FFF2-40B4-BE49-F238E27FC236}">
                <a16:creationId xmlns:a16="http://schemas.microsoft.com/office/drawing/2014/main" id="{55C511A6-A61D-108B-2AC7-896B5E680EBE}"/>
              </a:ext>
            </a:extLst>
          </p:cNvPr>
          <p:cNvPicPr>
            <a:picLocks noChangeAspect="1"/>
          </p:cNvPicPr>
          <p:nvPr/>
        </p:nvPicPr>
        <p:blipFill>
          <a:blip r:embed="rId3"/>
          <a:stretch>
            <a:fillRect/>
          </a:stretch>
        </p:blipFill>
        <p:spPr>
          <a:xfrm>
            <a:off x="513368" y="1574409"/>
            <a:ext cx="10809539" cy="353091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A0F26A69-E7F9-B0A7-C74E-DF43B02D4994}"/>
              </a:ext>
            </a:extLst>
          </p:cNvPr>
          <p:cNvPicPr>
            <a:picLocks noChangeAspect="1"/>
          </p:cNvPicPr>
          <p:nvPr/>
        </p:nvPicPr>
        <p:blipFill>
          <a:blip r:embed="rId2"/>
          <a:stretch>
            <a:fillRect/>
          </a:stretch>
        </p:blipFill>
        <p:spPr>
          <a:xfrm>
            <a:off x="952773" y="334505"/>
            <a:ext cx="10907304" cy="513223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74" name="Rectangle 8"/>
          <p:cNvSpPr>
            <a:spLocks noChangeArrowheads="1"/>
          </p:cNvSpPr>
          <p:nvPr/>
        </p:nvSpPr>
        <p:spPr bwMode="auto">
          <a:xfrm>
            <a:off x="1043940" y="609602"/>
            <a:ext cx="9113520" cy="106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a:ea typeface="Times New Roman"/>
                <a:cs typeface="Times New Roman"/>
              </a:rPr>
              <a:t>  </a:t>
            </a:r>
            <a:endParaRPr kumimoji="0" lang="en-IN" sz="3200" b="0" i="0" u="none" strike="noStrike" kern="1200" cap="none" spc="0" normalizeH="0" baseline="0" noProof="0" dirty="0">
              <a:ln>
                <a:noFill/>
              </a:ln>
              <a:solidFill>
                <a:prstClr val="black"/>
              </a:solidFill>
              <a:effectLst/>
              <a:uLnTx/>
              <a:uFillTx/>
              <a:latin typeface="Calibri"/>
              <a:ea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ko-KR" sz="1800" b="0" i="0" u="none" strike="noStrike" kern="1200" cap="none" spc="0" normalizeH="0" baseline="0" noProof="0" dirty="0">
              <a:ln>
                <a:noFill/>
              </a:ln>
              <a:solidFill>
                <a:prstClr val="black"/>
              </a:solidFill>
              <a:effectLst/>
              <a:uLnTx/>
              <a:uFillTx/>
              <a:latin typeface="Calibri"/>
              <a:ea typeface="맑은 고딕" panose="020B0503020000020004" pitchFamily="34" charset="-127"/>
              <a:cs typeface="Times New Roman" pitchFamily="18" charset="0"/>
            </a:endParaRPr>
          </a:p>
        </p:txBody>
      </p:sp>
      <p:pic>
        <p:nvPicPr>
          <p:cNvPr id="2" name="Picture 1">
            <a:extLst>
              <a:ext uri="{FF2B5EF4-FFF2-40B4-BE49-F238E27FC236}">
                <a16:creationId xmlns:a16="http://schemas.microsoft.com/office/drawing/2014/main" id="{2D5E16C2-5513-67F2-CAF0-D152E5EE92CF}"/>
              </a:ext>
            </a:extLst>
          </p:cNvPr>
          <p:cNvPicPr>
            <a:picLocks noChangeAspect="1"/>
          </p:cNvPicPr>
          <p:nvPr/>
        </p:nvPicPr>
        <p:blipFill>
          <a:blip r:embed="rId2"/>
          <a:stretch>
            <a:fillRect/>
          </a:stretch>
        </p:blipFill>
        <p:spPr>
          <a:xfrm>
            <a:off x="747148" y="252142"/>
            <a:ext cx="10971193" cy="5568555"/>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32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B77A7FB-8C4A-4909-A782-5009DF744569}"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10</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9" name="Content Placeholder 2"/>
          <p:cNvSpPr txBox="1">
            <a:spLocks/>
          </p:cNvSpPr>
          <p:nvPr/>
        </p:nvSpPr>
        <p:spPr>
          <a:xfrm>
            <a:off x="990600" y="1399309"/>
            <a:ext cx="10515600" cy="4777654"/>
          </a:xfrm>
          <a:prstGeom prst="rect">
            <a:avLst/>
          </a:prstGeom>
        </p:spPr>
        <p:txBody>
          <a:bodyPr vert="horz" lIns="91440" tIns="45720" rIns="91440" bIns="45720" rtlCol="0">
            <a:normAutofit/>
          </a:bodyPr>
          <a:lstStyle/>
          <a:p>
            <a:pPr marL="569913" marR="0" lvl="1" indent="-569913"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80000"/>
              </a:lnSpc>
              <a:spcBef>
                <a:spcPts val="1000"/>
              </a:spcBef>
              <a:spcAft>
                <a:spcPts val="0"/>
              </a:spcAft>
              <a:buClr>
                <a:prstClr val="black"/>
              </a:buClr>
              <a:buSzTx/>
              <a:buFontTx/>
              <a:buNone/>
              <a:tabLst/>
              <a:defRPr/>
            </a:pPr>
            <a:r>
              <a:rPr kumimoji="0" lang="en-IN"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2" name="Picture 1">
            <a:extLst>
              <a:ext uri="{FF2B5EF4-FFF2-40B4-BE49-F238E27FC236}">
                <a16:creationId xmlns:a16="http://schemas.microsoft.com/office/drawing/2014/main" id="{86EF9B8B-6D2C-FD68-BD7D-7268D59EE4CC}"/>
              </a:ext>
            </a:extLst>
          </p:cNvPr>
          <p:cNvPicPr>
            <a:picLocks noChangeAspect="1"/>
          </p:cNvPicPr>
          <p:nvPr/>
        </p:nvPicPr>
        <p:blipFill>
          <a:blip r:embed="rId3"/>
          <a:stretch>
            <a:fillRect/>
          </a:stretch>
        </p:blipFill>
        <p:spPr>
          <a:xfrm>
            <a:off x="805928" y="109746"/>
            <a:ext cx="10543622" cy="661173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a:extLst>
              <a:ext uri="{FF2B5EF4-FFF2-40B4-BE49-F238E27FC236}">
                <a16:creationId xmlns:a16="http://schemas.microsoft.com/office/drawing/2014/main" id="{669930FC-99D9-8864-D052-E0EB8B785B3D}"/>
              </a:ext>
            </a:extLst>
          </p:cNvPr>
          <p:cNvPicPr>
            <a:picLocks noChangeAspect="1"/>
          </p:cNvPicPr>
          <p:nvPr/>
        </p:nvPicPr>
        <p:blipFill>
          <a:blip r:embed="rId2"/>
          <a:stretch>
            <a:fillRect/>
          </a:stretch>
        </p:blipFill>
        <p:spPr>
          <a:xfrm>
            <a:off x="826712" y="103301"/>
            <a:ext cx="10929802" cy="6621964"/>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371" name="Rectangle 2"/>
          <p:cNvSpPr>
            <a:spLocks noGrp="1" noChangeArrowheads="1"/>
          </p:cNvSpPr>
          <p:nvPr>
            <p:ph type="title"/>
          </p:nvPr>
        </p:nvSpPr>
        <p:spPr>
          <a:xfrm>
            <a:off x="950155" y="431409"/>
            <a:ext cx="10698480" cy="1143000"/>
          </a:xfrm>
        </p:spPr>
        <p:txBody>
          <a:bodyPr>
            <a:normAutofit/>
          </a:bodyPr>
          <a:lstStyle/>
          <a:p>
            <a:pPr algn="ctr"/>
            <a:r>
              <a:rPr lang="en-IN" sz="3200" b="1" dirty="0">
                <a:latin typeface="Times New Roman"/>
                <a:ea typeface="Times New Roman"/>
              </a:rPr>
              <a:t> </a:t>
            </a:r>
            <a:endParaRPr lang="en-US" sz="3200" dirty="0">
              <a:latin typeface="Times New Roman" pitchFamily="18" charset="0"/>
              <a:cs typeface="Times New Roman" pitchFamily="18" charset="0"/>
            </a:endParaRPr>
          </a:p>
        </p:txBody>
      </p:sp>
      <p:sp>
        <p:nvSpPr>
          <p:cNvPr id="58372" name="Rectangle 3"/>
          <p:cNvSpPr>
            <a:spLocks noGrp="1" noChangeArrowheads="1"/>
          </p:cNvSpPr>
          <p:nvPr>
            <p:ph idx="1"/>
          </p:nvPr>
        </p:nvSpPr>
        <p:spPr>
          <a:xfrm>
            <a:off x="869093" y="1594022"/>
            <a:ext cx="10509325" cy="4793566"/>
          </a:xfrm>
        </p:spPr>
        <p:txBody>
          <a:bodyPr>
            <a:normAutofit/>
          </a:bodyPr>
          <a:lstStyle/>
          <a:p>
            <a:pPr marL="0" indent="0">
              <a:buNone/>
            </a:pPr>
            <a:r>
              <a:rPr lang="en-US" dirty="0">
                <a:latin typeface="Times New Roman" pitchFamily="18" charset="0"/>
                <a:cs typeface="Times New Roman" pitchFamily="18" charset="0"/>
              </a:rPr>
              <a:t>  </a:t>
            </a:r>
          </a:p>
        </p:txBody>
      </p:sp>
      <p:sp>
        <p:nvSpPr>
          <p:cNvPr id="5837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F870052-B5DC-4471-86EB-FCE6B5DF9748}"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12</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2" name="Picture 1">
            <a:extLst>
              <a:ext uri="{FF2B5EF4-FFF2-40B4-BE49-F238E27FC236}">
                <a16:creationId xmlns:a16="http://schemas.microsoft.com/office/drawing/2014/main" id="{E31AC4AE-237D-60AB-457D-AA273E7A4E63}"/>
              </a:ext>
            </a:extLst>
          </p:cNvPr>
          <p:cNvPicPr>
            <a:picLocks noChangeAspect="1"/>
          </p:cNvPicPr>
          <p:nvPr/>
        </p:nvPicPr>
        <p:blipFill>
          <a:blip r:embed="rId3"/>
          <a:stretch>
            <a:fillRect/>
          </a:stretch>
        </p:blipFill>
        <p:spPr>
          <a:xfrm>
            <a:off x="1498356" y="303251"/>
            <a:ext cx="7897462" cy="1566042"/>
          </a:xfrm>
          <a:prstGeom prst="rect">
            <a:avLst/>
          </a:prstGeom>
        </p:spPr>
      </p:pic>
      <p:pic>
        <p:nvPicPr>
          <p:cNvPr id="4" name="Picture 3">
            <a:extLst>
              <a:ext uri="{FF2B5EF4-FFF2-40B4-BE49-F238E27FC236}">
                <a16:creationId xmlns:a16="http://schemas.microsoft.com/office/drawing/2014/main" id="{0BE49C19-2BE2-8219-3065-913360B446DF}"/>
              </a:ext>
            </a:extLst>
          </p:cNvPr>
          <p:cNvPicPr>
            <a:picLocks noChangeAspect="1"/>
          </p:cNvPicPr>
          <p:nvPr/>
        </p:nvPicPr>
        <p:blipFill>
          <a:blip r:embed="rId4"/>
          <a:stretch>
            <a:fillRect/>
          </a:stretch>
        </p:blipFill>
        <p:spPr>
          <a:xfrm>
            <a:off x="1498356" y="1869294"/>
            <a:ext cx="8210093" cy="485218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a:extLst>
              <a:ext uri="{FF2B5EF4-FFF2-40B4-BE49-F238E27FC236}">
                <a16:creationId xmlns:a16="http://schemas.microsoft.com/office/drawing/2014/main" id="{AC0BA6AB-B44E-550F-D83E-F660C5FBA0C6}"/>
              </a:ext>
            </a:extLst>
          </p:cNvPr>
          <p:cNvPicPr>
            <a:picLocks noChangeAspect="1"/>
          </p:cNvPicPr>
          <p:nvPr/>
        </p:nvPicPr>
        <p:blipFill>
          <a:blip r:embed="rId2"/>
          <a:stretch>
            <a:fillRect/>
          </a:stretch>
        </p:blipFill>
        <p:spPr>
          <a:xfrm>
            <a:off x="939822" y="123018"/>
            <a:ext cx="6886655" cy="659433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74" name="Rectangle 8"/>
          <p:cNvSpPr>
            <a:spLocks noChangeArrowheads="1"/>
          </p:cNvSpPr>
          <p:nvPr/>
        </p:nvSpPr>
        <p:spPr bwMode="auto">
          <a:xfrm>
            <a:off x="1043940" y="609602"/>
            <a:ext cx="9113520" cy="106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a:ea typeface="Times New Roman"/>
                <a:cs typeface="Times New Roman"/>
              </a:rPr>
              <a:t>  </a:t>
            </a:r>
            <a:endParaRPr kumimoji="0" lang="en-IN" sz="3200" b="0" i="0" u="none" strike="noStrike" kern="1200" cap="none" spc="0" normalizeH="0" baseline="0" noProof="0" dirty="0">
              <a:ln>
                <a:noFill/>
              </a:ln>
              <a:solidFill>
                <a:prstClr val="black"/>
              </a:solidFill>
              <a:effectLst/>
              <a:uLnTx/>
              <a:uFillTx/>
              <a:latin typeface="Calibri"/>
              <a:ea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ko-KR" sz="1800" b="0" i="0" u="none" strike="noStrike" kern="1200" cap="none" spc="0" normalizeH="0" baseline="0" noProof="0" dirty="0">
              <a:ln>
                <a:noFill/>
              </a:ln>
              <a:solidFill>
                <a:prstClr val="black"/>
              </a:solidFill>
              <a:effectLst/>
              <a:uLnTx/>
              <a:uFillTx/>
              <a:latin typeface="Calibri"/>
              <a:ea typeface="맑은 고딕" panose="020B0503020000020004" pitchFamily="34" charset="-127"/>
              <a:cs typeface="Times New Roman" pitchFamily="18" charset="0"/>
            </a:endParaRPr>
          </a:p>
        </p:txBody>
      </p:sp>
      <p:pic>
        <p:nvPicPr>
          <p:cNvPr id="2" name="Picture 1">
            <a:extLst>
              <a:ext uri="{FF2B5EF4-FFF2-40B4-BE49-F238E27FC236}">
                <a16:creationId xmlns:a16="http://schemas.microsoft.com/office/drawing/2014/main" id="{110E25CF-8008-54E6-345C-E9E8B7B035D4}"/>
              </a:ext>
            </a:extLst>
          </p:cNvPr>
          <p:cNvPicPr>
            <a:picLocks noChangeAspect="1"/>
          </p:cNvPicPr>
          <p:nvPr/>
        </p:nvPicPr>
        <p:blipFill>
          <a:blip r:embed="rId2"/>
          <a:stretch>
            <a:fillRect/>
          </a:stretch>
        </p:blipFill>
        <p:spPr>
          <a:xfrm>
            <a:off x="952053" y="186886"/>
            <a:ext cx="8693053" cy="6671113"/>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a:extLst>
              <a:ext uri="{FF2B5EF4-FFF2-40B4-BE49-F238E27FC236}">
                <a16:creationId xmlns:a16="http://schemas.microsoft.com/office/drawing/2014/main" id="{BE6C94BF-74DA-9FFD-2230-4DD2E8DE6D27}"/>
              </a:ext>
            </a:extLst>
          </p:cNvPr>
          <p:cNvPicPr>
            <a:picLocks noChangeAspect="1"/>
          </p:cNvPicPr>
          <p:nvPr/>
        </p:nvPicPr>
        <p:blipFill>
          <a:blip r:embed="rId2"/>
          <a:stretch>
            <a:fillRect/>
          </a:stretch>
        </p:blipFill>
        <p:spPr>
          <a:xfrm>
            <a:off x="822129" y="118754"/>
            <a:ext cx="10625682" cy="6739246"/>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a:extLst>
              <a:ext uri="{FF2B5EF4-FFF2-40B4-BE49-F238E27FC236}">
                <a16:creationId xmlns:a16="http://schemas.microsoft.com/office/drawing/2014/main" id="{627DEB2B-4A93-0FA8-87E6-A0FED52914A0}"/>
              </a:ext>
            </a:extLst>
          </p:cNvPr>
          <p:cNvPicPr>
            <a:picLocks noChangeAspect="1"/>
          </p:cNvPicPr>
          <p:nvPr/>
        </p:nvPicPr>
        <p:blipFill>
          <a:blip r:embed="rId2"/>
          <a:stretch>
            <a:fillRect/>
          </a:stretch>
        </p:blipFill>
        <p:spPr>
          <a:xfrm>
            <a:off x="829749" y="283477"/>
            <a:ext cx="8553689" cy="1525658"/>
          </a:xfrm>
          <a:prstGeom prst="rect">
            <a:avLst/>
          </a:prstGeom>
        </p:spPr>
      </p:pic>
      <p:pic>
        <p:nvPicPr>
          <p:cNvPr id="4" name="Picture 3">
            <a:extLst>
              <a:ext uri="{FF2B5EF4-FFF2-40B4-BE49-F238E27FC236}">
                <a16:creationId xmlns:a16="http://schemas.microsoft.com/office/drawing/2014/main" id="{F0DB5DC6-6017-C949-0473-CCAFD61E5713}"/>
              </a:ext>
            </a:extLst>
          </p:cNvPr>
          <p:cNvPicPr>
            <a:picLocks noChangeAspect="1"/>
          </p:cNvPicPr>
          <p:nvPr/>
        </p:nvPicPr>
        <p:blipFill>
          <a:blip r:embed="rId3"/>
          <a:stretch>
            <a:fillRect/>
          </a:stretch>
        </p:blipFill>
        <p:spPr>
          <a:xfrm>
            <a:off x="829748" y="1885816"/>
            <a:ext cx="9230101" cy="3639913"/>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a:extLst>
              <a:ext uri="{FF2B5EF4-FFF2-40B4-BE49-F238E27FC236}">
                <a16:creationId xmlns:a16="http://schemas.microsoft.com/office/drawing/2014/main" id="{43E3D487-29ED-4CC4-6602-DA3C7EA6B3CF}"/>
              </a:ext>
            </a:extLst>
          </p:cNvPr>
          <p:cNvPicPr>
            <a:picLocks noChangeAspect="1"/>
          </p:cNvPicPr>
          <p:nvPr/>
        </p:nvPicPr>
        <p:blipFill>
          <a:blip r:embed="rId2"/>
          <a:stretch>
            <a:fillRect/>
          </a:stretch>
        </p:blipFill>
        <p:spPr>
          <a:xfrm>
            <a:off x="220761" y="1256311"/>
            <a:ext cx="11609826" cy="4357908"/>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32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B77A7FB-8C4A-4909-A782-5009DF744569}"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18</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3" name="Picture 2">
            <a:extLst>
              <a:ext uri="{FF2B5EF4-FFF2-40B4-BE49-F238E27FC236}">
                <a16:creationId xmlns:a16="http://schemas.microsoft.com/office/drawing/2014/main" id="{B3BA8F19-4D76-5CA0-E697-0B81E49C7D86}"/>
              </a:ext>
            </a:extLst>
          </p:cNvPr>
          <p:cNvPicPr>
            <a:picLocks noChangeAspect="1"/>
          </p:cNvPicPr>
          <p:nvPr/>
        </p:nvPicPr>
        <p:blipFill>
          <a:blip r:embed="rId3"/>
          <a:stretch>
            <a:fillRect/>
          </a:stretch>
        </p:blipFill>
        <p:spPr>
          <a:xfrm>
            <a:off x="746077" y="217910"/>
            <a:ext cx="11107485" cy="5779767"/>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a:extLst>
              <a:ext uri="{FF2B5EF4-FFF2-40B4-BE49-F238E27FC236}">
                <a16:creationId xmlns:a16="http://schemas.microsoft.com/office/drawing/2014/main" id="{A08A209B-02E8-05FD-87A3-66135A4BBC49}"/>
              </a:ext>
            </a:extLst>
          </p:cNvPr>
          <p:cNvPicPr>
            <a:picLocks noChangeAspect="1"/>
          </p:cNvPicPr>
          <p:nvPr/>
        </p:nvPicPr>
        <p:blipFill>
          <a:blip r:embed="rId2"/>
          <a:stretch>
            <a:fillRect/>
          </a:stretch>
        </p:blipFill>
        <p:spPr>
          <a:xfrm>
            <a:off x="292413" y="1238619"/>
            <a:ext cx="11169391" cy="3992143"/>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7890" name="Title 1"/>
          <p:cNvSpPr>
            <a:spLocks noGrp="1"/>
          </p:cNvSpPr>
          <p:nvPr>
            <p:ph type="title"/>
          </p:nvPr>
        </p:nvSpPr>
        <p:spPr>
          <a:xfrm>
            <a:off x="871977" y="-77269"/>
            <a:ext cx="10252710" cy="841974"/>
          </a:xfrm>
        </p:spPr>
        <p:txBody>
          <a:bodyPr vert="horz" lIns="91440" tIns="45720" rIns="91440" bIns="45720" rtlCol="0" anchor="ctr">
            <a:normAutofit/>
          </a:bodyPr>
          <a:lstStyle/>
          <a:p>
            <a:pPr algn="ctr"/>
            <a:r>
              <a:rPr lang="en-US" altLang="en-US" sz="4800" dirty="0">
                <a:latin typeface="+mn-lt"/>
                <a:cs typeface="Arial" panose="020B0604020202020204" pitchFamily="34" charset="0"/>
              </a:rPr>
              <a:t>References</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748C1-214E-5A42-AFB0-AA37B5C4913C}"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5D0738D0-5625-F201-2DBC-470515D7E78F}"/>
              </a:ext>
            </a:extLst>
          </p:cNvPr>
          <p:cNvPicPr>
            <a:picLocks noChangeAspect="1"/>
          </p:cNvPicPr>
          <p:nvPr/>
        </p:nvPicPr>
        <p:blipFill>
          <a:blip r:embed="rId2"/>
          <a:stretch>
            <a:fillRect/>
          </a:stretch>
        </p:blipFill>
        <p:spPr>
          <a:xfrm>
            <a:off x="741100" y="581510"/>
            <a:ext cx="11060257" cy="5612813"/>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A990F6FB-3FC8-2746-A698-52D038A1F63F}"/>
              </a:ext>
            </a:extLst>
          </p:cNvPr>
          <p:cNvSpPr>
            <a:spLocks noGrp="1"/>
          </p:cNvSpPr>
          <p:nvPr>
            <p:ph idx="1"/>
          </p:nvPr>
        </p:nvSpPr>
        <p:spPr/>
        <p:txBody>
          <a:bodyPr/>
          <a:lstStyle/>
          <a:p>
            <a:pPr>
              <a:lnSpc>
                <a:spcPct val="100000"/>
              </a:lnSpc>
              <a:buNone/>
            </a:pPr>
            <a:r>
              <a:rPr lang="en-US" b="1" dirty="0">
                <a:latin typeface="Times New Roman" pitchFamily="18" charset="0"/>
                <a:cs typeface="Times New Roman" pitchFamily="18" charset="0"/>
              </a:rPr>
              <a:t>Online Video Link-</a:t>
            </a:r>
            <a:endParaRPr lang="en-IN" b="1" dirty="0">
              <a:latin typeface="Times New Roman" pitchFamily="18" charset="0"/>
              <a:cs typeface="Times New Roman" pitchFamily="18" charset="0"/>
              <a:hlinkClick r:id="rId2"/>
            </a:endParaRPr>
          </a:p>
          <a:p>
            <a:pPr>
              <a:lnSpc>
                <a:spcPct val="100000"/>
              </a:lnSpc>
            </a:pPr>
            <a:r>
              <a:rPr lang="en-IN" dirty="0">
                <a:latin typeface="Times New Roman" pitchFamily="18" charset="0"/>
                <a:cs typeface="Times New Roman" pitchFamily="18" charset="0"/>
                <a:hlinkClick r:id="rId3"/>
              </a:rPr>
              <a:t>https://nptel.ac.in/courses/111/105/111105090/</a:t>
            </a:r>
            <a:endParaRPr lang="en-IN" dirty="0">
              <a:latin typeface="Times New Roman" pitchFamily="18" charset="0"/>
              <a:cs typeface="Times New Roman" pitchFamily="18" charset="0"/>
            </a:endParaRPr>
          </a:p>
          <a:p>
            <a:pPr>
              <a:lnSpc>
                <a:spcPct val="100000"/>
              </a:lnSpc>
            </a:pPr>
            <a:r>
              <a:rPr lang="en-IN" dirty="0">
                <a:latin typeface="Times New Roman" pitchFamily="18" charset="0"/>
                <a:cs typeface="Times New Roman" pitchFamily="18" charset="0"/>
                <a:hlinkClick r:id="rId4"/>
              </a:rPr>
              <a:t>https://www.youtube.com/watch?v=RYIb1u3C13I</a:t>
            </a:r>
            <a:r>
              <a:rPr lang="en-IN" dirty="0">
                <a:latin typeface="Times New Roman" pitchFamily="18" charset="0"/>
                <a:cs typeface="Times New Roman" pitchFamily="18" charset="0"/>
              </a:rPr>
              <a:t> </a:t>
            </a:r>
          </a:p>
          <a:p>
            <a:pPr>
              <a:lnSpc>
                <a:spcPct val="100000"/>
              </a:lnSpc>
            </a:pPr>
            <a:r>
              <a:rPr lang="en-US" dirty="0">
                <a:solidFill>
                  <a:srgbClr val="000000"/>
                </a:solidFill>
                <a:latin typeface="Times New Roman" pitchFamily="18" charset="0"/>
                <a:cs typeface="Times New Roman" pitchFamily="18" charset="0"/>
                <a:hlinkClick r:id="rId5"/>
              </a:rPr>
              <a:t>https://www.youtube.com/watch?v=S_Zx-g8FU0w&amp;list=PL6C92B335BD4238AB&amp;index=18</a:t>
            </a:r>
            <a:r>
              <a:rPr lang="en-US" dirty="0">
                <a:solidFill>
                  <a:srgbClr val="000000"/>
                </a:solidFill>
                <a:latin typeface="Times New Roman" pitchFamily="18" charset="0"/>
                <a:cs typeface="Times New Roman" pitchFamily="18" charset="0"/>
              </a:rPr>
              <a:t> </a:t>
            </a:r>
            <a:endParaRPr lang="en-US" b="1" dirty="0">
              <a:solidFill>
                <a:srgbClr val="000000"/>
              </a:solidFill>
              <a:latin typeface="Times New Roman" pitchFamily="18" charset="0"/>
              <a:cs typeface="Times New Roman" pitchFamily="18" charset="0"/>
            </a:endParaRPr>
          </a:p>
          <a:p>
            <a:endParaRPr lang="en-IN"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Rectangle 16">
            <a:extLst>
              <a:ext uri="{FF2B5EF4-FFF2-40B4-BE49-F238E27FC236}">
                <a16:creationId xmlns:a16="http://schemas.microsoft.com/office/drawing/2014/main" id="{2C813A83-4CF3-4942-8C24-169E11C40466}"/>
              </a:ext>
            </a:extLst>
          </p:cNvPr>
          <p:cNvSpPr/>
          <p:nvPr/>
        </p:nvSpPr>
        <p:spPr>
          <a:xfrm>
            <a:off x="152400" y="0"/>
            <a:ext cx="118872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ea typeface="+mn-ea"/>
                <a:cs typeface="+mn-cs"/>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265920" y="0"/>
            <a:ext cx="1783081"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067302" y="0"/>
            <a:ext cx="647373"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867491" y="6294601"/>
            <a:ext cx="544386"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533165" y="5129693"/>
            <a:ext cx="1685103"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601157" y="2249080"/>
            <a:ext cx="10457019"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727962" y="1214279"/>
            <a:ext cx="2369701"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23" name="Diamond 6">
            <a:extLst>
              <a:ext uri="{FF2B5EF4-FFF2-40B4-BE49-F238E27FC236}">
                <a16:creationId xmlns:a16="http://schemas.microsoft.com/office/drawing/2014/main" id="{4F0CA98B-3337-4AC3-8305-ED6C9C731FFB}"/>
              </a:ext>
            </a:extLst>
          </p:cNvPr>
          <p:cNvSpPr/>
          <p:nvPr/>
        </p:nvSpPr>
        <p:spPr>
          <a:xfrm>
            <a:off x="2978707" y="1214279"/>
            <a:ext cx="2369701"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grpSp>
        <p:nvGrpSpPr>
          <p:cNvPr id="3" name="Group 28"/>
          <p:cNvGrpSpPr/>
          <p:nvPr/>
        </p:nvGrpSpPr>
        <p:grpSpPr>
          <a:xfrm>
            <a:off x="383984" y="152400"/>
            <a:ext cx="400299"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63556" y="5394451"/>
            <a:ext cx="331693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itchFamily="18" charset="0"/>
                <a:ea typeface="Segoe UI" panose="020B0502040204020203" pitchFamily="34" charset="0"/>
                <a:cs typeface="Times New Roman" pitchFamily="18" charset="0"/>
              </a:rPr>
              <a:t>For queries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Email: neetu.e17077@cumail.in</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B4D36D-60F8-0547-9CD4-56091D03A888}"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88717" y="1623357"/>
            <a:ext cx="3710644" cy="3710644"/>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8763000" y="6508751"/>
            <a:ext cx="2743200" cy="365200"/>
          </a:xfrm>
          <a:prstGeom prst="rect">
            <a:avLst/>
          </a:prstGeom>
          <a:no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94" name="Google Shape;94;p1"/>
          <p:cNvSpPr/>
          <p:nvPr/>
        </p:nvSpPr>
        <p:spPr>
          <a:xfrm rot="10800000" flipH="1">
            <a:off x="10395517" y="5716751"/>
            <a:ext cx="1291200" cy="1157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96" name="Google Shape;96;p1"/>
          <p:cNvSpPr/>
          <p:nvPr/>
        </p:nvSpPr>
        <p:spPr>
          <a:xfrm flipH="1">
            <a:off x="7046399" y="-65087"/>
            <a:ext cx="5145600" cy="5853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97" name="Google Shape;97;p1"/>
          <p:cNvSpPr/>
          <p:nvPr/>
        </p:nvSpPr>
        <p:spPr>
          <a:xfrm>
            <a:off x="2124075" y="2025527"/>
            <a:ext cx="6829600" cy="15808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121900" tIns="60933" rIns="121900" bIns="60933"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Pts val="1800"/>
              <a:buFontTx/>
              <a:buNone/>
              <a:tabLst/>
              <a:defRPr/>
            </a:pPr>
            <a:endParaRPr kumimoji="0" sz="24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98" name="Google Shape;98;p1"/>
          <p:cNvSpPr/>
          <p:nvPr/>
        </p:nvSpPr>
        <p:spPr>
          <a:xfrm flipH="1">
            <a:off x="9814000" y="5239000"/>
            <a:ext cx="2366400" cy="1600400"/>
          </a:xfrm>
          <a:prstGeom prst="rtTriangle">
            <a:avLst/>
          </a:prstGeom>
          <a:solidFill>
            <a:srgbClr val="C00000"/>
          </a:solidFill>
          <a:ln>
            <a:noFill/>
          </a:ln>
        </p:spPr>
        <p:txBody>
          <a:bodyPr spcFirstLastPara="1" wrap="square" lIns="121900" tIns="60933" rIns="121900" bIns="60933"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102" name="Google Shape;102;p1"/>
          <p:cNvSpPr txBox="1"/>
          <p:nvPr/>
        </p:nvSpPr>
        <p:spPr>
          <a:xfrm>
            <a:off x="840863" y="813557"/>
            <a:ext cx="10951200" cy="5525817"/>
          </a:xfrm>
          <a:prstGeom prst="rect">
            <a:avLst/>
          </a:prstGeom>
          <a:noFill/>
          <a:ln>
            <a:noFill/>
          </a:ln>
        </p:spPr>
        <p:txBody>
          <a:bodyPr spcFirstLastPara="1" wrap="square" lIns="121900" tIns="60933" rIns="121900" bIns="60933" anchor="t" anchorCtr="0">
            <a:spAutoFit/>
          </a:bodyPr>
          <a:lstStyle/>
          <a:p>
            <a:pPr marL="0" marR="0" lvl="0" indent="0" algn="ctr" defTabSz="914400" rtl="0" eaLnBrk="1" fontAlgn="auto" latinLnBrk="0" hangingPunct="1">
              <a:lnSpc>
                <a:spcPct val="90000"/>
              </a:lnSpc>
              <a:spcBef>
                <a:spcPts val="0"/>
              </a:spcBef>
              <a:spcAft>
                <a:spcPts val="0"/>
              </a:spcAft>
              <a:buClr>
                <a:prstClr val="black"/>
              </a:buClr>
              <a:buSzPts val="3200"/>
              <a:buFontTx/>
              <a:buNone/>
              <a:tabLst/>
              <a:defRPr/>
            </a:pPr>
            <a:r>
              <a:rPr kumimoji="0" lang="en-US" sz="42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kumimoji="0" sz="1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defTabSz="914400" rtl="0" eaLnBrk="1" fontAlgn="auto" latinLnBrk="0" hangingPunct="1">
              <a:lnSpc>
                <a:spcPct val="90000"/>
              </a:lnSpc>
              <a:spcBef>
                <a:spcPts val="1493"/>
              </a:spcBef>
              <a:spcAft>
                <a:spcPts val="0"/>
              </a:spcAft>
              <a:buClr>
                <a:prstClr val="black"/>
              </a:buClr>
              <a:buSzPts val="3200"/>
              <a:buFontTx/>
              <a:buNone/>
              <a:tabLst/>
              <a:defRPr/>
            </a:pPr>
            <a:r>
              <a:rPr kumimoji="0" lang="en-US" sz="42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Black"/>
              </a:rPr>
              <a:t>DEPARTMENT OF AIT-CSE</a:t>
            </a:r>
            <a:endParaRPr kumimoji="0" sz="1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defTabSz="914400" rtl="0" eaLnBrk="1" fontAlgn="auto" latinLnBrk="0" hangingPunct="1">
              <a:lnSpc>
                <a:spcPct val="90000"/>
              </a:lnSpc>
              <a:spcBef>
                <a:spcPts val="1493"/>
              </a:spcBef>
              <a:spcAft>
                <a:spcPts val="0"/>
              </a:spcAft>
              <a:buClr>
                <a:prstClr val="black"/>
              </a:buClr>
              <a:buSzPts val="2800"/>
              <a:buFontTx/>
              <a:buNone/>
              <a:tabLst/>
              <a:defRPr/>
            </a:pPr>
            <a:r>
              <a:rPr kumimoji="0" lang="en-IN" sz="26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Times New Roman"/>
              </a:rPr>
              <a:t>Bachelor of Engineering (CSE)</a:t>
            </a:r>
            <a:endParaRPr kumimoji="0"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90000"/>
              </a:lnSpc>
              <a:spcBef>
                <a:spcPts val="1493"/>
              </a:spcBef>
              <a:spcAft>
                <a:spcPts val="0"/>
              </a:spcAft>
              <a:buClr>
                <a:prstClr val="black"/>
              </a:buClr>
              <a:buSzPts val="2800"/>
              <a:buFontTx/>
              <a:buNone/>
              <a:tabLst/>
              <a:defRPr/>
            </a:pPr>
            <a:r>
              <a:rPr kumimoji="0" lang="en-US" sz="2667"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Times New Roman"/>
              </a:rPr>
              <a:t>AIML\Semester-4</a:t>
            </a:r>
            <a:endParaRPr kumimoji="0"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90000"/>
              </a:lnSpc>
              <a:spcBef>
                <a:spcPts val="1307"/>
              </a:spcBef>
              <a:spcAft>
                <a:spcPts val="0"/>
              </a:spcAft>
              <a:buClr>
                <a:prstClr val="black"/>
              </a:buClr>
              <a:buSzPts val="2800"/>
              <a:buFontTx/>
              <a:buNone/>
              <a:tabLst/>
              <a:defRPr/>
            </a:pPr>
            <a:r>
              <a:rPr kumimoji="0" lang="en-IN"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STATISTICAL METHODS FOR AI</a:t>
            </a:r>
            <a:endParaRPr kumimoji="0" sz="2133"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90000"/>
              </a:lnSpc>
              <a:spcBef>
                <a:spcPts val="1307"/>
              </a:spcBef>
              <a:spcAft>
                <a:spcPts val="0"/>
              </a:spcAft>
              <a:buClr>
                <a:prstClr val="black"/>
              </a:buClr>
              <a:buSzPts val="2800"/>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24CST-295</a:t>
            </a:r>
            <a:r>
              <a:rPr kumimoji="0" lang="en-US" sz="3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Arial"/>
              </a:rPr>
              <a:t>)</a:t>
            </a:r>
            <a:endParaRPr kumimoji="0" sz="2133"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1493"/>
              </a:spcBef>
              <a:spcAft>
                <a:spcPts val="0"/>
              </a:spcAft>
              <a:buClrTx/>
              <a:buSzPts val="3200"/>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Unit No.  1                    Chapter No.  1                   Lecture No.1.1.</a:t>
            </a:r>
            <a:r>
              <a:rPr lang="en-US" sz="2400" b="1" dirty="0">
                <a:solidFill>
                  <a:prstClr val="black"/>
                </a:solidFill>
                <a:latin typeface="Calibri" panose="020F0502020204030204" pitchFamily="34" charset="0"/>
                <a:ea typeface="Calibri" panose="020F0502020204030204" pitchFamily="34" charset="0"/>
                <a:cs typeface="Calibri" panose="020F0502020204030204" pitchFamily="34" charset="0"/>
              </a:rPr>
              <a:t>3</a:t>
            </a:r>
            <a:endPar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lvl="0">
              <a:spcBef>
                <a:spcPts val="1493"/>
              </a:spcBef>
              <a:buSzPts val="3200"/>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Topic : </a:t>
            </a:r>
            <a:r>
              <a:rPr lang="en-IN" sz="2400" b="1" dirty="0"/>
              <a:t>Population and Sample, Data Types</a:t>
            </a:r>
            <a:endParaRPr kumimoji="0" lang="en-US" sz="24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1493"/>
              </a:spcBef>
              <a:spcAft>
                <a:spcPts val="0"/>
              </a:spcAft>
              <a:buClrTx/>
              <a:buSzPts val="3200"/>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Faculty Name and </a:t>
            </a:r>
            <a:r>
              <a:rPr kumimoji="0" lang="en-US" sz="2400" b="1"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E_Code</a:t>
            </a:r>
            <a:r>
              <a:rPr kumimoji="0" lang="en-US"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Dr Neetu(E17077)             Designation: Assistant Professor</a:t>
            </a:r>
            <a:endParaRPr kumimoji="0" lang="en-US" sz="4267" b="1" i="0" u="none" strike="noStrike" kern="1200" cap="none" spc="0" normalizeH="0" baseline="0" noProof="0" dirty="0">
              <a:ln>
                <a:noFill/>
              </a:ln>
              <a:solidFill>
                <a:srgbClr val="E7E6E6"/>
              </a:solidFill>
              <a:effectLst/>
              <a:uLnTx/>
              <a:uFillTx/>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7046401" y="0"/>
            <a:ext cx="5145599" cy="78989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white">
                    <a:lumMod val="65000"/>
                  </a:prstClr>
                </a:solidFill>
                <a:effectLst/>
                <a:uLnTx/>
                <a:uFillTx/>
                <a:latin typeface="Calibri" panose="020F0502020204030204" pitchFamily="34" charset="0"/>
                <a:ea typeface="Calibri" panose="020F0502020204030204" pitchFamily="34" charset="0"/>
                <a:cs typeface="Calibri" panose="020F0502020204030204" pitchFamily="34" charset="0"/>
              </a:rPr>
              <a:t>Academic Session 2025-26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2133"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A91DC9-7965-FB48-9385-20B56B4847C1}"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10" name="Table 9"/>
          <p:cNvGraphicFramePr>
            <a:graphicFrameLocks noGrp="1"/>
          </p:cNvGraphicFramePr>
          <p:nvPr/>
        </p:nvGraphicFramePr>
        <p:xfrm>
          <a:off x="1602701" y="206459"/>
          <a:ext cx="9619654" cy="3331028"/>
        </p:xfrm>
        <a:graphic>
          <a:graphicData uri="http://schemas.openxmlformats.org/drawingml/2006/table">
            <a:tbl>
              <a:tblPr/>
              <a:tblGrid>
                <a:gridCol w="1053117">
                  <a:extLst>
                    <a:ext uri="{9D8B030D-6E8A-4147-A177-3AD203B41FA5}">
                      <a16:colId xmlns:a16="http://schemas.microsoft.com/office/drawing/2014/main" val="20000"/>
                    </a:ext>
                  </a:extLst>
                </a:gridCol>
                <a:gridCol w="8566537">
                  <a:extLst>
                    <a:ext uri="{9D8B030D-6E8A-4147-A177-3AD203B41FA5}">
                      <a16:colId xmlns:a16="http://schemas.microsoft.com/office/drawing/2014/main" val="20001"/>
                    </a:ext>
                  </a:extLst>
                </a:gridCol>
              </a:tblGrid>
              <a:tr h="518728">
                <a:tc>
                  <a:txBody>
                    <a:bodyPr/>
                    <a:lstStyle/>
                    <a:p>
                      <a:pPr algn="ctr">
                        <a:lnSpc>
                          <a:spcPct val="115000"/>
                        </a:lnSpc>
                        <a:spcAft>
                          <a:spcPts val="1000"/>
                        </a:spcAft>
                      </a:pPr>
                      <a:r>
                        <a:rPr lang="en-US" sz="1800" b="1" dirty="0">
                          <a:solidFill>
                            <a:schemeClr val="tx1"/>
                          </a:solidFill>
                          <a:latin typeface="Arial" pitchFamily="34" charset="0"/>
                          <a:ea typeface="Calibri"/>
                          <a:cs typeface="Arial" pitchFamily="34" charset="0"/>
                        </a:rPr>
                        <a:t>Chapter</a:t>
                      </a:r>
                      <a:endParaRPr lang="en-IN" sz="1800" b="1" dirty="0">
                        <a:solidFill>
                          <a:schemeClr val="tx1"/>
                        </a:solidFill>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lnSpc>
                          <a:spcPct val="115000"/>
                        </a:lnSpc>
                        <a:spcAft>
                          <a:spcPts val="1000"/>
                        </a:spcAft>
                      </a:pPr>
                      <a:r>
                        <a:rPr lang="en-US" sz="1800" b="1" dirty="0">
                          <a:solidFill>
                            <a:schemeClr val="tx1"/>
                          </a:solidFill>
                          <a:latin typeface="Arial" pitchFamily="34" charset="0"/>
                          <a:ea typeface="Times New Roman"/>
                          <a:cs typeface="Arial" pitchFamily="34" charset="0"/>
                        </a:rPr>
                        <a:t>Course Objectives</a:t>
                      </a:r>
                      <a:endParaRPr lang="en-IN" sz="1800" dirty="0">
                        <a:solidFill>
                          <a:schemeClr val="tx1"/>
                        </a:solidFill>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812300">
                <a:tc>
                  <a:txBody>
                    <a:bodyPr/>
                    <a:lstStyle/>
                    <a:p>
                      <a:pPr marL="342900" lvl="0" indent="-342900" algn="ctr">
                        <a:lnSpc>
                          <a:spcPct val="150000"/>
                        </a:lnSpc>
                        <a:spcAft>
                          <a:spcPts val="0"/>
                        </a:spcAft>
                        <a:buFont typeface="Arial"/>
                        <a:buNone/>
                      </a:pPr>
                      <a:r>
                        <a:rPr lang="en-US" sz="1800" baseline="0" dirty="0">
                          <a:latin typeface="Arial" pitchFamily="34" charset="0"/>
                          <a:ea typeface="Noto Sans Symbols"/>
                          <a:cs typeface="Arial" pitchFamily="34" charset="0"/>
                        </a:rPr>
                        <a:t> 1</a:t>
                      </a:r>
                      <a:endParaRPr lang="en-IN" sz="1800" dirty="0">
                        <a:latin typeface="Arial" pitchFamily="34" charset="0"/>
                        <a:ea typeface="Noto Sans Symbols"/>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enable students to</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develop a solid understanding of foundational statistical concepts and techniques relevant to artificial intelligence applications. </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impart analytical ability in solving mathematical problems as applied to the respective branches of Engineering.</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enable students to gain proficiency in applying statistical methodologies, including regression, classification, clustering, time series analysis, and experimental design, to analyze and model data in AI contexts.</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To prepare students for real-world AI projects and research endeavors by providing them with a solid foundation in statistical methods, enabling them to contribute effectively to the advancement of AI technologies.</a:t>
                      </a:r>
                      <a:endParaRPr lang="en-IN" sz="28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nvGraphicFramePr>
        <p:xfrm>
          <a:off x="1622323" y="3537487"/>
          <a:ext cx="9600032" cy="1730830"/>
        </p:xfrm>
        <a:graphic>
          <a:graphicData uri="http://schemas.openxmlformats.org/drawingml/2006/table">
            <a:tbl>
              <a:tblPr/>
              <a:tblGrid>
                <a:gridCol w="1022554">
                  <a:extLst>
                    <a:ext uri="{9D8B030D-6E8A-4147-A177-3AD203B41FA5}">
                      <a16:colId xmlns:a16="http://schemas.microsoft.com/office/drawing/2014/main" val="20000"/>
                    </a:ext>
                  </a:extLst>
                </a:gridCol>
                <a:gridCol w="8577478">
                  <a:extLst>
                    <a:ext uri="{9D8B030D-6E8A-4147-A177-3AD203B41FA5}">
                      <a16:colId xmlns:a16="http://schemas.microsoft.com/office/drawing/2014/main" val="20001"/>
                    </a:ext>
                  </a:extLst>
                </a:gridCol>
              </a:tblGrid>
              <a:tr h="300600">
                <a:tc>
                  <a:txBody>
                    <a:bodyPr/>
                    <a:lstStyle/>
                    <a:p>
                      <a:pPr algn="ctr">
                        <a:lnSpc>
                          <a:spcPct val="115000"/>
                        </a:lnSpc>
                        <a:spcAft>
                          <a:spcPts val="1000"/>
                        </a:spcAft>
                      </a:pPr>
                      <a:r>
                        <a:rPr lang="en-US" sz="1800" b="1" dirty="0">
                          <a:latin typeface="Arial" pitchFamily="34" charset="0"/>
                          <a:ea typeface="Calibri"/>
                          <a:cs typeface="Arial" pitchFamily="34" charset="0"/>
                        </a:rPr>
                        <a:t>Chapter</a:t>
                      </a:r>
                      <a:endParaRPr lang="en-IN" sz="1800" dirty="0">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a:lnSpc>
                          <a:spcPct val="115000"/>
                        </a:lnSpc>
                        <a:spcAft>
                          <a:spcPts val="1000"/>
                        </a:spcAft>
                      </a:pPr>
                      <a:r>
                        <a:rPr lang="en-US" sz="1800" b="1" dirty="0">
                          <a:latin typeface="Arial" pitchFamily="34" charset="0"/>
                          <a:ea typeface="Times New Roman"/>
                          <a:cs typeface="Arial" pitchFamily="34" charset="0"/>
                        </a:rPr>
                        <a:t>Course Outcomes</a:t>
                      </a:r>
                      <a:endParaRPr lang="en-IN" sz="1800" dirty="0">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430230">
                <a:tc>
                  <a:txBody>
                    <a:bodyPr/>
                    <a:lstStyle/>
                    <a:p>
                      <a:pPr marL="342265" indent="-254000" algn="ctr">
                        <a:lnSpc>
                          <a:spcPct val="115000"/>
                        </a:lnSpc>
                        <a:spcAft>
                          <a:spcPts val="1000"/>
                        </a:spcAft>
                      </a:pPr>
                      <a:r>
                        <a:rPr lang="en-US" sz="1800">
                          <a:solidFill>
                            <a:srgbClr val="000000"/>
                          </a:solidFill>
                          <a:latin typeface="Arial" pitchFamily="34" charset="0"/>
                          <a:ea typeface="Calibri"/>
                          <a:cs typeface="Arial" pitchFamily="34" charset="0"/>
                        </a:rPr>
                        <a:t>1</a:t>
                      </a:r>
                      <a:endParaRPr lang="en-IN" sz="1800" dirty="0">
                        <a:latin typeface="Arial" pitchFamily="34" charset="0"/>
                        <a:ea typeface="Calibri"/>
                        <a:cs typeface="Arial" pitchFamily="34" charset="0"/>
                      </a:endParaRPr>
                    </a:p>
                  </a:txBody>
                  <a:tcPr marL="66866" marR="6686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IN" sz="1350" b="0" i="0" u="none" strike="noStrike" kern="1200" baseline="0" dirty="0">
                        <a:solidFill>
                          <a:schemeClr val="tx1"/>
                        </a:solidFill>
                        <a:latin typeface="+mn-lt"/>
                        <a:ea typeface="+mn-ea"/>
                        <a:cs typeface="+mn-cs"/>
                      </a:endParaRPr>
                    </a:p>
                    <a:p>
                      <a:pPr algn="just"/>
                      <a:r>
                        <a:rPr lang="en-US" sz="1800" kern="1200" dirty="0">
                          <a:solidFill>
                            <a:schemeClr val="tx1"/>
                          </a:solidFill>
                          <a:effectLst/>
                          <a:latin typeface="+mn-lt"/>
                          <a:ea typeface="+mn-ea"/>
                          <a:cs typeface="+mn-cs"/>
                        </a:rPr>
                        <a:t>Student will be able to </a:t>
                      </a:r>
                    </a:p>
                    <a:p>
                      <a:pPr algn="just"/>
                      <a:endParaRPr lang="en-US" sz="1600" b="0" i="0" u="none" strike="noStrike" kern="1200" baseline="0" dirty="0">
                        <a:solidFill>
                          <a:schemeClr val="tx1"/>
                        </a:solidFill>
                        <a:latin typeface="+mn-lt"/>
                        <a:ea typeface="+mn-ea"/>
                        <a:cs typeface="+mn-cs"/>
                      </a:endParaRPr>
                    </a:p>
                    <a:p>
                      <a:pPr algn="just"/>
                      <a:r>
                        <a:rPr lang="en-US" sz="1800" kern="1200" dirty="0">
                          <a:solidFill>
                            <a:schemeClr val="tx1"/>
                          </a:solidFill>
                          <a:effectLst/>
                          <a:latin typeface="+mn-lt"/>
                          <a:ea typeface="+mn-ea"/>
                          <a:cs typeface="+mn-cs"/>
                        </a:rPr>
                        <a:t>Remember the foundational concepts of statistics, probability theory, regression methods, and estimation principles essential for AI and data-driven problem-solving.</a:t>
                      </a:r>
                      <a:endParaRPr lang="en-US" sz="1350" b="0" i="0" u="none" strike="noStrike" kern="1200" baseline="0" dirty="0">
                        <a:solidFill>
                          <a:schemeClr val="tx1"/>
                        </a:solidFill>
                        <a:latin typeface="+mn-lt"/>
                        <a:ea typeface="+mn-ea"/>
                        <a:cs typeface="+mn-cs"/>
                      </a:endParaRPr>
                    </a:p>
                  </a:txBody>
                  <a:tcPr marL="66866" marR="6686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a:extLst>
              <a:ext uri="{FF2B5EF4-FFF2-40B4-BE49-F238E27FC236}">
                <a16:creationId xmlns:a16="http://schemas.microsoft.com/office/drawing/2014/main" id="{42AC45DC-216D-F305-7B32-EEBAE20C2B16}"/>
              </a:ext>
            </a:extLst>
          </p:cNvPr>
          <p:cNvPicPr>
            <a:picLocks noChangeAspect="1"/>
          </p:cNvPicPr>
          <p:nvPr/>
        </p:nvPicPr>
        <p:blipFill>
          <a:blip r:embed="rId2"/>
          <a:stretch>
            <a:fillRect/>
          </a:stretch>
        </p:blipFill>
        <p:spPr>
          <a:xfrm>
            <a:off x="231048" y="1292204"/>
            <a:ext cx="11715921" cy="3830402"/>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Title 5"/>
          <p:cNvSpPr>
            <a:spLocks noGrp="1"/>
          </p:cNvSpPr>
          <p:nvPr>
            <p:ph type="title"/>
          </p:nvPr>
        </p:nvSpPr>
        <p:spPr/>
        <p:txBody>
          <a:bodyPr>
            <a:normAutofit/>
          </a:bodyPr>
          <a:lstStyle/>
          <a:p>
            <a:r>
              <a:rPr lang="en-US" sz="3200" b="1" dirty="0">
                <a:latin typeface="Times New Roman" pitchFamily="18" charset="0"/>
                <a:cs typeface="Times New Roman" pitchFamily="18" charset="0"/>
              </a:rPr>
              <a:t>Contents</a:t>
            </a:r>
            <a:endParaRPr lang="en-IN" sz="3200" b="1" dirty="0">
              <a:latin typeface="Times New Roman" pitchFamily="18" charset="0"/>
              <a:cs typeface="Times New Roman" pitchFamily="18" charset="0"/>
            </a:endParaRPr>
          </a:p>
        </p:txBody>
      </p:sp>
      <p:sp>
        <p:nvSpPr>
          <p:cNvPr id="7" name="Content Placeholder 6"/>
          <p:cNvSpPr>
            <a:spLocks noGrp="1"/>
          </p:cNvSpPr>
          <p:nvPr>
            <p:ph idx="1"/>
          </p:nvPr>
        </p:nvSpPr>
        <p:spPr>
          <a:xfrm>
            <a:off x="969645" y="1847852"/>
            <a:ext cx="10252710" cy="4351338"/>
          </a:xfrm>
        </p:spPr>
        <p:txBody>
          <a:bodyPr>
            <a:normAutofit/>
          </a:bodyPr>
          <a:lstStyle/>
          <a:p>
            <a:pPr marL="457200" lvl="1" indent="0">
              <a:buNone/>
            </a:pPr>
            <a:endParaRPr lang="en-US" sz="2800" b="1" dirty="0">
              <a:solidFill>
                <a:srgbClr val="000000"/>
              </a:solidFill>
              <a:latin typeface="Times New Roman" pitchFamily="18" charset="0"/>
              <a:cs typeface="Times New Roman" pitchFamily="18" charset="0"/>
            </a:endParaRPr>
          </a:p>
          <a:p>
            <a:pPr lvl="1"/>
            <a:r>
              <a:rPr lang="en-IN" sz="2800" dirty="0"/>
              <a:t>Population and Sample</a:t>
            </a:r>
          </a:p>
          <a:p>
            <a:pPr lvl="1"/>
            <a:r>
              <a:rPr lang="en-IN" sz="2800" dirty="0"/>
              <a:t>Population Parameter</a:t>
            </a:r>
          </a:p>
          <a:p>
            <a:pPr lvl="1"/>
            <a:r>
              <a:rPr lang="en-IN" sz="2800" dirty="0"/>
              <a:t>Sample Statistic</a:t>
            </a:r>
          </a:p>
          <a:p>
            <a:pPr lvl="1"/>
            <a:r>
              <a:rPr lang="en-IN" sz="2800" dirty="0"/>
              <a:t>Data Types in Statistics</a:t>
            </a:r>
          </a:p>
          <a:p>
            <a:pPr marL="457200" lvl="1" indent="0">
              <a:buNone/>
            </a:pPr>
            <a:endParaRPr lang="en-US" sz="2800" b="1" dirty="0">
              <a:solidFill>
                <a:srgbClr val="000000"/>
              </a:solidFill>
              <a:latin typeface="Times New Roman" panose="02020603050405020304"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A91DC9-7965-FB48-9385-20B56B4847C1}"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32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B77A7FB-8C4A-4909-A782-5009DF744569}"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5</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9" name="Content Placeholder 2"/>
          <p:cNvSpPr txBox="1">
            <a:spLocks/>
          </p:cNvSpPr>
          <p:nvPr/>
        </p:nvSpPr>
        <p:spPr>
          <a:xfrm>
            <a:off x="990600" y="1399309"/>
            <a:ext cx="10515600" cy="4777654"/>
          </a:xfrm>
          <a:prstGeom prst="rect">
            <a:avLst/>
          </a:prstGeom>
        </p:spPr>
        <p:txBody>
          <a:bodyPr vert="horz" lIns="91440" tIns="45720" rIns="91440" bIns="45720" rtlCol="0">
            <a:normAutofit/>
          </a:bodyPr>
          <a:lstStyle/>
          <a:p>
            <a:pPr marL="569913" marR="0" lvl="1" indent="-569913"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80000"/>
              </a:lnSpc>
              <a:spcBef>
                <a:spcPts val="1000"/>
              </a:spcBef>
              <a:spcAft>
                <a:spcPts val="0"/>
              </a:spcAft>
              <a:buClr>
                <a:prstClr val="black"/>
              </a:buClr>
              <a:buSzTx/>
              <a:buFontTx/>
              <a:buNone/>
              <a:tabLst/>
              <a:defRPr/>
            </a:pPr>
            <a:r>
              <a:rPr kumimoji="0" lang="en-IN"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2" name="Picture 1">
            <a:extLst>
              <a:ext uri="{FF2B5EF4-FFF2-40B4-BE49-F238E27FC236}">
                <a16:creationId xmlns:a16="http://schemas.microsoft.com/office/drawing/2014/main" id="{9EED8A7F-21A6-42B7-9466-E4AF024073CC}"/>
              </a:ext>
            </a:extLst>
          </p:cNvPr>
          <p:cNvPicPr>
            <a:picLocks noChangeAspect="1"/>
          </p:cNvPicPr>
          <p:nvPr/>
        </p:nvPicPr>
        <p:blipFill>
          <a:blip r:embed="rId3"/>
          <a:stretch>
            <a:fillRect/>
          </a:stretch>
        </p:blipFill>
        <p:spPr>
          <a:xfrm>
            <a:off x="822285" y="136522"/>
            <a:ext cx="8573024" cy="6584954"/>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A679D002-7B66-27E4-36C0-CD9B34789A9D}"/>
              </a:ext>
            </a:extLst>
          </p:cNvPr>
          <p:cNvPicPr>
            <a:picLocks noChangeAspect="1"/>
          </p:cNvPicPr>
          <p:nvPr/>
        </p:nvPicPr>
        <p:blipFill>
          <a:blip r:embed="rId2"/>
          <a:stretch>
            <a:fillRect/>
          </a:stretch>
        </p:blipFill>
        <p:spPr>
          <a:xfrm>
            <a:off x="901399" y="1302969"/>
            <a:ext cx="11087558" cy="1695870"/>
          </a:xfrm>
          <a:prstGeom prst="rect">
            <a:avLst/>
          </a:prstGeom>
        </p:spPr>
      </p:pic>
      <p:pic>
        <p:nvPicPr>
          <p:cNvPr id="4" name="Picture 3">
            <a:extLst>
              <a:ext uri="{FF2B5EF4-FFF2-40B4-BE49-F238E27FC236}">
                <a16:creationId xmlns:a16="http://schemas.microsoft.com/office/drawing/2014/main" id="{982EE83A-3C00-5EA3-B0CB-FDA190DDA5FB}"/>
              </a:ext>
            </a:extLst>
          </p:cNvPr>
          <p:cNvPicPr>
            <a:picLocks noChangeAspect="1"/>
          </p:cNvPicPr>
          <p:nvPr/>
        </p:nvPicPr>
        <p:blipFill>
          <a:blip r:embed="rId3"/>
          <a:stretch>
            <a:fillRect/>
          </a:stretch>
        </p:blipFill>
        <p:spPr>
          <a:xfrm>
            <a:off x="980057" y="3087329"/>
            <a:ext cx="5933536" cy="3421626"/>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371" name="Rectangle 2"/>
          <p:cNvSpPr>
            <a:spLocks noGrp="1" noChangeArrowheads="1"/>
          </p:cNvSpPr>
          <p:nvPr>
            <p:ph type="title"/>
          </p:nvPr>
        </p:nvSpPr>
        <p:spPr>
          <a:xfrm>
            <a:off x="950155" y="431409"/>
            <a:ext cx="10698480" cy="1143000"/>
          </a:xfrm>
        </p:spPr>
        <p:txBody>
          <a:bodyPr>
            <a:normAutofit/>
          </a:bodyPr>
          <a:lstStyle/>
          <a:p>
            <a:pPr algn="ctr"/>
            <a:r>
              <a:rPr lang="en-IN" sz="3200" b="1" dirty="0">
                <a:latin typeface="Times New Roman"/>
                <a:ea typeface="Times New Roman"/>
              </a:rPr>
              <a:t> </a:t>
            </a:r>
            <a:endParaRPr lang="en-US" sz="3200" dirty="0">
              <a:latin typeface="Times New Roman" pitchFamily="18" charset="0"/>
              <a:cs typeface="Times New Roman" pitchFamily="18" charset="0"/>
            </a:endParaRPr>
          </a:p>
        </p:txBody>
      </p:sp>
      <p:sp>
        <p:nvSpPr>
          <p:cNvPr id="58372" name="Rectangle 3"/>
          <p:cNvSpPr>
            <a:spLocks noGrp="1" noChangeArrowheads="1"/>
          </p:cNvSpPr>
          <p:nvPr>
            <p:ph idx="1"/>
          </p:nvPr>
        </p:nvSpPr>
        <p:spPr>
          <a:xfrm>
            <a:off x="869093" y="1594022"/>
            <a:ext cx="10509325" cy="4793566"/>
          </a:xfrm>
        </p:spPr>
        <p:txBody>
          <a:bodyPr>
            <a:normAutofit/>
          </a:bodyPr>
          <a:lstStyle/>
          <a:p>
            <a:pPr marL="0" indent="0">
              <a:buNone/>
            </a:pPr>
            <a:r>
              <a:rPr lang="en-US" dirty="0">
                <a:latin typeface="Times New Roman" pitchFamily="18" charset="0"/>
                <a:cs typeface="Times New Roman" pitchFamily="18" charset="0"/>
              </a:rPr>
              <a:t>  </a:t>
            </a:r>
          </a:p>
        </p:txBody>
      </p:sp>
      <p:sp>
        <p:nvSpPr>
          <p:cNvPr id="5837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F870052-B5DC-4471-86EB-FCE6B5DF9748}"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7</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3" name="Picture 2">
            <a:extLst>
              <a:ext uri="{FF2B5EF4-FFF2-40B4-BE49-F238E27FC236}">
                <a16:creationId xmlns:a16="http://schemas.microsoft.com/office/drawing/2014/main" id="{91EBBEB2-937F-5023-8C01-6D3C72B958A5}"/>
              </a:ext>
            </a:extLst>
          </p:cNvPr>
          <p:cNvPicPr>
            <a:picLocks noChangeAspect="1"/>
          </p:cNvPicPr>
          <p:nvPr/>
        </p:nvPicPr>
        <p:blipFill>
          <a:blip r:embed="rId3"/>
          <a:stretch>
            <a:fillRect/>
          </a:stretch>
        </p:blipFill>
        <p:spPr>
          <a:xfrm>
            <a:off x="439657" y="1347279"/>
            <a:ext cx="11592232" cy="3716333"/>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a:extLst>
              <a:ext uri="{FF2B5EF4-FFF2-40B4-BE49-F238E27FC236}">
                <a16:creationId xmlns:a16="http://schemas.microsoft.com/office/drawing/2014/main" id="{117BF154-7BCA-9055-9E45-11CCF52D7D62}"/>
              </a:ext>
            </a:extLst>
          </p:cNvPr>
          <p:cNvPicPr>
            <a:picLocks noChangeAspect="1"/>
          </p:cNvPicPr>
          <p:nvPr/>
        </p:nvPicPr>
        <p:blipFill>
          <a:blip r:embed="rId2"/>
          <a:stretch>
            <a:fillRect/>
          </a:stretch>
        </p:blipFill>
        <p:spPr>
          <a:xfrm>
            <a:off x="785997" y="1241017"/>
            <a:ext cx="9926059" cy="1767654"/>
          </a:xfrm>
          <a:prstGeom prst="rect">
            <a:avLst/>
          </a:prstGeom>
        </p:spPr>
      </p:pic>
      <p:pic>
        <p:nvPicPr>
          <p:cNvPr id="4" name="Picture 3">
            <a:extLst>
              <a:ext uri="{FF2B5EF4-FFF2-40B4-BE49-F238E27FC236}">
                <a16:creationId xmlns:a16="http://schemas.microsoft.com/office/drawing/2014/main" id="{1362FF07-BB25-574A-65D4-630B7F82E43C}"/>
              </a:ext>
            </a:extLst>
          </p:cNvPr>
          <p:cNvPicPr>
            <a:picLocks noChangeAspect="1"/>
          </p:cNvPicPr>
          <p:nvPr/>
        </p:nvPicPr>
        <p:blipFill>
          <a:blip r:embed="rId3"/>
          <a:stretch>
            <a:fillRect/>
          </a:stretch>
        </p:blipFill>
        <p:spPr>
          <a:xfrm>
            <a:off x="1048500" y="3008671"/>
            <a:ext cx="5047500" cy="3155894"/>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74" name="Rectangle 8"/>
          <p:cNvSpPr>
            <a:spLocks noChangeArrowheads="1"/>
          </p:cNvSpPr>
          <p:nvPr/>
        </p:nvSpPr>
        <p:spPr bwMode="auto">
          <a:xfrm>
            <a:off x="1043940" y="609602"/>
            <a:ext cx="9113520" cy="106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a:ea typeface="Times New Roman"/>
                <a:cs typeface="Times New Roman"/>
              </a:rPr>
              <a:t>  </a:t>
            </a:r>
            <a:endParaRPr kumimoji="0" lang="en-IN" sz="3200" b="0" i="0" u="none" strike="noStrike" kern="1200" cap="none" spc="0" normalizeH="0" baseline="0" noProof="0" dirty="0">
              <a:ln>
                <a:noFill/>
              </a:ln>
              <a:solidFill>
                <a:prstClr val="black"/>
              </a:solidFill>
              <a:effectLst/>
              <a:uLnTx/>
              <a:uFillTx/>
              <a:latin typeface="Calibri"/>
              <a:ea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ko-KR" sz="1800" b="0" i="0" u="none" strike="noStrike" kern="1200" cap="none" spc="0" normalizeH="0" baseline="0" noProof="0" dirty="0">
              <a:ln>
                <a:noFill/>
              </a:ln>
              <a:solidFill>
                <a:prstClr val="black"/>
              </a:solidFill>
              <a:effectLst/>
              <a:uLnTx/>
              <a:uFillTx/>
              <a:latin typeface="Calibri"/>
              <a:ea typeface="맑은 고딕" panose="020B0503020000020004" pitchFamily="34" charset="-127"/>
              <a:cs typeface="Times New Roman" pitchFamily="18" charset="0"/>
            </a:endParaRPr>
          </a:p>
        </p:txBody>
      </p:sp>
      <p:pic>
        <p:nvPicPr>
          <p:cNvPr id="3" name="Picture 2">
            <a:extLst>
              <a:ext uri="{FF2B5EF4-FFF2-40B4-BE49-F238E27FC236}">
                <a16:creationId xmlns:a16="http://schemas.microsoft.com/office/drawing/2014/main" id="{C7C9DA06-BDAC-9EC0-5B9D-896ABF4117EE}"/>
              </a:ext>
            </a:extLst>
          </p:cNvPr>
          <p:cNvPicPr>
            <a:picLocks noChangeAspect="1"/>
          </p:cNvPicPr>
          <p:nvPr/>
        </p:nvPicPr>
        <p:blipFill>
          <a:blip r:embed="rId2"/>
          <a:stretch>
            <a:fillRect/>
          </a:stretch>
        </p:blipFill>
        <p:spPr>
          <a:xfrm>
            <a:off x="143702" y="1310296"/>
            <a:ext cx="11896226" cy="3448517"/>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32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B77A7FB-8C4A-4909-A782-5009DF744569}"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10</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9" name="Content Placeholder 2"/>
          <p:cNvSpPr txBox="1">
            <a:spLocks/>
          </p:cNvSpPr>
          <p:nvPr/>
        </p:nvSpPr>
        <p:spPr>
          <a:xfrm>
            <a:off x="990600" y="1399309"/>
            <a:ext cx="10515600" cy="4777654"/>
          </a:xfrm>
          <a:prstGeom prst="rect">
            <a:avLst/>
          </a:prstGeom>
        </p:spPr>
        <p:txBody>
          <a:bodyPr vert="horz" lIns="91440" tIns="45720" rIns="91440" bIns="45720" rtlCol="0">
            <a:normAutofit/>
          </a:bodyPr>
          <a:lstStyle/>
          <a:p>
            <a:pPr marL="569913" marR="0" lvl="1" indent="-569913" algn="l" defTabSz="914400" rtl="0" eaLnBrk="1" fontAlgn="auto" latinLnBrk="0" hangingPunct="1">
              <a:lnSpc>
                <a:spcPct val="90000"/>
              </a:lnSpc>
              <a:spcBef>
                <a:spcPts val="1000"/>
              </a:spcBef>
              <a:spcAft>
                <a:spcPts val="0"/>
              </a:spcAft>
              <a:buClr>
                <a:prstClr val="black"/>
              </a:buClr>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80000"/>
              </a:lnSpc>
              <a:spcBef>
                <a:spcPts val="1000"/>
              </a:spcBef>
              <a:spcAft>
                <a:spcPts val="0"/>
              </a:spcAft>
              <a:buClr>
                <a:prstClr val="black"/>
              </a:buClr>
              <a:buSzTx/>
              <a:buFontTx/>
              <a:buNone/>
              <a:tabLst/>
              <a:defRPr/>
            </a:pPr>
            <a:r>
              <a:rPr kumimoji="0" lang="en-IN" sz="1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3" name="Picture 2">
            <a:extLst>
              <a:ext uri="{FF2B5EF4-FFF2-40B4-BE49-F238E27FC236}">
                <a16:creationId xmlns:a16="http://schemas.microsoft.com/office/drawing/2014/main" id="{DEAA7B2E-DE0D-1F5E-1D68-D13D81791394}"/>
              </a:ext>
            </a:extLst>
          </p:cNvPr>
          <p:cNvPicPr>
            <a:picLocks noChangeAspect="1"/>
          </p:cNvPicPr>
          <p:nvPr/>
        </p:nvPicPr>
        <p:blipFill>
          <a:blip r:embed="rId3"/>
          <a:stretch>
            <a:fillRect/>
          </a:stretch>
        </p:blipFill>
        <p:spPr>
          <a:xfrm>
            <a:off x="202696" y="1219919"/>
            <a:ext cx="11741422" cy="2821139"/>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B6975C1A-7AE2-3516-66CD-66502EED5BAE}"/>
              </a:ext>
            </a:extLst>
          </p:cNvPr>
          <p:cNvPicPr>
            <a:picLocks noChangeAspect="1"/>
          </p:cNvPicPr>
          <p:nvPr/>
        </p:nvPicPr>
        <p:blipFill>
          <a:blip r:embed="rId2"/>
          <a:stretch>
            <a:fillRect/>
          </a:stretch>
        </p:blipFill>
        <p:spPr>
          <a:xfrm>
            <a:off x="191264" y="1180319"/>
            <a:ext cx="11249452" cy="4768197"/>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371" name="Rectangle 2"/>
          <p:cNvSpPr>
            <a:spLocks noGrp="1" noChangeArrowheads="1"/>
          </p:cNvSpPr>
          <p:nvPr>
            <p:ph type="title"/>
          </p:nvPr>
        </p:nvSpPr>
        <p:spPr>
          <a:xfrm>
            <a:off x="950155" y="431409"/>
            <a:ext cx="10698480" cy="1143000"/>
          </a:xfrm>
        </p:spPr>
        <p:txBody>
          <a:bodyPr>
            <a:normAutofit/>
          </a:bodyPr>
          <a:lstStyle/>
          <a:p>
            <a:pPr algn="ctr"/>
            <a:r>
              <a:rPr lang="en-IN" sz="3200" b="1" dirty="0">
                <a:latin typeface="Times New Roman"/>
                <a:ea typeface="Times New Roman"/>
              </a:rPr>
              <a:t> </a:t>
            </a:r>
            <a:endParaRPr lang="en-US" sz="3200" dirty="0">
              <a:latin typeface="Times New Roman" pitchFamily="18" charset="0"/>
              <a:cs typeface="Times New Roman" pitchFamily="18" charset="0"/>
            </a:endParaRPr>
          </a:p>
        </p:txBody>
      </p:sp>
      <p:sp>
        <p:nvSpPr>
          <p:cNvPr id="58372" name="Rectangle 3"/>
          <p:cNvSpPr>
            <a:spLocks noGrp="1" noChangeArrowheads="1"/>
          </p:cNvSpPr>
          <p:nvPr>
            <p:ph idx="1"/>
          </p:nvPr>
        </p:nvSpPr>
        <p:spPr>
          <a:xfrm>
            <a:off x="869093" y="1594022"/>
            <a:ext cx="10509325" cy="4793566"/>
          </a:xfrm>
        </p:spPr>
        <p:txBody>
          <a:bodyPr>
            <a:normAutofit/>
          </a:bodyPr>
          <a:lstStyle/>
          <a:p>
            <a:pPr marL="0" indent="0">
              <a:buNone/>
            </a:pPr>
            <a:r>
              <a:rPr lang="en-US" dirty="0">
                <a:latin typeface="Times New Roman" pitchFamily="18" charset="0"/>
                <a:cs typeface="Times New Roman" pitchFamily="18" charset="0"/>
              </a:rPr>
              <a:t>  </a:t>
            </a:r>
          </a:p>
        </p:txBody>
      </p:sp>
      <p:sp>
        <p:nvSpPr>
          <p:cNvPr id="5837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2F870052-B5DC-4471-86EB-FCE6B5DF9748}"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12</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3" name="Picture 2">
            <a:extLst>
              <a:ext uri="{FF2B5EF4-FFF2-40B4-BE49-F238E27FC236}">
                <a16:creationId xmlns:a16="http://schemas.microsoft.com/office/drawing/2014/main" id="{B3FF6666-9F92-CB36-2991-AE4C60B44C84}"/>
              </a:ext>
            </a:extLst>
          </p:cNvPr>
          <p:cNvPicPr>
            <a:picLocks noChangeAspect="1"/>
          </p:cNvPicPr>
          <p:nvPr/>
        </p:nvPicPr>
        <p:blipFill>
          <a:blip r:embed="rId3"/>
          <a:stretch>
            <a:fillRect/>
          </a:stretch>
        </p:blipFill>
        <p:spPr>
          <a:xfrm>
            <a:off x="219138" y="1260132"/>
            <a:ext cx="11287062" cy="3904536"/>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8165A46A-9445-77E7-739D-BBDC0663D0ED}"/>
              </a:ext>
            </a:extLst>
          </p:cNvPr>
          <p:cNvPicPr>
            <a:picLocks noChangeAspect="1"/>
          </p:cNvPicPr>
          <p:nvPr/>
        </p:nvPicPr>
        <p:blipFill>
          <a:blip r:embed="rId3"/>
          <a:stretch>
            <a:fillRect/>
          </a:stretch>
        </p:blipFill>
        <p:spPr>
          <a:xfrm>
            <a:off x="777390" y="223258"/>
            <a:ext cx="11032277" cy="5794083"/>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74" name="Rectangle 8"/>
          <p:cNvSpPr>
            <a:spLocks noChangeArrowheads="1"/>
          </p:cNvSpPr>
          <p:nvPr/>
        </p:nvSpPr>
        <p:spPr bwMode="auto">
          <a:xfrm>
            <a:off x="1043940" y="609602"/>
            <a:ext cx="9113520" cy="106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a:ea typeface="Times New Roman"/>
                <a:cs typeface="Times New Roman"/>
              </a:rPr>
              <a:t>  </a:t>
            </a:r>
            <a:endParaRPr kumimoji="0" lang="en-IN" sz="3200" b="0" i="0" u="none" strike="noStrike" kern="1200" cap="none" spc="0" normalizeH="0" baseline="0" noProof="0" dirty="0">
              <a:ln>
                <a:noFill/>
              </a:ln>
              <a:solidFill>
                <a:prstClr val="black"/>
              </a:solidFill>
              <a:effectLst/>
              <a:uLnTx/>
              <a:uFillTx/>
              <a:latin typeface="Calibri"/>
              <a:ea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ko-KR" sz="1800" b="0" i="0" u="none" strike="noStrike" kern="1200" cap="none" spc="0" normalizeH="0" baseline="0" noProof="0" dirty="0">
              <a:ln>
                <a:noFill/>
              </a:ln>
              <a:solidFill>
                <a:prstClr val="black"/>
              </a:solidFill>
              <a:effectLst/>
              <a:uLnTx/>
              <a:uFillTx/>
              <a:latin typeface="Calibri"/>
              <a:ea typeface="맑은 고딕" panose="020B0503020000020004" pitchFamily="34" charset="-127"/>
              <a:cs typeface="Times New Roman" pitchFamily="18" charset="0"/>
            </a:endParaRPr>
          </a:p>
        </p:txBody>
      </p:sp>
      <p:pic>
        <p:nvPicPr>
          <p:cNvPr id="3" name="Picture 2">
            <a:extLst>
              <a:ext uri="{FF2B5EF4-FFF2-40B4-BE49-F238E27FC236}">
                <a16:creationId xmlns:a16="http://schemas.microsoft.com/office/drawing/2014/main" id="{D2573FDB-A94B-3C79-2424-6C5E67513EEA}"/>
              </a:ext>
            </a:extLst>
          </p:cNvPr>
          <p:cNvPicPr>
            <a:picLocks noChangeAspect="1"/>
          </p:cNvPicPr>
          <p:nvPr/>
        </p:nvPicPr>
        <p:blipFill>
          <a:blip r:embed="rId2"/>
          <a:stretch>
            <a:fillRect/>
          </a:stretch>
        </p:blipFill>
        <p:spPr>
          <a:xfrm>
            <a:off x="733024" y="89891"/>
            <a:ext cx="10558229" cy="1424277"/>
          </a:xfrm>
          <a:prstGeom prst="rect">
            <a:avLst/>
          </a:prstGeom>
        </p:spPr>
      </p:pic>
      <p:pic>
        <p:nvPicPr>
          <p:cNvPr id="4" name="Picture 3">
            <a:extLst>
              <a:ext uri="{FF2B5EF4-FFF2-40B4-BE49-F238E27FC236}">
                <a16:creationId xmlns:a16="http://schemas.microsoft.com/office/drawing/2014/main" id="{E8D30623-954C-BE13-43F0-A3D9E18D5C6F}"/>
              </a:ext>
            </a:extLst>
          </p:cNvPr>
          <p:cNvPicPr>
            <a:picLocks noChangeAspect="1"/>
          </p:cNvPicPr>
          <p:nvPr/>
        </p:nvPicPr>
        <p:blipFill>
          <a:blip r:embed="rId3"/>
          <a:stretch>
            <a:fillRect/>
          </a:stretch>
        </p:blipFill>
        <p:spPr>
          <a:xfrm>
            <a:off x="852951" y="1514167"/>
            <a:ext cx="7259017" cy="5253942"/>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77E6A31E-8A78-B2AD-3F55-9BC9685A01FF}"/>
              </a:ext>
            </a:extLst>
          </p:cNvPr>
          <p:cNvPicPr>
            <a:picLocks noChangeAspect="1"/>
          </p:cNvPicPr>
          <p:nvPr/>
        </p:nvPicPr>
        <p:blipFill>
          <a:blip r:embed="rId2"/>
          <a:stretch>
            <a:fillRect/>
          </a:stretch>
        </p:blipFill>
        <p:spPr>
          <a:xfrm>
            <a:off x="126464" y="1305499"/>
            <a:ext cx="11965871" cy="3256669"/>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903B7326-39D9-5419-E52C-98768E91DC27}"/>
              </a:ext>
            </a:extLst>
          </p:cNvPr>
          <p:cNvPicPr>
            <a:picLocks noChangeAspect="1"/>
          </p:cNvPicPr>
          <p:nvPr/>
        </p:nvPicPr>
        <p:blipFill>
          <a:blip r:embed="rId2"/>
          <a:stretch>
            <a:fillRect/>
          </a:stretch>
        </p:blipFill>
        <p:spPr>
          <a:xfrm>
            <a:off x="162754" y="1366358"/>
            <a:ext cx="11680757" cy="276319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68A5A9C2-2C5D-59BD-74AD-E5EDC38FC669}"/>
              </a:ext>
            </a:extLst>
          </p:cNvPr>
          <p:cNvPicPr>
            <a:picLocks noChangeAspect="1"/>
          </p:cNvPicPr>
          <p:nvPr/>
        </p:nvPicPr>
        <p:blipFill>
          <a:blip r:embed="rId2"/>
          <a:stretch>
            <a:fillRect/>
          </a:stretch>
        </p:blipFill>
        <p:spPr>
          <a:xfrm>
            <a:off x="863801" y="205645"/>
            <a:ext cx="6347765" cy="2881684"/>
          </a:xfrm>
          <a:prstGeom prst="rect">
            <a:avLst/>
          </a:prstGeom>
        </p:spPr>
      </p:pic>
      <p:pic>
        <p:nvPicPr>
          <p:cNvPr id="4" name="Picture 3">
            <a:extLst>
              <a:ext uri="{FF2B5EF4-FFF2-40B4-BE49-F238E27FC236}">
                <a16:creationId xmlns:a16="http://schemas.microsoft.com/office/drawing/2014/main" id="{72CE06E4-52FE-9822-C176-E742C5CDA479}"/>
              </a:ext>
            </a:extLst>
          </p:cNvPr>
          <p:cNvPicPr>
            <a:picLocks noChangeAspect="1"/>
          </p:cNvPicPr>
          <p:nvPr/>
        </p:nvPicPr>
        <p:blipFill>
          <a:blip r:embed="rId3"/>
          <a:stretch>
            <a:fillRect/>
          </a:stretch>
        </p:blipFill>
        <p:spPr>
          <a:xfrm>
            <a:off x="1261924" y="3087329"/>
            <a:ext cx="7480239" cy="2045788"/>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6322"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EB77A7FB-8C4A-4909-A782-5009DF744569}" type="slidenum">
              <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ct val="0"/>
                </a:spcBef>
                <a:spcAft>
                  <a:spcPts val="0"/>
                </a:spcAft>
                <a:buClrTx/>
                <a:buSzTx/>
                <a:buFontTx/>
                <a:buNone/>
                <a:tabLst/>
                <a:defRPr/>
              </a:pPr>
              <a:t>18</a:t>
            </a:fld>
            <a:endParaRPr kumimoji="0" lang="en-US" sz="1400" b="0" i="0" u="none" strike="noStrike" kern="1200" cap="none" spc="0" normalizeH="0" baseline="0" noProof="0">
              <a:ln>
                <a:noFill/>
              </a:ln>
              <a:solidFill>
                <a:prstClr val="white"/>
              </a:solidFill>
              <a:effectLst/>
              <a:uLnTx/>
              <a:uFillTx/>
              <a:latin typeface="Times New Roman" pitchFamily="18" charset="0"/>
              <a:ea typeface="+mn-ea"/>
              <a:cs typeface="Times New Roman" pitchFamily="18" charset="0"/>
            </a:endParaRPr>
          </a:p>
        </p:txBody>
      </p:sp>
      <p:sp>
        <p:nvSpPr>
          <p:cNvPr id="10" name="Slide Number Placeholder 3"/>
          <p:cNvSpPr txBox="1">
            <a:spLocks/>
          </p:cNvSpPr>
          <p:nvPr/>
        </p:nvSpPr>
        <p:spPr>
          <a:xfrm>
            <a:off x="8763000" y="6356351"/>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Times New Roman" pitchFamily="18" charset="0"/>
              <a:ea typeface="+mn-ea"/>
              <a:cs typeface="Times New Roman" pitchFamily="18" charset="0"/>
            </a:endParaRPr>
          </a:p>
        </p:txBody>
      </p:sp>
      <p:sp>
        <p:nvSpPr>
          <p:cNvPr id="13" name="Rectangle 12"/>
          <p:cNvSpPr/>
          <p:nvPr/>
        </p:nvSpPr>
        <p:spPr>
          <a:xfrm>
            <a:off x="990600" y="1803401"/>
            <a:ext cx="10515600" cy="1200329"/>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342900" marR="0" lvl="0" indent="-342900"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pic>
        <p:nvPicPr>
          <p:cNvPr id="2" name="Picture 1">
            <a:extLst>
              <a:ext uri="{FF2B5EF4-FFF2-40B4-BE49-F238E27FC236}">
                <a16:creationId xmlns:a16="http://schemas.microsoft.com/office/drawing/2014/main" id="{B682E12C-5C67-D98A-EC2A-5E2C69A7D3D7}"/>
              </a:ext>
            </a:extLst>
          </p:cNvPr>
          <p:cNvPicPr>
            <a:picLocks noChangeAspect="1"/>
          </p:cNvPicPr>
          <p:nvPr/>
        </p:nvPicPr>
        <p:blipFill>
          <a:blip r:embed="rId3"/>
          <a:stretch>
            <a:fillRect/>
          </a:stretch>
        </p:blipFill>
        <p:spPr>
          <a:xfrm>
            <a:off x="417191" y="1236230"/>
            <a:ext cx="10936609" cy="438554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a:extLst>
              <a:ext uri="{FF2B5EF4-FFF2-40B4-BE49-F238E27FC236}">
                <a16:creationId xmlns:a16="http://schemas.microsoft.com/office/drawing/2014/main" id="{38268230-BB16-D316-11E1-AF53769A663E}"/>
              </a:ext>
            </a:extLst>
          </p:cNvPr>
          <p:cNvPicPr>
            <a:picLocks noChangeAspect="1"/>
          </p:cNvPicPr>
          <p:nvPr/>
        </p:nvPicPr>
        <p:blipFill>
          <a:blip r:embed="rId2"/>
          <a:stretch>
            <a:fillRect/>
          </a:stretch>
        </p:blipFill>
        <p:spPr>
          <a:xfrm>
            <a:off x="879523" y="478285"/>
            <a:ext cx="10861102" cy="5657044"/>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a:extLst>
              <a:ext uri="{FF2B5EF4-FFF2-40B4-BE49-F238E27FC236}">
                <a16:creationId xmlns:a16="http://schemas.microsoft.com/office/drawing/2014/main" id="{080C3791-787F-D30D-1E0D-CCE9402380CB}"/>
              </a:ext>
            </a:extLst>
          </p:cNvPr>
          <p:cNvPicPr>
            <a:picLocks noChangeAspect="1"/>
          </p:cNvPicPr>
          <p:nvPr/>
        </p:nvPicPr>
        <p:blipFill>
          <a:blip r:embed="rId2"/>
          <a:stretch>
            <a:fillRect/>
          </a:stretch>
        </p:blipFill>
        <p:spPr>
          <a:xfrm>
            <a:off x="854823" y="147664"/>
            <a:ext cx="9743132" cy="1887613"/>
          </a:xfrm>
          <a:prstGeom prst="rect">
            <a:avLst/>
          </a:prstGeom>
        </p:spPr>
      </p:pic>
      <p:pic>
        <p:nvPicPr>
          <p:cNvPr id="5" name="Picture 4">
            <a:extLst>
              <a:ext uri="{FF2B5EF4-FFF2-40B4-BE49-F238E27FC236}">
                <a16:creationId xmlns:a16="http://schemas.microsoft.com/office/drawing/2014/main" id="{14FC8533-04F3-8CE7-AE3E-EA65DB1D5E87}"/>
              </a:ext>
            </a:extLst>
          </p:cNvPr>
          <p:cNvPicPr>
            <a:picLocks noChangeAspect="1"/>
          </p:cNvPicPr>
          <p:nvPr/>
        </p:nvPicPr>
        <p:blipFill>
          <a:blip r:embed="rId3"/>
          <a:stretch>
            <a:fillRect/>
          </a:stretch>
        </p:blipFill>
        <p:spPr>
          <a:xfrm>
            <a:off x="1167669" y="2160373"/>
            <a:ext cx="4626510" cy="4171602"/>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a:extLst>
              <a:ext uri="{FF2B5EF4-FFF2-40B4-BE49-F238E27FC236}">
                <a16:creationId xmlns:a16="http://schemas.microsoft.com/office/drawing/2014/main" id="{D1D5A80B-B8FC-DBEB-56C3-9002EDA81744}"/>
              </a:ext>
            </a:extLst>
          </p:cNvPr>
          <p:cNvPicPr>
            <a:picLocks noChangeAspect="1"/>
          </p:cNvPicPr>
          <p:nvPr/>
        </p:nvPicPr>
        <p:blipFill>
          <a:blip r:embed="rId2"/>
          <a:stretch>
            <a:fillRect/>
          </a:stretch>
        </p:blipFill>
        <p:spPr>
          <a:xfrm>
            <a:off x="143703" y="1206537"/>
            <a:ext cx="11755674" cy="4368353"/>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a:extLst>
              <a:ext uri="{FF2B5EF4-FFF2-40B4-BE49-F238E27FC236}">
                <a16:creationId xmlns:a16="http://schemas.microsoft.com/office/drawing/2014/main" id="{8B356031-5369-8DF5-BD72-DEC2A639838E}"/>
              </a:ext>
            </a:extLst>
          </p:cNvPr>
          <p:cNvPicPr>
            <a:picLocks noChangeAspect="1"/>
          </p:cNvPicPr>
          <p:nvPr/>
        </p:nvPicPr>
        <p:blipFill>
          <a:blip r:embed="rId2"/>
          <a:stretch>
            <a:fillRect/>
          </a:stretch>
        </p:blipFill>
        <p:spPr>
          <a:xfrm>
            <a:off x="890341" y="190192"/>
            <a:ext cx="10930781" cy="5994298"/>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a:extLst>
              <a:ext uri="{FF2B5EF4-FFF2-40B4-BE49-F238E27FC236}">
                <a16:creationId xmlns:a16="http://schemas.microsoft.com/office/drawing/2014/main" id="{29DCE87B-9A14-58F5-7286-32BE7BED803C}"/>
              </a:ext>
            </a:extLst>
          </p:cNvPr>
          <p:cNvPicPr>
            <a:picLocks noChangeAspect="1"/>
          </p:cNvPicPr>
          <p:nvPr/>
        </p:nvPicPr>
        <p:blipFill>
          <a:blip r:embed="rId2"/>
          <a:stretch>
            <a:fillRect/>
          </a:stretch>
        </p:blipFill>
        <p:spPr>
          <a:xfrm>
            <a:off x="116790" y="1319141"/>
            <a:ext cx="11889339" cy="3577323"/>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7890" name="Title 1"/>
          <p:cNvSpPr>
            <a:spLocks noGrp="1"/>
          </p:cNvSpPr>
          <p:nvPr>
            <p:ph type="title"/>
          </p:nvPr>
        </p:nvSpPr>
        <p:spPr>
          <a:xfrm>
            <a:off x="871977" y="-77269"/>
            <a:ext cx="10252710" cy="841974"/>
          </a:xfrm>
        </p:spPr>
        <p:txBody>
          <a:bodyPr vert="horz" lIns="91440" tIns="45720" rIns="91440" bIns="45720" rtlCol="0" anchor="ctr">
            <a:normAutofit/>
          </a:bodyPr>
          <a:lstStyle/>
          <a:p>
            <a:pPr algn="ctr"/>
            <a:r>
              <a:rPr lang="en-US" altLang="en-US" sz="4800" dirty="0">
                <a:latin typeface="+mn-lt"/>
                <a:cs typeface="Arial" panose="020B0604020202020204" pitchFamily="34" charset="0"/>
              </a:rPr>
              <a:t>References</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4748C1-214E-5A42-AFB0-AA37B5C4913C}"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5D0738D0-5625-F201-2DBC-470515D7E78F}"/>
              </a:ext>
            </a:extLst>
          </p:cNvPr>
          <p:cNvPicPr>
            <a:picLocks noChangeAspect="1"/>
          </p:cNvPicPr>
          <p:nvPr/>
        </p:nvPicPr>
        <p:blipFill>
          <a:blip r:embed="rId2"/>
          <a:stretch>
            <a:fillRect/>
          </a:stretch>
        </p:blipFill>
        <p:spPr>
          <a:xfrm>
            <a:off x="741100" y="581510"/>
            <a:ext cx="11060257" cy="5612813"/>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A990F6FB-3FC8-2746-A698-52D038A1F63F}"/>
              </a:ext>
            </a:extLst>
          </p:cNvPr>
          <p:cNvSpPr>
            <a:spLocks noGrp="1"/>
          </p:cNvSpPr>
          <p:nvPr>
            <p:ph idx="1"/>
          </p:nvPr>
        </p:nvSpPr>
        <p:spPr/>
        <p:txBody>
          <a:bodyPr/>
          <a:lstStyle/>
          <a:p>
            <a:pPr>
              <a:lnSpc>
                <a:spcPct val="100000"/>
              </a:lnSpc>
              <a:buNone/>
            </a:pPr>
            <a:r>
              <a:rPr lang="en-US" b="1" dirty="0">
                <a:latin typeface="Times New Roman" pitchFamily="18" charset="0"/>
                <a:cs typeface="Times New Roman" pitchFamily="18" charset="0"/>
              </a:rPr>
              <a:t>Online Video Link-</a:t>
            </a:r>
            <a:endParaRPr lang="en-IN" b="1" dirty="0">
              <a:latin typeface="Times New Roman" pitchFamily="18" charset="0"/>
              <a:cs typeface="Times New Roman" pitchFamily="18" charset="0"/>
              <a:hlinkClick r:id="rId2"/>
            </a:endParaRPr>
          </a:p>
          <a:p>
            <a:pPr>
              <a:lnSpc>
                <a:spcPct val="100000"/>
              </a:lnSpc>
            </a:pPr>
            <a:r>
              <a:rPr lang="en-IN" dirty="0">
                <a:latin typeface="Times New Roman" pitchFamily="18" charset="0"/>
                <a:cs typeface="Times New Roman" pitchFamily="18" charset="0"/>
                <a:hlinkClick r:id="rId3"/>
              </a:rPr>
              <a:t>https://nptel.ac.in/courses/111/105/111105090/</a:t>
            </a:r>
            <a:endParaRPr lang="en-IN" dirty="0">
              <a:latin typeface="Times New Roman" pitchFamily="18" charset="0"/>
              <a:cs typeface="Times New Roman" pitchFamily="18" charset="0"/>
            </a:endParaRPr>
          </a:p>
          <a:p>
            <a:pPr>
              <a:lnSpc>
                <a:spcPct val="100000"/>
              </a:lnSpc>
            </a:pPr>
            <a:r>
              <a:rPr lang="en-IN" dirty="0">
                <a:latin typeface="Times New Roman" pitchFamily="18" charset="0"/>
                <a:cs typeface="Times New Roman" pitchFamily="18" charset="0"/>
                <a:hlinkClick r:id="rId4"/>
              </a:rPr>
              <a:t>https://www.youtube.com/watch?v=RYIb1u3C13I</a:t>
            </a:r>
            <a:r>
              <a:rPr lang="en-IN" dirty="0">
                <a:latin typeface="Times New Roman" pitchFamily="18" charset="0"/>
                <a:cs typeface="Times New Roman" pitchFamily="18" charset="0"/>
              </a:rPr>
              <a:t> </a:t>
            </a:r>
          </a:p>
          <a:p>
            <a:pPr>
              <a:lnSpc>
                <a:spcPct val="100000"/>
              </a:lnSpc>
            </a:pPr>
            <a:r>
              <a:rPr lang="en-US" dirty="0">
                <a:solidFill>
                  <a:srgbClr val="000000"/>
                </a:solidFill>
                <a:latin typeface="Times New Roman" pitchFamily="18" charset="0"/>
                <a:cs typeface="Times New Roman" pitchFamily="18" charset="0"/>
                <a:hlinkClick r:id="rId5"/>
              </a:rPr>
              <a:t>https://www.youtube.com/watch?v=S_Zx-g8FU0w&amp;list=PL6C92B335BD4238AB&amp;index=18</a:t>
            </a:r>
            <a:r>
              <a:rPr lang="en-US" dirty="0">
                <a:solidFill>
                  <a:srgbClr val="000000"/>
                </a:solidFill>
                <a:latin typeface="Times New Roman" pitchFamily="18" charset="0"/>
                <a:cs typeface="Times New Roman" pitchFamily="18" charset="0"/>
              </a:rPr>
              <a:t> </a:t>
            </a:r>
            <a:endParaRPr lang="en-US" b="1" dirty="0">
              <a:solidFill>
                <a:srgbClr val="000000"/>
              </a:solidFill>
              <a:latin typeface="Times New Roman" pitchFamily="18" charset="0"/>
              <a:cs typeface="Times New Roman" pitchFamily="18" charset="0"/>
            </a:endParaRPr>
          </a:p>
          <a:p>
            <a:endParaRPr lang="en-IN" dirty="0"/>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7" name="Rectangle 16">
            <a:extLst>
              <a:ext uri="{FF2B5EF4-FFF2-40B4-BE49-F238E27FC236}">
                <a16:creationId xmlns:a16="http://schemas.microsoft.com/office/drawing/2014/main" id="{2C813A83-4CF3-4942-8C24-169E11C40466}"/>
              </a:ext>
            </a:extLst>
          </p:cNvPr>
          <p:cNvSpPr/>
          <p:nvPr/>
        </p:nvSpPr>
        <p:spPr>
          <a:xfrm>
            <a:off x="152400" y="0"/>
            <a:ext cx="118872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ea typeface="+mn-ea"/>
                <a:cs typeface="+mn-cs"/>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265920" y="0"/>
            <a:ext cx="1783081"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067302" y="0"/>
            <a:ext cx="647373"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867491" y="6294601"/>
            <a:ext cx="544386"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533165" y="5129693"/>
            <a:ext cx="1685103"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601157" y="2249080"/>
            <a:ext cx="10457019"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727962" y="1214279"/>
            <a:ext cx="2369701"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23" name="Diamond 6">
            <a:extLst>
              <a:ext uri="{FF2B5EF4-FFF2-40B4-BE49-F238E27FC236}">
                <a16:creationId xmlns:a16="http://schemas.microsoft.com/office/drawing/2014/main" id="{4F0CA98B-3337-4AC3-8305-ED6C9C731FFB}"/>
              </a:ext>
            </a:extLst>
          </p:cNvPr>
          <p:cNvSpPr/>
          <p:nvPr/>
        </p:nvSpPr>
        <p:spPr>
          <a:xfrm>
            <a:off x="2978707" y="1214279"/>
            <a:ext cx="2369701"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a typeface="+mn-ea"/>
              <a:cs typeface="+mn-cs"/>
            </a:endParaRPr>
          </a:p>
        </p:txBody>
      </p:sp>
      <p:grpSp>
        <p:nvGrpSpPr>
          <p:cNvPr id="3" name="Group 28"/>
          <p:cNvGrpSpPr/>
          <p:nvPr/>
        </p:nvGrpSpPr>
        <p:grpSpPr>
          <a:xfrm>
            <a:off x="383984" y="152400"/>
            <a:ext cx="400299"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63556" y="5394451"/>
            <a:ext cx="3316934" cy="64633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itchFamily="18" charset="0"/>
                <a:ea typeface="Segoe UI" panose="020B0502040204020203" pitchFamily="34" charset="0"/>
                <a:cs typeface="Times New Roman" pitchFamily="18" charset="0"/>
              </a:rPr>
              <a:t>For queries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Email: neetu.e17077@cumail.in</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B4D36D-60F8-0547-9CD4-56091D03A888}" type="slidenum">
              <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alt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8" y="1217518"/>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defTabSz="685800">
              <a:buSzPts val="1800"/>
              <a:defRPr/>
            </a:pPr>
            <a:endParaRPr sz="1800" kern="1200">
              <a:solidFill>
                <a:prstClr val="black"/>
              </a:solidFil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defTabSz="685800">
              <a:buSzPts val="1800"/>
              <a:defRPr/>
            </a:pPr>
            <a:endParaRPr sz="1800" kern="1200">
              <a:solidFill>
                <a:prstClr val="black"/>
              </a:solidFil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defTabSz="685800">
              <a:buSzPts val="1800"/>
              <a:defRPr/>
            </a:pPr>
            <a:endParaRPr sz="1800" kern="1200">
              <a:solidFill>
                <a:prstClr val="black"/>
              </a:solidFil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algn="ctr" defTabSz="685800">
              <a:buClr>
                <a:prstClr val="white"/>
              </a:buClr>
              <a:buSzPts val="1800"/>
              <a:defRPr/>
            </a:pPr>
            <a:endParaRPr sz="1800" kern="1200">
              <a:solidFill>
                <a:prstClr val="white"/>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defTabSz="685800">
              <a:buSzPts val="1800"/>
              <a:defRPr/>
            </a:pPr>
            <a:endParaRPr sz="1800" kern="1200">
              <a:solidFill>
                <a:prstClr val="black"/>
              </a:solidFill>
            </a:endParaRPr>
          </a:p>
        </p:txBody>
      </p:sp>
      <p:sp>
        <p:nvSpPr>
          <p:cNvPr id="102" name="Google Shape;102;p1"/>
          <p:cNvSpPr txBox="1"/>
          <p:nvPr/>
        </p:nvSpPr>
        <p:spPr>
          <a:xfrm>
            <a:off x="630647" y="610168"/>
            <a:ext cx="8213400" cy="4131347"/>
          </a:xfrm>
          <a:prstGeom prst="rect">
            <a:avLst/>
          </a:prstGeom>
          <a:noFill/>
          <a:ln>
            <a:noFill/>
          </a:ln>
        </p:spPr>
        <p:txBody>
          <a:bodyPr spcFirstLastPara="1" wrap="square" lIns="91425" tIns="45700" rIns="91425" bIns="45700" anchor="t" anchorCtr="0">
            <a:spAutoFit/>
          </a:bodyPr>
          <a:lstStyle/>
          <a:p>
            <a:pPr algn="ctr" defTabSz="685800">
              <a:lnSpc>
                <a:spcPct val="90000"/>
              </a:lnSpc>
              <a:buClr>
                <a:prstClr val="black"/>
              </a:buClr>
              <a:buSzPts val="3200"/>
              <a:defRPr/>
            </a:pPr>
            <a:r>
              <a:rPr lang="en-US" sz="3200" b="1" kern="1200" dirty="0">
                <a:solidFill>
                  <a:prstClr val="black"/>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sz="105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1120"/>
              </a:spcBef>
              <a:buClr>
                <a:prstClr val="black"/>
              </a:buClr>
              <a:buSzPts val="3200"/>
              <a:defRPr/>
            </a:pPr>
            <a:r>
              <a:rPr lang="en-US" sz="3200" b="1" kern="1200" dirty="0">
                <a:solidFill>
                  <a:prstClr val="black"/>
                </a:solidFill>
                <a:latin typeface="Calibri" panose="020F0502020204030204" pitchFamily="34" charset="0"/>
                <a:ea typeface="Calibri" panose="020F0502020204030204" pitchFamily="34" charset="0"/>
                <a:cs typeface="Calibri" panose="020F0502020204030204" pitchFamily="34" charset="0"/>
                <a:sym typeface="Arial Black"/>
              </a:rPr>
              <a:t>DEPARTMENT OF AIT-CSE</a:t>
            </a:r>
            <a:endParaRPr sz="105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1120"/>
              </a:spcBef>
              <a:buClr>
                <a:prstClr val="black"/>
              </a:buClr>
              <a:buSzPts val="2800"/>
              <a:defRPr/>
            </a:pPr>
            <a:r>
              <a:rPr lang="en-IN" sz="2000" b="1" kern="1200" dirty="0">
                <a:solidFill>
                  <a:prstClr val="black"/>
                </a:solidFill>
                <a:latin typeface="Calibri" panose="020F0502020204030204" pitchFamily="34" charset="0"/>
                <a:ea typeface="Calibri" panose="020F0502020204030204" pitchFamily="34" charset="0"/>
                <a:cs typeface="Calibri" panose="020F0502020204030204" pitchFamily="34" charset="0"/>
                <a:sym typeface="Times New Roman"/>
              </a:rPr>
              <a:t>Bachelor of Engineering (CSE)</a:t>
            </a:r>
            <a:endParaRPr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1120"/>
              </a:spcBef>
              <a:buClr>
                <a:prstClr val="black"/>
              </a:buClr>
              <a:buSzPts val="2800"/>
              <a:defRPr/>
            </a:pPr>
            <a:r>
              <a:rPr lang="en-US" sz="2000" b="1" kern="1200" dirty="0">
                <a:solidFill>
                  <a:prstClr val="black"/>
                </a:solidFill>
                <a:latin typeface="Calibri" panose="020F0502020204030204" pitchFamily="34" charset="0"/>
                <a:ea typeface="Calibri" panose="020F0502020204030204" pitchFamily="34" charset="0"/>
                <a:cs typeface="Calibri" panose="020F0502020204030204" pitchFamily="34" charset="0"/>
                <a:sym typeface="Times New Roman"/>
              </a:rPr>
              <a:t>AIML\Semester-4</a:t>
            </a:r>
            <a:endParaRPr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980"/>
              </a:spcBef>
              <a:buClr>
                <a:prstClr val="black"/>
              </a:buClr>
              <a:buSzPts val="2800"/>
              <a:defRPr/>
            </a:pPr>
            <a:r>
              <a:rPr lang="en-IN" sz="24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STATISTICAL METHODS FOR AI</a:t>
            </a:r>
            <a:endParaRPr sz="160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lnSpc>
                <a:spcPct val="90000"/>
              </a:lnSpc>
              <a:spcBef>
                <a:spcPts val="980"/>
              </a:spcBef>
              <a:buClr>
                <a:prstClr val="black"/>
              </a:buClr>
              <a:buSzPts val="2800"/>
              <a:defRPr/>
            </a:pPr>
            <a:r>
              <a:rPr lang="en-US" sz="24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(24CST-295)</a:t>
            </a:r>
            <a:endParaRPr lang="en-IN" sz="1600" b="1"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algn="ctr" defTabSz="685800">
              <a:spcBef>
                <a:spcPts val="1120"/>
              </a:spcBef>
              <a:buClrTx/>
              <a:buSzPts val="3200"/>
              <a:defRPr/>
            </a:pPr>
            <a:r>
              <a:rPr lang="en-IN"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 Lecture No. Zero</a:t>
            </a:r>
          </a:p>
          <a:p>
            <a:pPr defTabSz="685800">
              <a:spcBef>
                <a:spcPts val="1120"/>
              </a:spcBef>
              <a:buClrTx/>
              <a:buSzPts val="3200"/>
              <a:defRPr/>
            </a:pPr>
            <a:endParaRPr lang="en-US" sz="1800" b="1" u="sng" kern="1200"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defTabSz="685800">
              <a:spcBef>
                <a:spcPts val="1120"/>
              </a:spcBef>
              <a:buClrTx/>
              <a:buSzPts val="3200"/>
              <a:defRPr/>
            </a:pPr>
            <a:r>
              <a:rPr lang="en-US"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Faculty Name and </a:t>
            </a:r>
            <a:r>
              <a:rPr lang="en-US" sz="1800" b="1" kern="1200" dirty="0" err="1">
                <a:solidFill>
                  <a:prstClr val="black"/>
                </a:solidFill>
                <a:latin typeface="Calibri" panose="020F0502020204030204" pitchFamily="34" charset="0"/>
                <a:ea typeface="Calibri" panose="020F0502020204030204" pitchFamily="34" charset="0"/>
                <a:cs typeface="Calibri" panose="020F0502020204030204" pitchFamily="34" charset="0"/>
              </a:rPr>
              <a:t>E_Code</a:t>
            </a:r>
            <a:r>
              <a:rPr lang="en-US" sz="18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 Dr Neetu(E17077)             Designation: Assistant Professor</a:t>
            </a:r>
            <a:endParaRPr lang="en-US" sz="3200" b="1" kern="1200" dirty="0">
              <a:solidFill>
                <a:srgbClr val="E7E6E6"/>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1" y="0"/>
            <a:ext cx="3859199" cy="615553"/>
          </a:xfrm>
          <a:prstGeom prst="rect">
            <a:avLst/>
          </a:prstGeom>
          <a:noFill/>
        </p:spPr>
        <p:txBody>
          <a:bodyPr wrap="square" rtlCol="0">
            <a:spAutoFit/>
          </a:bodyPr>
          <a:lstStyle/>
          <a:p>
            <a:pPr algn="r" defTabSz="685800">
              <a:buClrTx/>
              <a:defRPr/>
            </a:pPr>
            <a:r>
              <a:rPr lang="en-IN" sz="1800" b="1" kern="1200" dirty="0">
                <a:solidFill>
                  <a:prstClr val="white">
                    <a:lumMod val="65000"/>
                  </a:prst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defTabSz="685800">
              <a:buClrTx/>
              <a:defRPr/>
            </a:pPr>
            <a:r>
              <a:rPr lang="en-IN" sz="1600" b="1" kern="1200" dirty="0">
                <a:solidFill>
                  <a:prstClr val="black"/>
                </a:solidFill>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1980049145"/>
              </p:ext>
            </p:extLst>
          </p:nvPr>
        </p:nvGraphicFramePr>
        <p:xfrm>
          <a:off x="1825362" y="989412"/>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606056" y="1722474"/>
            <a:ext cx="8114095" cy="3062177"/>
          </a:xfrm>
          <a:prstGeom prst="rect">
            <a:avLst/>
          </a:prstGeom>
          <a:noFill/>
          <a:ln>
            <a:noFill/>
          </a:ln>
        </p:spPr>
        <p:txBody>
          <a:bodyPr spcFirstLastPara="1" wrap="square" lIns="91425" tIns="45700" rIns="91425" bIns="45700" anchor="t" anchorCtr="0">
            <a:noAutofit/>
          </a:bodyPr>
          <a:lstStyle/>
          <a:p>
            <a:pPr marL="342900" indent="-190500" algn="just">
              <a:lnSpc>
                <a:spcPct val="200000"/>
              </a:lnSpc>
              <a:buNone/>
            </a:pPr>
            <a:r>
              <a:rPr lang="en-US" sz="1400" dirty="0">
                <a:solidFill>
                  <a:srgbClr val="000000"/>
                </a:solidFill>
                <a:latin typeface="Times New Roman" pitchFamily="18" charset="0"/>
                <a:ea typeface="Calibri" pitchFamily="34" charset="0"/>
                <a:cs typeface="Times New Roman" pitchFamily="18" charset="0"/>
                <a:sym typeface="Times New Roman"/>
              </a:rPr>
              <a:t>    </a:t>
            </a:r>
            <a:r>
              <a:rPr lang="en-US" sz="1600" dirty="0">
                <a:solidFill>
                  <a:srgbClr val="000000"/>
                </a:solidFill>
                <a:latin typeface="Times New Roman" pitchFamily="18" charset="0"/>
                <a:ea typeface="Calibri" pitchFamily="34" charset="0"/>
                <a:cs typeface="Times New Roman" pitchFamily="18" charset="0"/>
                <a:sym typeface="Times New Roman"/>
              </a:rPr>
              <a:t>“To be </a:t>
            </a:r>
            <a:r>
              <a:rPr lang="en-US" sz="1600" b="1" dirty="0">
                <a:solidFill>
                  <a:srgbClr val="000000"/>
                </a:solidFill>
                <a:latin typeface="Times New Roman" pitchFamily="18" charset="0"/>
                <a:ea typeface="Calibri" pitchFamily="34" charset="0"/>
                <a:cs typeface="Times New Roman" pitchFamily="18" charset="0"/>
                <a:sym typeface="Times New Roman"/>
              </a:rPr>
              <a:t>globally recognized as a Centre of Excellence for Research, Innovation, Entrepreneurship and disseminating knowledge by providing inspirational learning </a:t>
            </a:r>
            <a:r>
              <a:rPr lang="en-US" sz="1600" dirty="0">
                <a:solidFill>
                  <a:srgbClr val="000000"/>
                </a:solidFill>
                <a:latin typeface="Times New Roman" pitchFamily="18" charset="0"/>
                <a:ea typeface="Calibri" pitchFamily="34" charset="0"/>
                <a:cs typeface="Times New Roman" pitchFamily="18" charset="0"/>
                <a:sym typeface="Times New Roman"/>
              </a:rPr>
              <a:t>to produce professional leaders for serving the society.”</a:t>
            </a:r>
            <a:endParaRPr lang="en-US" sz="1600" dirty="0">
              <a:latin typeface="Times New Roman" pitchFamily="18" charset="0"/>
              <a:ea typeface="Calibri" pitchFamily="34" charset="0"/>
              <a:cs typeface="Times New Roman" pitchFamily="18" charset="0"/>
              <a:sym typeface="Calibri"/>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B1048F7B-885D-8478-861D-D861BC16F5E6}"/>
              </a:ext>
            </a:extLst>
          </p:cNvPr>
          <p:cNvPicPr>
            <a:picLocks noChangeAspect="1"/>
          </p:cNvPicPr>
          <p:nvPr/>
        </p:nvPicPr>
        <p:blipFill>
          <a:blip r:embed="rId9"/>
          <a:stretch>
            <a:fillRect/>
          </a:stretch>
        </p:blipFill>
        <p:spPr>
          <a:xfrm>
            <a:off x="7281613" y="74380"/>
            <a:ext cx="1786187" cy="785922"/>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903455522"/>
              </p:ext>
            </p:extLst>
          </p:nvPr>
        </p:nvGraphicFramePr>
        <p:xfrm>
          <a:off x="2098906" y="1011824"/>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489098" y="1584251"/>
            <a:ext cx="8304029" cy="3232297"/>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000000"/>
              </a:buClr>
              <a:buSzPts val="1800"/>
              <a:buNone/>
            </a:pPr>
            <a:r>
              <a:rPr lang="en-US" sz="1600" b="1" dirty="0">
                <a:solidFill>
                  <a:srgbClr val="000000"/>
                </a:solidFill>
                <a:latin typeface="Times New Roman"/>
                <a:ea typeface="Times New Roman"/>
                <a:cs typeface="Times New Roman"/>
                <a:sym typeface="Times New Roman"/>
              </a:rPr>
              <a:t>	</a:t>
            </a:r>
            <a:r>
              <a:rPr lang="en-US" sz="1600" b="1" dirty="0">
                <a:solidFill>
                  <a:srgbClr val="000000"/>
                </a:solidFill>
                <a:latin typeface="Times New Roman" pitchFamily="18" charset="0"/>
                <a:ea typeface="Calibri" pitchFamily="34" charset="0"/>
                <a:cs typeface="Times New Roman" pitchFamily="18" charset="0"/>
                <a:sym typeface="Times New Roman"/>
              </a:rPr>
              <a:t>M1:</a:t>
            </a:r>
            <a:r>
              <a:rPr lang="en-US" sz="1600" dirty="0">
                <a:solidFill>
                  <a:srgbClr val="000000"/>
                </a:solidFill>
                <a:latin typeface="Times New Roman" pitchFamily="18" charset="0"/>
                <a:ea typeface="Calibri" pitchFamily="34" charset="0"/>
                <a:cs typeface="Times New Roman" pitchFamily="18" charset="0"/>
                <a:sym typeface="Times New Roman"/>
              </a:rPr>
              <a:t>	</a:t>
            </a:r>
            <a:r>
              <a:rPr lang="en-US" sz="1600" b="1" dirty="0">
                <a:solidFill>
                  <a:srgbClr val="000000"/>
                </a:solidFill>
                <a:latin typeface="Times New Roman" pitchFamily="18" charset="0"/>
                <a:ea typeface="Calibri" pitchFamily="34" charset="0"/>
                <a:cs typeface="Times New Roman" pitchFamily="18" charset="0"/>
                <a:sym typeface="Times New Roman"/>
              </a:rPr>
              <a:t>Providing world class infrastructure</a:t>
            </a:r>
            <a:r>
              <a:rPr lang="en-US" sz="1600" dirty="0">
                <a:solidFill>
                  <a:srgbClr val="000000"/>
                </a:solidFill>
                <a:latin typeface="Times New Roman" pitchFamily="18" charset="0"/>
                <a:ea typeface="Calibri" pitchFamily="34" charset="0"/>
                <a:cs typeface="Times New Roman" pitchFamily="18" charset="0"/>
                <a:sym typeface="Times New Roman"/>
              </a:rPr>
              <a:t>, renowned academicians and ideal environment 	for Research, Innovation, Consultancy and Entrepreneurship relevant to the society.</a:t>
            </a:r>
            <a:endParaRPr lang="en-US" sz="1600" dirty="0">
              <a:latin typeface="Times New Roman" pitchFamily="18" charset="0"/>
              <a:ea typeface="Calibri" pitchFamily="34" charset="0"/>
              <a:cs typeface="Times New Roman" pitchFamily="18" charset="0"/>
              <a:sym typeface="Times New Roman"/>
            </a:endParaRPr>
          </a:p>
          <a:p>
            <a:pPr marL="342900" lvl="0" indent="-342900" algn="just" rtl="0">
              <a:lnSpc>
                <a:spcPct val="150000"/>
              </a:lnSpc>
              <a:spcBef>
                <a:spcPts val="1160"/>
              </a:spcBef>
              <a:spcAft>
                <a:spcPts val="0"/>
              </a:spcAft>
              <a:buClr>
                <a:srgbClr val="000000"/>
              </a:buClr>
              <a:buSzPts val="1800"/>
              <a:buNone/>
            </a:pPr>
            <a:r>
              <a:rPr lang="en-US" sz="1600" b="1" dirty="0">
                <a:solidFill>
                  <a:srgbClr val="000000"/>
                </a:solidFill>
                <a:latin typeface="Times New Roman" pitchFamily="18" charset="0"/>
                <a:ea typeface="Calibri" pitchFamily="34" charset="0"/>
                <a:cs typeface="Times New Roman" pitchFamily="18" charset="0"/>
                <a:sym typeface="Times New Roman"/>
              </a:rPr>
              <a:t>	M2:</a:t>
            </a:r>
            <a:r>
              <a:rPr lang="en-US" sz="1600" dirty="0">
                <a:solidFill>
                  <a:srgbClr val="000000"/>
                </a:solidFill>
                <a:latin typeface="Times New Roman" pitchFamily="18" charset="0"/>
                <a:ea typeface="Calibri" pitchFamily="34" charset="0"/>
                <a:cs typeface="Times New Roman" pitchFamily="18" charset="0"/>
                <a:sym typeface="Times New Roman"/>
              </a:rPr>
              <a:t>	</a:t>
            </a:r>
            <a:r>
              <a:rPr lang="en-US" sz="1600" b="1" dirty="0">
                <a:solidFill>
                  <a:srgbClr val="000000"/>
                </a:solidFill>
                <a:latin typeface="Times New Roman" pitchFamily="18" charset="0"/>
                <a:ea typeface="Calibri" pitchFamily="34" charset="0"/>
                <a:cs typeface="Times New Roman" pitchFamily="18" charset="0"/>
                <a:sym typeface="Times New Roman"/>
              </a:rPr>
              <a:t>Offering programs &amp; courses </a:t>
            </a:r>
            <a:r>
              <a:rPr lang="en-US" sz="1600" dirty="0">
                <a:solidFill>
                  <a:srgbClr val="000000"/>
                </a:solidFill>
                <a:latin typeface="Times New Roman" pitchFamily="18" charset="0"/>
                <a:ea typeface="Calibri" pitchFamily="34" charset="0"/>
                <a:cs typeface="Times New Roman" pitchFamily="18" charset="0"/>
                <a:sym typeface="Times New Roman"/>
              </a:rPr>
              <a:t>in consonance with National policies for nation building 	and </a:t>
            </a:r>
            <a:r>
              <a:rPr lang="en-US" sz="1600" b="1" dirty="0">
                <a:solidFill>
                  <a:srgbClr val="000000"/>
                </a:solidFill>
                <a:latin typeface="Times New Roman" pitchFamily="18" charset="0"/>
                <a:ea typeface="Calibri" pitchFamily="34" charset="0"/>
                <a:cs typeface="Times New Roman" pitchFamily="18" charset="0"/>
                <a:sym typeface="Times New Roman"/>
              </a:rPr>
              <a:t>meeting global challenges.</a:t>
            </a:r>
            <a:endParaRPr lang="en-US" sz="1600" b="1" dirty="0">
              <a:latin typeface="Times New Roman" pitchFamily="18" charset="0"/>
              <a:ea typeface="Calibri" pitchFamily="34" charset="0"/>
              <a:cs typeface="Times New Roman" pitchFamily="18" charset="0"/>
              <a:sym typeface="Times New Roman"/>
            </a:endParaRPr>
          </a:p>
          <a:p>
            <a:pPr marL="342900" lvl="0" indent="-342900" algn="just" rtl="0">
              <a:lnSpc>
                <a:spcPct val="150000"/>
              </a:lnSpc>
              <a:spcBef>
                <a:spcPts val="1160"/>
              </a:spcBef>
              <a:spcAft>
                <a:spcPts val="0"/>
              </a:spcAft>
              <a:buClr>
                <a:srgbClr val="000000"/>
              </a:buClr>
              <a:buSzPts val="1800"/>
              <a:buNone/>
            </a:pPr>
            <a:r>
              <a:rPr lang="en-US" sz="1600" b="1" dirty="0">
                <a:solidFill>
                  <a:srgbClr val="000000"/>
                </a:solidFill>
                <a:latin typeface="Times New Roman" pitchFamily="18" charset="0"/>
                <a:ea typeface="Calibri" pitchFamily="34" charset="0"/>
                <a:cs typeface="Times New Roman" pitchFamily="18" charset="0"/>
                <a:sym typeface="Times New Roman"/>
              </a:rPr>
              <a:t>	M3:</a:t>
            </a:r>
            <a:r>
              <a:rPr lang="en-US" sz="1600" dirty="0">
                <a:solidFill>
                  <a:srgbClr val="000000"/>
                </a:solidFill>
                <a:latin typeface="Times New Roman" pitchFamily="18" charset="0"/>
                <a:ea typeface="Calibri" pitchFamily="34" charset="0"/>
                <a:cs typeface="Times New Roman" pitchFamily="18" charset="0"/>
                <a:sym typeface="Times New Roman"/>
              </a:rPr>
              <a:t>	</a:t>
            </a:r>
            <a:r>
              <a:rPr lang="en-US" sz="1600" b="1" dirty="0">
                <a:solidFill>
                  <a:srgbClr val="000000"/>
                </a:solidFill>
                <a:latin typeface="Times New Roman" pitchFamily="18" charset="0"/>
                <a:ea typeface="Calibri" pitchFamily="34" charset="0"/>
                <a:cs typeface="Times New Roman" pitchFamily="18" charset="0"/>
                <a:sym typeface="Times New Roman"/>
              </a:rPr>
              <a:t>Designing Curriculum to match International standards</a:t>
            </a:r>
            <a:r>
              <a:rPr lang="en-US" sz="1600" dirty="0">
                <a:solidFill>
                  <a:srgbClr val="000000"/>
                </a:solidFill>
                <a:latin typeface="Times New Roman" pitchFamily="18" charset="0"/>
                <a:ea typeface="Calibri" pitchFamily="34" charset="0"/>
                <a:cs typeface="Times New Roman" pitchFamily="18" charset="0"/>
                <a:sym typeface="Times New Roman"/>
              </a:rPr>
              <a:t>, needs of Industry, civil 	society and for inculcation of traits of Creative Thinking and Critical Analysis as well 	as Human and Ethical values.</a:t>
            </a:r>
            <a:endParaRPr lang="en-US" sz="1600" dirty="0">
              <a:latin typeface="Times New Roman" pitchFamily="18" charset="0"/>
              <a:ea typeface="Calibri" pitchFamily="34" charset="0"/>
              <a:cs typeface="Times New Roman" pitchFamily="18" charset="0"/>
              <a:sym typeface="Times New Roman"/>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6B0BE4E2-3D2D-13AE-D986-0CBFA2C87F16}"/>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972176065"/>
              </p:ext>
            </p:extLst>
          </p:nvPr>
        </p:nvGraphicFramePr>
        <p:xfrm>
          <a:off x="1641705" y="740467"/>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393405" y="1307805"/>
            <a:ext cx="8440419" cy="3710244"/>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rgbClr val="000000"/>
              </a:buClr>
              <a:buSzPct val="100000"/>
              <a:buNone/>
            </a:pPr>
            <a:r>
              <a:rPr lang="en-US" sz="1400" b="1"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r>
              <a:rPr lang="en-US" sz="1400" b="1" dirty="0">
                <a:solidFill>
                  <a:srgbClr val="000000"/>
                </a:solidFill>
                <a:latin typeface="Times New Roman" pitchFamily="18" charset="0"/>
                <a:ea typeface="Calibri" pitchFamily="34" charset="0"/>
                <a:cs typeface="Times New Roman" pitchFamily="18" charset="0"/>
                <a:sym typeface="Times New Roman"/>
              </a:rPr>
              <a:t>M4:</a:t>
            </a:r>
            <a:r>
              <a:rPr lang="en-US" sz="1400" dirty="0">
                <a:solidFill>
                  <a:srgbClr val="000000"/>
                </a:solidFill>
                <a:latin typeface="Times New Roman" pitchFamily="18" charset="0"/>
                <a:ea typeface="Calibri" pitchFamily="34" charset="0"/>
                <a:cs typeface="Times New Roman" pitchFamily="18" charset="0"/>
                <a:sym typeface="Times New Roman"/>
              </a:rPr>
              <a:t>	Ensuring students delight by meeting their aspirations through blended learning, corporate 	mentoring, </a:t>
            </a:r>
            <a:r>
              <a:rPr lang="en-US" sz="1400" b="1" dirty="0">
                <a:solidFill>
                  <a:srgbClr val="000000"/>
                </a:solidFill>
                <a:latin typeface="Times New Roman" pitchFamily="18" charset="0"/>
                <a:ea typeface="Calibri" pitchFamily="34" charset="0"/>
                <a:cs typeface="Times New Roman" pitchFamily="18" charset="0"/>
                <a:sym typeface="Times New Roman"/>
              </a:rPr>
              <a:t>professional grooming</a:t>
            </a:r>
            <a:r>
              <a:rPr lang="en-US" sz="1400" dirty="0">
                <a:solidFill>
                  <a:srgbClr val="000000"/>
                </a:solidFill>
                <a:latin typeface="Times New Roman" pitchFamily="18" charset="0"/>
                <a:ea typeface="Calibri" pitchFamily="34" charset="0"/>
                <a:cs typeface="Times New Roman" pitchFamily="18" charset="0"/>
                <a:sym typeface="Times New Roman"/>
              </a:rPr>
              <a:t>, flexible curriculum and healthy atmosphere based on co-	curricular and extra-curricular activities.</a:t>
            </a:r>
            <a:endParaRPr lang="en-US" sz="1400" dirty="0">
              <a:latin typeface="Times New Roman" pitchFamily="18" charset="0"/>
              <a:ea typeface="Calibri" pitchFamily="34" charset="0"/>
              <a:cs typeface="Times New Roman" pitchFamily="18" charset="0"/>
              <a:sym typeface="Calibri"/>
            </a:endParaRPr>
          </a:p>
          <a:p>
            <a:pPr marL="342900" lvl="0" indent="-342900" algn="just" rtl="0">
              <a:lnSpc>
                <a:spcPct val="150000"/>
              </a:lnSpc>
              <a:spcBef>
                <a:spcPts val="1123"/>
              </a:spcBef>
              <a:spcAft>
                <a:spcPts val="0"/>
              </a:spcAft>
              <a:buClr>
                <a:srgbClr val="000000"/>
              </a:buClr>
              <a:buSzPct val="100000"/>
              <a:buNone/>
            </a:pPr>
            <a:r>
              <a:rPr lang="en-US" sz="1400" b="1" dirty="0">
                <a:solidFill>
                  <a:srgbClr val="000000"/>
                </a:solidFill>
                <a:latin typeface="Times New Roman" pitchFamily="18" charset="0"/>
                <a:ea typeface="Calibri" pitchFamily="34" charset="0"/>
                <a:cs typeface="Times New Roman" pitchFamily="18" charset="0"/>
                <a:sym typeface="Times New Roman"/>
              </a:rPr>
              <a:t>	M5:</a:t>
            </a:r>
            <a:r>
              <a:rPr lang="en-US" sz="1400" dirty="0">
                <a:solidFill>
                  <a:srgbClr val="000000"/>
                </a:solidFill>
                <a:latin typeface="Times New Roman" pitchFamily="18" charset="0"/>
                <a:ea typeface="Calibri" pitchFamily="34" charset="0"/>
                <a:cs typeface="Times New Roman" pitchFamily="18" charset="0"/>
                <a:sym typeface="Times New Roman"/>
              </a:rPr>
              <a:t>	Creating a scientific, </a:t>
            </a:r>
            <a:r>
              <a:rPr lang="en-US" sz="1400" b="1" dirty="0">
                <a:solidFill>
                  <a:srgbClr val="000000"/>
                </a:solidFill>
                <a:latin typeface="Times New Roman" pitchFamily="18" charset="0"/>
                <a:ea typeface="Calibri" pitchFamily="34" charset="0"/>
                <a:cs typeface="Times New Roman" pitchFamily="18" charset="0"/>
                <a:sym typeface="Times New Roman"/>
              </a:rPr>
              <a:t>transparent and objective examination/evaluation </a:t>
            </a:r>
            <a:r>
              <a:rPr lang="en-US" sz="1400" dirty="0">
                <a:solidFill>
                  <a:srgbClr val="000000"/>
                </a:solidFill>
                <a:latin typeface="Times New Roman" pitchFamily="18" charset="0"/>
                <a:ea typeface="Calibri" pitchFamily="34" charset="0"/>
                <a:cs typeface="Times New Roman" pitchFamily="18" charset="0"/>
                <a:sym typeface="Times New Roman"/>
              </a:rPr>
              <a:t>system to ensure an ideal 	certification.</a:t>
            </a:r>
            <a:endParaRPr lang="en-US" sz="1400" dirty="0">
              <a:latin typeface="Times New Roman" pitchFamily="18" charset="0"/>
              <a:ea typeface="Calibri" pitchFamily="34" charset="0"/>
              <a:cs typeface="Times New Roman" pitchFamily="18" charset="0"/>
              <a:sym typeface="Times New Roman"/>
            </a:endParaRPr>
          </a:p>
          <a:p>
            <a:pPr marL="342900" lvl="0" indent="-342900" algn="just" rtl="0">
              <a:lnSpc>
                <a:spcPct val="150000"/>
              </a:lnSpc>
              <a:spcBef>
                <a:spcPts val="1123"/>
              </a:spcBef>
              <a:spcAft>
                <a:spcPts val="0"/>
              </a:spcAft>
              <a:buClr>
                <a:srgbClr val="000000"/>
              </a:buClr>
              <a:buSzPct val="100000"/>
              <a:buNone/>
            </a:pPr>
            <a:r>
              <a:rPr lang="en-US" sz="1400" b="1" dirty="0">
                <a:solidFill>
                  <a:srgbClr val="000000"/>
                </a:solidFill>
                <a:latin typeface="Times New Roman" pitchFamily="18" charset="0"/>
                <a:ea typeface="Calibri" pitchFamily="34" charset="0"/>
                <a:cs typeface="Times New Roman" pitchFamily="18" charset="0"/>
                <a:sym typeface="Times New Roman"/>
              </a:rPr>
              <a:t>	M6:</a:t>
            </a:r>
            <a:r>
              <a:rPr lang="en-US" sz="1400" dirty="0">
                <a:solidFill>
                  <a:srgbClr val="000000"/>
                </a:solidFill>
                <a:latin typeface="Times New Roman" pitchFamily="18" charset="0"/>
                <a:ea typeface="Calibri" pitchFamily="34" charset="0"/>
                <a:cs typeface="Times New Roman" pitchFamily="18" charset="0"/>
                <a:sym typeface="Times New Roman"/>
              </a:rPr>
              <a:t>	</a:t>
            </a:r>
            <a:r>
              <a:rPr lang="en-US" sz="1400" b="1" dirty="0">
                <a:solidFill>
                  <a:srgbClr val="000000"/>
                </a:solidFill>
                <a:latin typeface="Times New Roman" pitchFamily="18" charset="0"/>
                <a:ea typeface="Calibri" pitchFamily="34" charset="0"/>
                <a:cs typeface="Times New Roman" pitchFamily="18" charset="0"/>
                <a:sym typeface="Times New Roman"/>
              </a:rPr>
              <a:t>Establishing strategic relationships with leading National and International corporates </a:t>
            </a:r>
            <a:r>
              <a:rPr lang="en-US" sz="1400" dirty="0">
                <a:solidFill>
                  <a:srgbClr val="000000"/>
                </a:solidFill>
                <a:latin typeface="Times New Roman" pitchFamily="18" charset="0"/>
                <a:ea typeface="Calibri" pitchFamily="34" charset="0"/>
                <a:cs typeface="Times New Roman" pitchFamily="18" charset="0"/>
                <a:sym typeface="Times New Roman"/>
              </a:rPr>
              <a:t>and 	universities for academic as well as research collaborations.</a:t>
            </a:r>
            <a:endParaRPr lang="en-US" sz="1400" dirty="0">
              <a:latin typeface="Times New Roman" pitchFamily="18" charset="0"/>
              <a:ea typeface="Calibri" pitchFamily="34" charset="0"/>
              <a:cs typeface="Times New Roman" pitchFamily="18" charset="0"/>
            </a:endParaRPr>
          </a:p>
          <a:p>
            <a:pPr marL="342900" lvl="0" indent="-342900" algn="just" rtl="0">
              <a:lnSpc>
                <a:spcPct val="150000"/>
              </a:lnSpc>
              <a:spcBef>
                <a:spcPts val="1123"/>
              </a:spcBef>
              <a:spcAft>
                <a:spcPts val="0"/>
              </a:spcAft>
              <a:buClr>
                <a:srgbClr val="000000"/>
              </a:buClr>
              <a:buSzPct val="100000"/>
              <a:buNone/>
            </a:pPr>
            <a:r>
              <a:rPr lang="en-US" sz="1400" b="1" dirty="0">
                <a:solidFill>
                  <a:srgbClr val="000000"/>
                </a:solidFill>
                <a:latin typeface="Times New Roman" pitchFamily="18" charset="0"/>
                <a:ea typeface="Calibri" pitchFamily="34" charset="0"/>
                <a:cs typeface="Times New Roman" pitchFamily="18" charset="0"/>
                <a:sym typeface="Times New Roman"/>
              </a:rPr>
              <a:t>	M7:</a:t>
            </a:r>
            <a:r>
              <a:rPr lang="en-US" sz="1400" dirty="0">
                <a:solidFill>
                  <a:srgbClr val="000000"/>
                </a:solidFill>
                <a:latin typeface="Times New Roman" pitchFamily="18" charset="0"/>
                <a:ea typeface="Calibri" pitchFamily="34" charset="0"/>
                <a:cs typeface="Times New Roman" pitchFamily="18" charset="0"/>
                <a:sym typeface="Times New Roman"/>
              </a:rPr>
              <a:t>	</a:t>
            </a:r>
            <a:r>
              <a:rPr lang="en-US" sz="1400" b="1" dirty="0">
                <a:solidFill>
                  <a:srgbClr val="000000"/>
                </a:solidFill>
                <a:latin typeface="Times New Roman" pitchFamily="18" charset="0"/>
                <a:ea typeface="Calibri" pitchFamily="34" charset="0"/>
                <a:cs typeface="Times New Roman" pitchFamily="18" charset="0"/>
                <a:sym typeface="Times New Roman"/>
              </a:rPr>
              <a:t>Contributing for creation of healthy, vibrant and sustainable society </a:t>
            </a:r>
            <a:r>
              <a:rPr lang="en-US" sz="1400" dirty="0">
                <a:solidFill>
                  <a:srgbClr val="000000"/>
                </a:solidFill>
                <a:latin typeface="Times New Roman" pitchFamily="18" charset="0"/>
                <a:ea typeface="Calibri" pitchFamily="34" charset="0"/>
                <a:cs typeface="Times New Roman" pitchFamily="18" charset="0"/>
                <a:sym typeface="Times New Roman"/>
              </a:rPr>
              <a:t>by involving in Institutional 	Social Responsibility (ISR) activities like rural development, welfare of senior citizens, women 	empowerment, community service, health and hygiene awareness and environmental protection.</a:t>
            </a:r>
            <a:endParaRPr lang="en-US" sz="1400" dirty="0">
              <a:latin typeface="Times New Roman" pitchFamily="18" charset="0"/>
              <a:ea typeface="Calibri" pitchFamily="34" charset="0"/>
              <a:cs typeface="Times New Roman" pitchFamily="18" charset="0"/>
              <a:sym typeface="Times New Roman"/>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A6607BAE-BD3A-7C1B-9F46-1D9552628F1E}"/>
              </a:ext>
            </a:extLst>
          </p:cNvPr>
          <p:cNvPicPr>
            <a:picLocks noChangeAspect="1"/>
          </p:cNvPicPr>
          <p:nvPr/>
        </p:nvPicPr>
        <p:blipFill>
          <a:blip r:embed="rId9"/>
          <a:stretch>
            <a:fillRect/>
          </a:stretch>
        </p:blipFill>
        <p:spPr>
          <a:xfrm>
            <a:off x="7281613" y="37766"/>
            <a:ext cx="1786187" cy="785922"/>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851873368"/>
              </p:ext>
            </p:extLst>
          </p:nvPr>
        </p:nvGraphicFramePr>
        <p:xfrm>
          <a:off x="2017993" y="981627"/>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754912" y="1523857"/>
            <a:ext cx="8019439" cy="2718533"/>
          </a:xfrm>
          <a:prstGeom prst="rect">
            <a:avLst/>
          </a:prstGeom>
          <a:noFill/>
          <a:ln>
            <a:noFill/>
          </a:ln>
        </p:spPr>
        <p:txBody>
          <a:bodyPr spcFirstLastPara="1" wrap="square" lIns="91425" tIns="45700" rIns="91425" bIns="45700" anchor="t" anchorCtr="0">
            <a:noAutofit/>
          </a:bodyPr>
          <a:lstStyle/>
          <a:p>
            <a:pPr marL="342900" indent="-190500" algn="just">
              <a:lnSpc>
                <a:spcPct val="150000"/>
              </a:lnSpc>
              <a:buNone/>
            </a:pPr>
            <a:r>
              <a:rPr lang="en-US" sz="1600" dirty="0">
                <a:solidFill>
                  <a:schemeClr val="bg2"/>
                </a:solidFill>
                <a:latin typeface="Times New Roman" pitchFamily="18" charset="0"/>
                <a:ea typeface="Calibri" pitchFamily="34" charset="0"/>
                <a:cs typeface="Times New Roman" pitchFamily="18" charset="0"/>
                <a:sym typeface="Times New Roman"/>
              </a:rPr>
              <a:t>   “To be recognized as a centre of excellence for Computer Science &amp; Engineering education and research, through effective teaching practices, hands-on training on cutting edge computing technologies and excellence in innovation, for creating globally aware competent professionals with strong work ethics whom would be proficient in implementing modern technology solutions and shall have entrepreneurial zeal to solve problems of organizations and society at large.</a:t>
            </a:r>
            <a:endParaRPr lang="en-US" sz="1600" dirty="0">
              <a:solidFill>
                <a:schemeClr val="bg2"/>
              </a:solidFill>
              <a:latin typeface="Times New Roman" pitchFamily="18" charset="0"/>
              <a:ea typeface="Calibri" pitchFamily="34" charset="0"/>
              <a:cs typeface="Times New Roman" pitchFamily="18" charset="0"/>
              <a:sym typeface="Calibri"/>
            </a:endParaRP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89F7221A-86FC-0168-CF06-31D4BE522C75}"/>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3530533254"/>
              </p:ext>
            </p:extLst>
          </p:nvPr>
        </p:nvGraphicFramePr>
        <p:xfrm>
          <a:off x="1607561" y="713550"/>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795653" y="1263340"/>
            <a:ext cx="8001000" cy="3620894"/>
          </a:xfrm>
          <a:prstGeom prst="rect">
            <a:avLst/>
          </a:prstGeom>
          <a:noFill/>
          <a:ln>
            <a:noFill/>
          </a:ln>
        </p:spPr>
        <p:txBody>
          <a:bodyPr spcFirstLastPara="1" wrap="square" lIns="91425" tIns="45700" rIns="91425" bIns="45700" anchor="t" anchorCtr="0">
            <a:noAutofit/>
          </a:bodyPr>
          <a:lstStyle/>
          <a:p>
            <a:pPr marL="450215" lvl="0" indent="-450215" algn="just">
              <a:lnSpc>
                <a:spcPct val="150000"/>
              </a:lnSpc>
              <a:spcBef>
                <a:spcPts val="0"/>
              </a:spcBef>
              <a:buClr>
                <a:srgbClr val="000000"/>
              </a:buClr>
              <a:buSzPts val="1700"/>
              <a:buNone/>
            </a:pPr>
            <a:r>
              <a:rPr lang="en-US" sz="1400" b="1" dirty="0">
                <a:solidFill>
                  <a:schemeClr val="bg2"/>
                </a:solidFill>
                <a:latin typeface="Times New Roman" panose="02020603050405020304" pitchFamily="18" charset="0"/>
                <a:ea typeface="Times New Roman"/>
                <a:cs typeface="Times New Roman" panose="02020603050405020304"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M1</a:t>
            </a:r>
            <a:r>
              <a:rPr lang="en-US" sz="1400" dirty="0">
                <a:solidFill>
                  <a:schemeClr val="bg2"/>
                </a:solidFill>
                <a:latin typeface="Times New Roman" pitchFamily="18" charset="0"/>
                <a:ea typeface="Calibri" pitchFamily="34" charset="0"/>
                <a:cs typeface="Times New Roman" pitchFamily="18" charset="0"/>
                <a:sym typeface="Times New Roman"/>
              </a:rPr>
              <a:t>:	To provide relevant, rigorous and contemporary curriculum and aligned assessment system to 	ensure effective learning outcomes for engineering technologies.</a:t>
            </a:r>
          </a:p>
          <a:p>
            <a:pPr marL="450215" lvl="0" indent="-450215" algn="just">
              <a:lnSpc>
                <a:spcPct val="150000"/>
              </a:lnSpc>
              <a:spcBef>
                <a:spcPts val="0"/>
              </a:spcBef>
              <a:buClr>
                <a:srgbClr val="000000"/>
              </a:buClr>
              <a:buSzPts val="1700"/>
              <a:buNone/>
            </a:pPr>
            <a:r>
              <a:rPr lang="en-US" sz="1400" dirty="0">
                <a:solidFill>
                  <a:schemeClr val="bg2"/>
                </a:solidFill>
                <a:latin typeface="Times New Roman" pitchFamily="18" charset="0"/>
                <a:ea typeface="Calibri" pitchFamily="34" charset="0"/>
                <a:cs typeface="Times New Roman"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M2</a:t>
            </a:r>
            <a:r>
              <a:rPr lang="en-US" sz="1400" dirty="0">
                <a:solidFill>
                  <a:schemeClr val="bg2"/>
                </a:solidFill>
                <a:latin typeface="Times New Roman" pitchFamily="18" charset="0"/>
                <a:ea typeface="Calibri" pitchFamily="34" charset="0"/>
                <a:cs typeface="Times New Roman" pitchFamily="18" charset="0"/>
                <a:sym typeface="Times New Roman"/>
              </a:rPr>
              <a:t>:	To provide platform for industry engagement aimed at providing hands-on training on 	advanced  technological and business skills to our students.</a:t>
            </a:r>
          </a:p>
          <a:p>
            <a:pPr marL="450215" lvl="0" indent="-450215" algn="just">
              <a:lnSpc>
                <a:spcPct val="150000"/>
              </a:lnSpc>
              <a:spcBef>
                <a:spcPts val="0"/>
              </a:spcBef>
              <a:buClr>
                <a:srgbClr val="000000"/>
              </a:buClr>
              <a:buSzPts val="1700"/>
              <a:buNone/>
            </a:pPr>
            <a:r>
              <a:rPr lang="en-US" sz="1400" dirty="0">
                <a:solidFill>
                  <a:schemeClr val="bg2"/>
                </a:solidFill>
                <a:latin typeface="Times New Roman" pitchFamily="18" charset="0"/>
                <a:ea typeface="Calibri" pitchFamily="34" charset="0"/>
                <a:cs typeface="Times New Roman"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M3</a:t>
            </a:r>
            <a:r>
              <a:rPr lang="en-US" sz="1400" dirty="0">
                <a:solidFill>
                  <a:schemeClr val="bg2"/>
                </a:solidFill>
                <a:latin typeface="Times New Roman" pitchFamily="18" charset="0"/>
                <a:ea typeface="Calibri" pitchFamily="34" charset="0"/>
                <a:cs typeface="Times New Roman" pitchFamily="18" charset="0"/>
                <a:sym typeface="Times New Roman"/>
              </a:rPr>
              <a:t>:	To provide opportunities for collaborative, interdisciplinary and cutting-edge research aimed at 	developing solutions to real life problems</a:t>
            </a:r>
          </a:p>
          <a:p>
            <a:pPr marL="450215" lvl="0" indent="-450215" algn="just">
              <a:lnSpc>
                <a:spcPct val="150000"/>
              </a:lnSpc>
              <a:spcBef>
                <a:spcPts val="0"/>
              </a:spcBef>
              <a:buClr>
                <a:srgbClr val="000000"/>
              </a:buClr>
              <a:buSzPts val="1700"/>
              <a:buNone/>
            </a:pPr>
            <a:r>
              <a:rPr lang="en-US" sz="1400" dirty="0">
                <a:solidFill>
                  <a:schemeClr val="bg2"/>
                </a:solidFill>
                <a:latin typeface="Times New Roman" pitchFamily="18" charset="0"/>
                <a:ea typeface="Calibri" pitchFamily="34" charset="0"/>
                <a:cs typeface="Times New Roman"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M4</a:t>
            </a:r>
            <a:r>
              <a:rPr lang="en-US" sz="1400" dirty="0">
                <a:solidFill>
                  <a:schemeClr val="bg2"/>
                </a:solidFill>
                <a:latin typeface="Times New Roman" pitchFamily="18" charset="0"/>
                <a:ea typeface="Calibri" pitchFamily="34" charset="0"/>
                <a:cs typeface="Times New Roman" pitchFamily="18" charset="0"/>
                <a:sym typeface="Times New Roman"/>
              </a:rPr>
              <a:t>:	To imbibe quest for innovation, continuous learning and zeal to pursue excellence through 	hard  work and problem-solving approach</a:t>
            </a:r>
          </a:p>
          <a:p>
            <a:pPr marL="450215" lvl="0" indent="-450215" algn="just">
              <a:lnSpc>
                <a:spcPct val="150000"/>
              </a:lnSpc>
              <a:spcBef>
                <a:spcPts val="0"/>
              </a:spcBef>
              <a:buClr>
                <a:srgbClr val="000000"/>
              </a:buClr>
              <a:buSzPts val="1700"/>
              <a:buNone/>
            </a:pPr>
            <a:r>
              <a:rPr lang="en-US" sz="1400" dirty="0">
                <a:solidFill>
                  <a:schemeClr val="bg2"/>
                </a:solidFill>
                <a:latin typeface="Times New Roman" pitchFamily="18" charset="0"/>
                <a:ea typeface="Calibri" pitchFamily="34" charset="0"/>
                <a:cs typeface="Times New Roman" pitchFamily="18" charset="0"/>
                <a:sym typeface="Times New Roman"/>
              </a:rPr>
              <a:t>	</a:t>
            </a:r>
            <a:r>
              <a:rPr lang="en-US" sz="1400" b="1" dirty="0">
                <a:solidFill>
                  <a:schemeClr val="bg2"/>
                </a:solidFill>
                <a:latin typeface="Times New Roman" pitchFamily="18" charset="0"/>
                <a:ea typeface="Calibri" pitchFamily="34" charset="0"/>
                <a:cs typeface="Times New Roman" pitchFamily="18" charset="0"/>
                <a:sym typeface="Times New Roman"/>
              </a:rPr>
              <a:t>M5</a:t>
            </a:r>
            <a:r>
              <a:rPr lang="en-US" sz="1400" dirty="0">
                <a:solidFill>
                  <a:schemeClr val="bg2"/>
                </a:solidFill>
                <a:latin typeface="Times New Roman" pitchFamily="18" charset="0"/>
                <a:ea typeface="Calibri" pitchFamily="34" charset="0"/>
                <a:cs typeface="Times New Roman" pitchFamily="18" charset="0"/>
                <a:sym typeface="Times New Roman"/>
              </a:rPr>
              <a:t>:	To foster skills of leadership, management, communication, team spirit and strong professional 	ethics in all academic and societal </a:t>
            </a:r>
            <a:r>
              <a:rPr lang="en-US" sz="1400" dirty="0" err="1">
                <a:solidFill>
                  <a:schemeClr val="bg2"/>
                </a:solidFill>
                <a:latin typeface="Times New Roman" pitchFamily="18" charset="0"/>
                <a:ea typeface="Calibri" pitchFamily="34" charset="0"/>
                <a:cs typeface="Times New Roman" pitchFamily="18" charset="0"/>
                <a:sym typeface="Times New Roman"/>
              </a:rPr>
              <a:t>endeavours</a:t>
            </a:r>
            <a:r>
              <a:rPr lang="en-US" sz="1400" dirty="0">
                <a:solidFill>
                  <a:schemeClr val="bg2"/>
                </a:solidFill>
                <a:latin typeface="Times New Roman" pitchFamily="18" charset="0"/>
                <a:ea typeface="Calibri" pitchFamily="34" charset="0"/>
                <a:cs typeface="Times New Roman" pitchFamily="18" charset="0"/>
                <a:sym typeface="Times New Roman"/>
              </a:rPr>
              <a:t> of our students</a:t>
            </a:r>
            <a:endParaRPr sz="1400" i="0" u="none" dirty="0">
              <a:solidFill>
                <a:schemeClr val="dk1"/>
              </a:solidFill>
              <a:latin typeface="Times New Roman" pitchFamily="18" charset="0"/>
              <a:ea typeface="Calibri" pitchFamily="34" charset="0"/>
              <a:cs typeface="Times New Roman" pitchFamily="18" charset="0"/>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424B9B34-9C0F-715C-2FB8-BA90F045482A}"/>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080402570"/>
              </p:ext>
            </p:extLst>
          </p:nvPr>
        </p:nvGraphicFramePr>
        <p:xfrm>
          <a:off x="2315740" y="148856"/>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393404" y="786810"/>
            <a:ext cx="8399721" cy="4178595"/>
          </a:xfrm>
          <a:prstGeom prst="rect">
            <a:avLst/>
          </a:prstGeom>
          <a:noFill/>
          <a:ln>
            <a:noFill/>
          </a:ln>
        </p:spPr>
        <p:txBody>
          <a:bodyPr spcFirstLastPara="1" wrap="square" lIns="91425" tIns="45700" rIns="91425" bIns="45700" anchor="t" anchorCtr="0">
            <a:noAutofit/>
          </a:bodyPr>
          <a:lstStyle/>
          <a:p>
            <a:pPr marL="152400" indent="0" algn="just">
              <a:buNone/>
            </a:pPr>
            <a:r>
              <a:rPr lang="en-US" sz="1400" dirty="0">
                <a:solidFill>
                  <a:schemeClr val="bg2"/>
                </a:solidFill>
                <a:latin typeface="Times New Roman" pitchFamily="18" charset="0"/>
                <a:cs typeface="Times New Roman" pitchFamily="18" charset="0"/>
              </a:rPr>
              <a:t> </a:t>
            </a:r>
            <a:r>
              <a:rPr lang="en-US" sz="1400" b="1" dirty="0">
                <a:solidFill>
                  <a:schemeClr val="bg2"/>
                </a:solidFill>
                <a:latin typeface="Times New Roman" pitchFamily="18" charset="0"/>
                <a:cs typeface="Times New Roman" pitchFamily="18" charset="0"/>
              </a:rPr>
              <a:t>PEO1</a:t>
            </a:r>
            <a:r>
              <a:rPr lang="en-US" sz="1400" dirty="0">
                <a:solidFill>
                  <a:schemeClr val="bg2"/>
                </a:solidFill>
                <a:latin typeface="Times New Roman" pitchFamily="18" charset="0"/>
                <a:cs typeface="Times New Roman" pitchFamily="18" charset="0"/>
              </a:rPr>
              <a:t>: To be able to explore areas of research, technology application &amp; innovation and make a positive impact in different types of institutional settings such as corporate entities, government bodies, NGOs, inter-government organizations, &amp; start-ups.</a:t>
            </a:r>
          </a:p>
          <a:p>
            <a:pPr marL="152400" indent="0" algn="just">
              <a:buNone/>
            </a:pPr>
            <a:r>
              <a:rPr lang="en-US" sz="1400" b="1" dirty="0">
                <a:solidFill>
                  <a:schemeClr val="bg2"/>
                </a:solidFill>
                <a:latin typeface="Times New Roman" pitchFamily="18" charset="0"/>
                <a:cs typeface="Times New Roman" pitchFamily="18" charset="0"/>
              </a:rPr>
              <a:t> PEO2</a:t>
            </a:r>
            <a:r>
              <a:rPr lang="en-US" sz="1400" dirty="0">
                <a:solidFill>
                  <a:schemeClr val="bg2"/>
                </a:solidFill>
                <a:latin typeface="Times New Roman" pitchFamily="18" charset="0"/>
                <a:cs typeface="Times New Roman" pitchFamily="18" charset="0"/>
              </a:rPr>
              <a:t>: To be able to design, and implement technology and computing solutions to organizational problems, effectively deploy knowledge of engineering principles, demonstrate critical thinking skills &amp; make 	the intellectual connections between quantitative and qualitative tools, theories, and context to solve 	the organizational problems</a:t>
            </a:r>
          </a:p>
          <a:p>
            <a:pPr marL="152400" indent="0" algn="just">
              <a:buNone/>
            </a:pPr>
            <a:r>
              <a:rPr lang="en-US" sz="1400" b="1" dirty="0">
                <a:solidFill>
                  <a:schemeClr val="bg2"/>
                </a:solidFill>
                <a:latin typeface="Times New Roman" pitchFamily="18" charset="0"/>
                <a:cs typeface="Times New Roman" pitchFamily="18" charset="0"/>
              </a:rPr>
              <a:t> PEO3</a:t>
            </a:r>
            <a:r>
              <a:rPr lang="en-US" sz="1400" dirty="0">
                <a:solidFill>
                  <a:schemeClr val="bg2"/>
                </a:solidFill>
                <a:latin typeface="Times New Roman" pitchFamily="18" charset="0"/>
                <a:cs typeface="Times New Roman" pitchFamily="18" charset="0"/>
              </a:rPr>
              <a:t>: To be able to work with, lead &amp; engage big and small teams comprising diverse people in terms of gender, nationality, region, language, culture &amp; beliefs. To understand stated and unstated differences of views, beliefs &amp; customs in diverse &amp; interdisciplinary team settings</a:t>
            </a:r>
          </a:p>
          <a:p>
            <a:pPr marL="152400" indent="0" algn="just">
              <a:buNone/>
            </a:pPr>
            <a:r>
              <a:rPr lang="en-US" sz="1400" b="1" dirty="0">
                <a:solidFill>
                  <a:schemeClr val="bg2"/>
                </a:solidFill>
                <a:latin typeface="Times New Roman" pitchFamily="18" charset="0"/>
                <a:cs typeface="Times New Roman" pitchFamily="18" charset="0"/>
              </a:rPr>
              <a:t> PEO4</a:t>
            </a:r>
            <a:r>
              <a:rPr lang="en-US" sz="1400" dirty="0">
                <a:solidFill>
                  <a:schemeClr val="bg2"/>
                </a:solidFill>
                <a:latin typeface="Times New Roman" pitchFamily="18" charset="0"/>
                <a:cs typeface="Times New Roman" pitchFamily="18" charset="0"/>
              </a:rPr>
              <a:t>: To be able to continuously learn and update one’s knowledge, engage in lifelong learning habits and acquire latest knowledge to perform in current work settings</a:t>
            </a:r>
          </a:p>
          <a:p>
            <a:pPr marL="152400" indent="0" algn="just">
              <a:buNone/>
            </a:pPr>
            <a:r>
              <a:rPr lang="en-US" sz="1400" b="1" dirty="0">
                <a:solidFill>
                  <a:schemeClr val="bg2"/>
                </a:solidFill>
                <a:latin typeface="Times New Roman" pitchFamily="18" charset="0"/>
                <a:cs typeface="Times New Roman" pitchFamily="18" charset="0"/>
              </a:rPr>
              <a:t> PEO5</a:t>
            </a:r>
            <a:r>
              <a:rPr lang="en-US" sz="1400" dirty="0">
                <a:solidFill>
                  <a:schemeClr val="bg2"/>
                </a:solidFill>
                <a:latin typeface="Times New Roman" pitchFamily="18" charset="0"/>
                <a:cs typeface="Times New Roman" pitchFamily="18" charset="0"/>
              </a:rPr>
              <a:t>: To continuously strive for justice, ethics, equality, honesty, and integrity both in personal and professional pursuits. Able to understand and conduct in a way that is responsible and respectful.</a:t>
            </a:r>
          </a:p>
          <a:p>
            <a:pPr marL="152400" indent="0" algn="just">
              <a:buNone/>
            </a:pPr>
            <a:r>
              <a:rPr lang="en-US" sz="1400" dirty="0">
                <a:solidFill>
                  <a:schemeClr val="bg2"/>
                </a:solidFill>
              </a:rPr>
              <a:t>.</a:t>
            </a:r>
            <a:endParaRPr sz="1400" i="0" u="none" dirty="0">
              <a:solidFill>
                <a:schemeClr val="bg2"/>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0178A805-F6DC-E632-5BD4-F9A6EFB87C6F}"/>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3598386880"/>
              </p:ext>
            </p:extLst>
          </p:nvPr>
        </p:nvGraphicFramePr>
        <p:xfrm>
          <a:off x="1664191" y="896598"/>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654405" y="1389721"/>
            <a:ext cx="8001000" cy="356142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PO1: Engineering knowledge: </a:t>
            </a:r>
            <a:r>
              <a:rPr lang="en-US" sz="1400" dirty="0">
                <a:solidFill>
                  <a:srgbClr val="262626"/>
                </a:solidFill>
                <a:latin typeface="Times New Roman"/>
                <a:ea typeface="Times New Roman"/>
                <a:cs typeface="Times New Roman"/>
                <a:sym typeface="Times New Roman"/>
              </a:rPr>
              <a:t>Apply the knowledge of Mathematics, Science, Engineering fundamentals and computer science fundamental and strategies which have the solution of complex computer science engineering problems.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PO2: Problem analysis: </a:t>
            </a:r>
            <a:r>
              <a:rPr lang="en-US" sz="1400" dirty="0">
                <a:solidFill>
                  <a:srgbClr val="262626"/>
                </a:solidFill>
                <a:latin typeface="Times New Roman"/>
                <a:ea typeface="Times New Roman"/>
                <a:cs typeface="Times New Roman"/>
                <a:sym typeface="Times New Roman"/>
              </a:rPr>
              <a:t>Identify, formulate, research literature, and analyze complex computer science engineering problems reaching substantiated conclusions using first principles of mathematics, natural sciences, and engineering sciences.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PO3: Design/development of solutions</a:t>
            </a:r>
            <a:r>
              <a:rPr lang="en-US" sz="1400" dirty="0">
                <a:solidFill>
                  <a:srgbClr val="262626"/>
                </a:solidFill>
                <a:latin typeface="Times New Roman"/>
                <a:ea typeface="Times New Roman"/>
                <a:cs typeface="Times New Roman"/>
                <a:sym typeface="Times New Roman"/>
              </a:rPr>
              <a:t>: Design solutions for complex database and software engineering problems and design system components or processes that meet the specified needs with appropriate considerations for the public health and safety, and the cultural, societal, and environmental considerations.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PO4: Conduct investigations of complex problems</a:t>
            </a:r>
            <a:r>
              <a:rPr lang="en-US" sz="1400" dirty="0">
                <a:solidFill>
                  <a:srgbClr val="262626"/>
                </a:solidFill>
                <a:latin typeface="Times New Roman"/>
                <a:ea typeface="Times New Roman"/>
                <a:cs typeface="Times New Roman"/>
                <a:sym typeface="Times New Roman"/>
              </a:rPr>
              <a:t>: Use research-based knowledge and research methods including design of software engineering &amp; networking based experiments, analysis and Interpretation of data, and synthesis of the information to provide valid conclusions.</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D3411C81-D3E5-BB71-6A59-9DFD62E6A984}"/>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2110147778"/>
              </p:ext>
            </p:extLst>
          </p:nvPr>
        </p:nvGraphicFramePr>
        <p:xfrm>
          <a:off x="1476814" y="823035"/>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654405" y="1389721"/>
            <a:ext cx="8001000" cy="356142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PO5: Modern tool usage</a:t>
            </a:r>
            <a:r>
              <a:rPr lang="en-US" sz="1400" dirty="0">
                <a:solidFill>
                  <a:srgbClr val="262626"/>
                </a:solidFill>
                <a:latin typeface="Times New Roman"/>
                <a:ea typeface="Times New Roman"/>
                <a:cs typeface="Times New Roman"/>
                <a:sym typeface="Times New Roman"/>
              </a:rPr>
              <a:t>: Create, select, and apply appropriate techniques, resources, and modern Computer science engineering and IT tools including prediction and modeling to complex database or software engineering activities with an understanding of the limitations.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PO6: The engineer and society</a:t>
            </a:r>
            <a:r>
              <a:rPr lang="en-US" sz="1400" dirty="0">
                <a:solidFill>
                  <a:srgbClr val="262626"/>
                </a:solidFill>
                <a:latin typeface="Times New Roman"/>
                <a:ea typeface="Times New Roman"/>
                <a:cs typeface="Times New Roman"/>
                <a:sym typeface="Times New Roman"/>
              </a:rPr>
              <a:t>: Apply reasoning informed by the contextual knowledge to assess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dirty="0">
                <a:solidFill>
                  <a:srgbClr val="262626"/>
                </a:solidFill>
                <a:latin typeface="Times New Roman"/>
                <a:ea typeface="Times New Roman"/>
                <a:cs typeface="Times New Roman"/>
                <a:sym typeface="Times New Roman"/>
              </a:rPr>
              <a:t>	Social, health, safety, legal and cultural issues and the consequent responsibilities relevant to the Professional Computer Science &amp; Engineering practice.</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PO7: Environment and sustainability</a:t>
            </a:r>
            <a:r>
              <a:rPr lang="en-US" sz="1400" dirty="0">
                <a:solidFill>
                  <a:srgbClr val="262626"/>
                </a:solidFill>
                <a:latin typeface="Times New Roman"/>
                <a:ea typeface="Times New Roman"/>
                <a:cs typeface="Times New Roman"/>
                <a:sym typeface="Times New Roman"/>
              </a:rPr>
              <a:t>: Understand the impact of the professional computer science and engineering solutions in social and environmental contexts, and demonstrate the knowledge of, and need for sustainable development goals.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PO8: Ethics</a:t>
            </a:r>
            <a:r>
              <a:rPr lang="en-US" sz="1400" dirty="0">
                <a:solidFill>
                  <a:srgbClr val="262626"/>
                </a:solidFill>
                <a:latin typeface="Times New Roman"/>
                <a:ea typeface="Times New Roman"/>
                <a:cs typeface="Times New Roman"/>
                <a:sym typeface="Times New Roman"/>
              </a:rPr>
              <a:t>: Apply ethical principles and commit to professional ethics and responsibilities and norms of computer science engineering practice</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5D514340-CB45-E446-50B2-4210433B9D57}"/>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1304153240"/>
              </p:ext>
            </p:extLst>
          </p:nvPr>
        </p:nvGraphicFramePr>
        <p:xfrm>
          <a:off x="1825362" y="896598"/>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654405" y="1389721"/>
            <a:ext cx="8001000" cy="356142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PO9: Individual and team work</a:t>
            </a:r>
            <a:r>
              <a:rPr lang="en-US" sz="1400" dirty="0">
                <a:solidFill>
                  <a:srgbClr val="262626"/>
                </a:solidFill>
                <a:latin typeface="Times New Roman"/>
                <a:ea typeface="Times New Roman"/>
                <a:cs typeface="Times New Roman"/>
                <a:sym typeface="Times New Roman"/>
              </a:rPr>
              <a:t>: Function effectively as an individual, and as a member or leader in diverse teams, and in multidisciplinary settings.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PO10: Communication</a:t>
            </a:r>
            <a:r>
              <a:rPr lang="en-US" sz="1400" dirty="0">
                <a:solidFill>
                  <a:srgbClr val="262626"/>
                </a:solidFill>
                <a:latin typeface="Times New Roman"/>
                <a:ea typeface="Times New Roman"/>
                <a:cs typeface="Times New Roman"/>
                <a:sym typeface="Times New Roman"/>
              </a:rPr>
              <a:t>: Communicate effectively on complex computer science engineering activities with the engineering community like CSI society at large, such as, being able to comprehend and write effective reports and design documentation, make effective presentations, and give and receive clear instructions.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PO11: Project management and finance</a:t>
            </a:r>
            <a:r>
              <a:rPr lang="en-US" sz="1400" dirty="0">
                <a:solidFill>
                  <a:srgbClr val="262626"/>
                </a:solidFill>
                <a:latin typeface="Times New Roman"/>
                <a:ea typeface="Times New Roman"/>
                <a:cs typeface="Times New Roman"/>
                <a:sym typeface="Times New Roman"/>
              </a:rPr>
              <a:t>: Demonstrate knowledge and understanding of the computer science engineering and management principles and apply these to one’s own work, as a member and leader in a team, to manage projects and in multidisciplinary environments.</a:t>
            </a:r>
            <a:endParaRPr lang="en-US" sz="1400" dirty="0">
              <a:latin typeface="Times New Roman"/>
              <a:ea typeface="Times New Roman"/>
              <a:cs typeface="Times New Roman"/>
              <a:sym typeface="Times New Roman"/>
            </a:endParaRPr>
          </a:p>
          <a:p>
            <a:pPr marL="342900" lvl="0" indent="-342900" algn="just" rtl="0">
              <a:spcBef>
                <a:spcPts val="360"/>
              </a:spcBef>
              <a:spcAft>
                <a:spcPts val="0"/>
              </a:spcAft>
              <a:buClr>
                <a:srgbClr val="262626"/>
              </a:buClr>
              <a:buSzPts val="1800"/>
              <a:buNone/>
            </a:pPr>
            <a:r>
              <a:rPr lang="en-US" sz="1400" b="1" dirty="0">
                <a:solidFill>
                  <a:srgbClr val="262626"/>
                </a:solidFill>
                <a:latin typeface="Times New Roman"/>
                <a:ea typeface="Times New Roman"/>
                <a:cs typeface="Times New Roman"/>
                <a:sym typeface="Times New Roman"/>
              </a:rPr>
              <a:t>	PO12: Life-long learning</a:t>
            </a:r>
            <a:r>
              <a:rPr lang="en-US" sz="1400" dirty="0">
                <a:solidFill>
                  <a:srgbClr val="262626"/>
                </a:solidFill>
                <a:latin typeface="Times New Roman"/>
                <a:ea typeface="Times New Roman"/>
                <a:cs typeface="Times New Roman"/>
                <a:sym typeface="Times New Roman"/>
              </a:rPr>
              <a:t>: Recognize the need for, and have the preparation and ability to engage in independent and life- long learning in the broadest context of computer science engineering changes.</a:t>
            </a:r>
            <a:endParaRPr lang="en-US" sz="1400" dirty="0">
              <a:latin typeface="Times New Roman"/>
              <a:ea typeface="Times New Roman"/>
              <a:cs typeface="Times New Roman"/>
              <a:sym typeface="Times New Roman"/>
            </a:endParaRP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D9AB5EED-C23E-2C24-5A5D-6105D69DD4EA}"/>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4209103359"/>
              </p:ext>
            </p:extLst>
          </p:nvPr>
        </p:nvGraphicFramePr>
        <p:xfrm>
          <a:off x="1731647" y="368994"/>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680483" y="826194"/>
            <a:ext cx="7985553" cy="4317305"/>
          </a:xfrm>
          <a:prstGeom prst="rect">
            <a:avLst/>
          </a:prstGeom>
          <a:noFill/>
          <a:ln>
            <a:noFill/>
          </a:ln>
        </p:spPr>
        <p:txBody>
          <a:bodyPr spcFirstLastPara="1" wrap="square" lIns="91425" tIns="45700" rIns="91425" bIns="45700" anchor="t" anchorCtr="0">
            <a:noAutofit/>
          </a:bodyPr>
          <a:lstStyle/>
          <a:p>
            <a:pPr>
              <a:buNone/>
            </a:pPr>
            <a:r>
              <a:rPr lang="en-US" sz="1400" b="1" dirty="0">
                <a:solidFill>
                  <a:schemeClr val="bg2"/>
                </a:solidFill>
                <a:latin typeface="Times New Roman" pitchFamily="18" charset="0"/>
                <a:cs typeface="Times New Roman" pitchFamily="18" charset="0"/>
              </a:rPr>
              <a:t>	PO13</a:t>
            </a:r>
            <a:r>
              <a:rPr lang="en-US" sz="1400" dirty="0">
                <a:solidFill>
                  <a:schemeClr val="bg2"/>
                </a:solidFill>
                <a:latin typeface="Times New Roman" pitchFamily="18" charset="0"/>
                <a:cs typeface="Times New Roman" pitchFamily="18" charset="0"/>
              </a:rPr>
              <a:t>: Demonstrate the capability to apply analytic thought to a body of knowledge, including the analysis and evaluation of policies, and practices. Identify relevant assumptions or implications, logical flaws and loopholes in the presented arguments.</a:t>
            </a:r>
          </a:p>
          <a:p>
            <a:pPr>
              <a:buNone/>
            </a:pPr>
            <a:r>
              <a:rPr lang="en-US" sz="1400" b="1" dirty="0">
                <a:solidFill>
                  <a:schemeClr val="bg2"/>
                </a:solidFill>
                <a:latin typeface="Times New Roman" pitchFamily="18" charset="0"/>
                <a:cs typeface="Times New Roman" pitchFamily="18" charset="0"/>
              </a:rPr>
              <a:t>	PO14</a:t>
            </a:r>
            <a:r>
              <a:rPr lang="en-US" sz="1400" dirty="0">
                <a:solidFill>
                  <a:schemeClr val="bg2"/>
                </a:solidFill>
                <a:latin typeface="Times New Roman" pitchFamily="18" charset="0"/>
                <a:cs typeface="Times New Roman" pitchFamily="18" charset="0"/>
              </a:rPr>
              <a:t>: Demonstrate to create, perform, or think in different and diverse ways about the given scenario. Innovate and perform tasks in a better manner, view a problem or a situation from multiple perspectives, think ‘out of the box’ and generate solutions to complex problems in unfamiliar contexts.</a:t>
            </a:r>
          </a:p>
          <a:p>
            <a:pPr>
              <a:buNone/>
            </a:pPr>
            <a:r>
              <a:rPr lang="en-US" sz="1400" b="1" dirty="0">
                <a:solidFill>
                  <a:schemeClr val="bg2"/>
                </a:solidFill>
                <a:latin typeface="Times New Roman" pitchFamily="18" charset="0"/>
                <a:cs typeface="Times New Roman" pitchFamily="18" charset="0"/>
              </a:rPr>
              <a:t>	PO15</a:t>
            </a:r>
            <a:r>
              <a:rPr lang="en-US" sz="1400" dirty="0">
                <a:solidFill>
                  <a:schemeClr val="bg2"/>
                </a:solidFill>
                <a:latin typeface="Times New Roman" pitchFamily="18" charset="0"/>
                <a:cs typeface="Times New Roman" pitchFamily="18" charset="0"/>
              </a:rPr>
              <a:t>: Demonstrate the ability to identify with or understand the perspective, experiences, or points of view of another individual or group, and to identify and understand other people’s emotions.</a:t>
            </a:r>
          </a:p>
          <a:p>
            <a:pPr>
              <a:buNone/>
            </a:pPr>
            <a:r>
              <a:rPr lang="en-US" sz="1400" b="1" dirty="0">
                <a:solidFill>
                  <a:schemeClr val="bg2"/>
                </a:solidFill>
                <a:latin typeface="Times New Roman" pitchFamily="18" charset="0"/>
                <a:cs typeface="Times New Roman" pitchFamily="18" charset="0"/>
              </a:rPr>
              <a:t>	PO16</a:t>
            </a:r>
            <a:r>
              <a:rPr lang="en-US" sz="1400" dirty="0">
                <a:solidFill>
                  <a:schemeClr val="bg2"/>
                </a:solidFill>
                <a:latin typeface="Times New Roman" pitchFamily="18" charset="0"/>
                <a:cs typeface="Times New Roman" pitchFamily="18" charset="0"/>
              </a:rPr>
              <a:t>: Demonstrate the ability to participate in community-engaged services/ activities for promoting the well-being of society.</a:t>
            </a:r>
          </a:p>
          <a:p>
            <a:pPr>
              <a:buNone/>
            </a:pPr>
            <a:r>
              <a:rPr lang="en-US" sz="1400" b="1" dirty="0">
                <a:solidFill>
                  <a:schemeClr val="bg2"/>
                </a:solidFill>
                <a:latin typeface="Times New Roman" pitchFamily="18" charset="0"/>
                <a:cs typeface="Times New Roman" pitchFamily="18" charset="0"/>
              </a:rPr>
              <a:t>	PO17</a:t>
            </a:r>
            <a:r>
              <a:rPr lang="en-US" sz="1400" dirty="0">
                <a:solidFill>
                  <a:schemeClr val="bg2"/>
                </a:solidFill>
                <a:latin typeface="Times New Roman" pitchFamily="18" charset="0"/>
                <a:cs typeface="Times New Roman" pitchFamily="18" charset="0"/>
              </a:rPr>
              <a:t>: Demonstrate the acquisition of knowledge of the values and beliefs of multiple cultures, capability to effectively engage in a multicultural group/society and interact respectfully with diverse groups and gender sensitivity and adopting a gender-neutral approach, as also empathy for the less advantaged and the differently-</a:t>
            </a:r>
            <a:r>
              <a:rPr lang="en-US" sz="1400" dirty="0" err="1">
                <a:solidFill>
                  <a:schemeClr val="bg2"/>
                </a:solidFill>
                <a:latin typeface="Times New Roman" pitchFamily="18" charset="0"/>
                <a:cs typeface="Times New Roman" pitchFamily="18" charset="0"/>
              </a:rPr>
              <a:t>abled</a:t>
            </a:r>
            <a:r>
              <a:rPr lang="en-US" sz="1400" dirty="0">
                <a:solidFill>
                  <a:schemeClr val="bg2"/>
                </a:solidFill>
                <a:latin typeface="Times New Roman" pitchFamily="18" charset="0"/>
                <a:cs typeface="Times New Roman" pitchFamily="18" charset="0"/>
              </a:rPr>
              <a:t> including those with learning disabilities.</a:t>
            </a:r>
          </a:p>
          <a:p>
            <a:pPr marL="342900" marR="0" lvl="0" indent="-190500" algn="l" rtl="0">
              <a:spcBef>
                <a:spcPts val="480"/>
              </a:spcBef>
              <a:spcAft>
                <a:spcPts val="0"/>
              </a:spcAft>
              <a:buClr>
                <a:schemeClr val="dk1"/>
              </a:buClr>
              <a:buSzPts val="2400"/>
              <a:buFont typeface="Arial"/>
              <a:buNone/>
            </a:pPr>
            <a:endParaRPr sz="1400" b="0" i="0" u="none" dirty="0">
              <a:solidFill>
                <a:schemeClr val="dk1"/>
              </a:solidFill>
              <a:latin typeface="Times New Roman"/>
              <a:ea typeface="Times New Roman"/>
              <a:cs typeface="Times New Roman"/>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F7FE3306-AD5C-8C89-BC0B-20DF6F2275BB}"/>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D8A43D2-4456-AB30-D6E0-DD105B4068C6}"/>
              </a:ext>
            </a:extLst>
          </p:cNvPr>
          <p:cNvGraphicFramePr/>
          <p:nvPr>
            <p:extLst>
              <p:ext uri="{D42A27DB-BD31-4B8C-83A1-F6EECF244321}">
                <p14:modId xmlns:p14="http://schemas.microsoft.com/office/powerpoint/2010/main" val="4219375145"/>
              </p:ext>
            </p:extLst>
          </p:nvPr>
        </p:nvGraphicFramePr>
        <p:xfrm>
          <a:off x="1607561" y="963113"/>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p:cNvSpPr txBox="1">
            <a:spLocks noGrp="1"/>
          </p:cNvSpPr>
          <p:nvPr>
            <p:ph type="body" idx="1"/>
          </p:nvPr>
        </p:nvSpPr>
        <p:spPr>
          <a:xfrm>
            <a:off x="654237" y="1486829"/>
            <a:ext cx="8001000" cy="3360234"/>
          </a:xfrm>
          <a:prstGeom prst="rect">
            <a:avLst/>
          </a:prstGeom>
          <a:noFill/>
          <a:ln>
            <a:noFill/>
          </a:ln>
        </p:spPr>
        <p:txBody>
          <a:bodyPr spcFirstLastPara="1" wrap="square" lIns="91425" tIns="45700" rIns="91425" bIns="45700" anchor="t" anchorCtr="0">
            <a:noAutofit/>
          </a:bodyPr>
          <a:lstStyle/>
          <a:p>
            <a:pPr marL="438150" indent="-285750">
              <a:buNone/>
            </a:pPr>
            <a:r>
              <a:rPr lang="en-US" sz="1400" b="1" dirty="0">
                <a:solidFill>
                  <a:schemeClr val="bg2"/>
                </a:solidFill>
                <a:latin typeface="Times New Roman" panose="02020603050405020304" pitchFamily="18" charset="0"/>
                <a:cs typeface="Times New Roman" panose="02020603050405020304" pitchFamily="18" charset="0"/>
              </a:rPr>
              <a:t>	PSO1:</a:t>
            </a:r>
            <a:r>
              <a:rPr lang="en-US" sz="1400" dirty="0">
                <a:solidFill>
                  <a:schemeClr val="bg2"/>
                </a:solidFill>
                <a:latin typeface="Times New Roman" pitchFamily="18" charset="0"/>
                <a:cs typeface="Times New Roman" pitchFamily="18" charset="0"/>
              </a:rPr>
              <a:t>The graduating student will be able to illustrate the use of cloud for attaining reliable and fault-tolerant IT solutions by using and understanding use cases, benefits and services offered by cloud providers in order.</a:t>
            </a:r>
          </a:p>
          <a:p>
            <a:pPr marL="438150" indent="-285750">
              <a:buNone/>
            </a:pPr>
            <a:r>
              <a:rPr lang="en-US" sz="1400" b="1" dirty="0">
                <a:solidFill>
                  <a:schemeClr val="bg2"/>
                </a:solidFill>
                <a:latin typeface="Times New Roman" panose="02020603050405020304" pitchFamily="18" charset="0"/>
                <a:cs typeface="Times New Roman" panose="02020603050405020304" pitchFamily="18" charset="0"/>
              </a:rPr>
              <a:t>	PSO2:</a:t>
            </a:r>
            <a:r>
              <a:rPr lang="en-US" sz="1400" dirty="0">
                <a:solidFill>
                  <a:schemeClr val="bg2"/>
                </a:solidFill>
                <a:latin typeface="Times New Roman" pitchFamily="18" charset="0"/>
                <a:cs typeface="Times New Roman" pitchFamily="18" charset="0"/>
              </a:rPr>
              <a:t>The graduating student will be able to compare, contrast, and evaluate the key trade-offs between multiple approaches to cloud system design, and identify appropriate design choices when solving real-world cloud computing problems.</a:t>
            </a:r>
          </a:p>
          <a:p>
            <a:pPr marL="438150" indent="-285750">
              <a:buNone/>
            </a:pPr>
            <a:r>
              <a:rPr lang="en-US" sz="1400" b="1" dirty="0">
                <a:solidFill>
                  <a:schemeClr val="bg2"/>
                </a:solidFill>
                <a:latin typeface="Times New Roman" pitchFamily="18" charset="0"/>
                <a:cs typeface="Times New Roman" pitchFamily="18" charset="0"/>
              </a:rPr>
              <a:t>	PSO3</a:t>
            </a:r>
            <a:r>
              <a:rPr lang="en-US" sz="1400" dirty="0">
                <a:solidFill>
                  <a:schemeClr val="bg2"/>
                </a:solidFill>
                <a:latin typeface="Times New Roman" pitchFamily="18" charset="0"/>
                <a:cs typeface="Times New Roman" pitchFamily="18" charset="0"/>
              </a:rPr>
              <a:t>:The graduating student will be able to configure hybrid solutions considering the security and compliance of cloud platforms and exhibit proficiency in architecting </a:t>
            </a:r>
            <a:r>
              <a:rPr lang="en-US" sz="1400" dirty="0" err="1">
                <a:solidFill>
                  <a:schemeClr val="bg2"/>
                </a:solidFill>
                <a:latin typeface="Times New Roman" pitchFamily="18" charset="0"/>
                <a:cs typeface="Times New Roman" pitchFamily="18" charset="0"/>
              </a:rPr>
              <a:t>serverless</a:t>
            </a:r>
            <a:r>
              <a:rPr lang="en-US" sz="1400" dirty="0">
                <a:solidFill>
                  <a:schemeClr val="bg2"/>
                </a:solidFill>
                <a:latin typeface="Times New Roman" pitchFamily="18" charset="0"/>
                <a:cs typeface="Times New Roman" pitchFamily="18" charset="0"/>
              </a:rPr>
              <a:t> solutions to real world problems.</a:t>
            </a:r>
            <a:endParaRPr lang="en-US" sz="1400" b="0" i="0" u="none" dirty="0">
              <a:solidFill>
                <a:schemeClr val="bg2"/>
              </a:solidFill>
              <a:latin typeface="Times New Roman" pitchFamily="18" charset="0"/>
              <a:ea typeface="Times New Roman"/>
              <a:cs typeface="Times New Roman" pitchFamily="18" charset="0"/>
              <a:sym typeface="Times New Roman"/>
            </a:endParaRPr>
          </a:p>
        </p:txBody>
      </p:sp>
      <p:pic>
        <p:nvPicPr>
          <p:cNvPr id="118" name="Google Shape;118;p17"/>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010B0BFD-B9B5-6719-2A71-1C984FD0CEC7}"/>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 name="Title 11"/>
          <p:cNvSpPr>
            <a:spLocks noGrp="1"/>
          </p:cNvSpPr>
          <p:nvPr>
            <p:ph type="title"/>
          </p:nvPr>
        </p:nvSpPr>
        <p:spPr>
          <a:xfrm>
            <a:off x="596011" y="1044056"/>
            <a:ext cx="3889146" cy="994172"/>
          </a:xfrm>
        </p:spPr>
        <p:txBody>
          <a:bodyPr>
            <a:normAutofit fontScale="90000"/>
          </a:bodyPr>
          <a:lstStyle/>
          <a:p>
            <a:pPr algn="ctr"/>
            <a:r>
              <a:rPr lang="en-US" b="1" dirty="0">
                <a:solidFill>
                  <a:srgbClr val="FF0000"/>
                </a:solidFill>
              </a:rPr>
              <a:t>Hierarchy of Students for addressing their issues</a:t>
            </a:r>
          </a:p>
        </p:txBody>
      </p:sp>
      <p:pic>
        <p:nvPicPr>
          <p:cNvPr id="14" name="Content Placeholder 13"/>
          <p:cNvPicPr>
            <a:picLocks noGrp="1" noChangeAspect="1"/>
          </p:cNvPicPr>
          <p:nvPr>
            <p:ph idx="1"/>
          </p:nvPr>
        </p:nvPicPr>
        <p:blipFill>
          <a:blip r:embed="rId2"/>
          <a:stretch>
            <a:fillRect/>
          </a:stretch>
        </p:blipFill>
        <p:spPr>
          <a:xfrm>
            <a:off x="914440" y="2064526"/>
            <a:ext cx="3252289" cy="2731441"/>
          </a:xfrm>
          <a:prstGeom prst="rect">
            <a:avLst/>
          </a:prstGeom>
        </p:spPr>
      </p:pic>
      <p:pic>
        <p:nvPicPr>
          <p:cNvPr id="15" name="Picture 14"/>
          <p:cNvPicPr>
            <a:picLocks noChangeAspect="1"/>
          </p:cNvPicPr>
          <p:nvPr/>
        </p:nvPicPr>
        <p:blipFill>
          <a:blip r:embed="rId3"/>
          <a:stretch>
            <a:fillRect/>
          </a:stretch>
        </p:blipFill>
        <p:spPr>
          <a:xfrm>
            <a:off x="4814741" y="1889947"/>
            <a:ext cx="3457280" cy="1227777"/>
          </a:xfrm>
          <a:prstGeom prst="rect">
            <a:avLst/>
          </a:prstGeom>
        </p:spPr>
      </p:pic>
      <p:sp>
        <p:nvSpPr>
          <p:cNvPr id="21" name="Title 1"/>
          <p:cNvSpPr txBox="1">
            <a:spLocks/>
          </p:cNvSpPr>
          <p:nvPr/>
        </p:nvSpPr>
        <p:spPr>
          <a:xfrm>
            <a:off x="4256202" y="1604914"/>
            <a:ext cx="4288927" cy="57006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50000"/>
              </a:lnSpc>
              <a:buClr>
                <a:srgbClr val="212121"/>
              </a:buClr>
              <a:buSzPts val="3000"/>
            </a:pPr>
            <a:r>
              <a:rPr lang="en-US" sz="2100" b="1" dirty="0">
                <a:solidFill>
                  <a:prstClr val="black"/>
                </a:solidFill>
                <a:latin typeface="Times New Roman" panose="02020603050405020304" pitchFamily="18" charset="0"/>
                <a:cs typeface="Times New Roman" panose="02020603050405020304" pitchFamily="18" charset="0"/>
                <a:sym typeface="Calibri"/>
              </a:rPr>
              <a:t>CONNECT TO COUNSELLOR </a:t>
            </a:r>
            <a:br>
              <a:rPr lang="en-IN" sz="3300" dirty="0">
                <a:solidFill>
                  <a:prstClr val="black"/>
                </a:solidFill>
                <a:latin typeface="Calibri Light" panose="020F0302020204030204"/>
              </a:rPr>
            </a:br>
            <a:endParaRPr lang="en-US" sz="3300" dirty="0">
              <a:solidFill>
                <a:prstClr val="black"/>
              </a:solidFill>
              <a:latin typeface="Calibri Light" panose="020F0302020204030204"/>
              <a:sym typeface="Calibri"/>
            </a:endParaRPr>
          </a:p>
        </p:txBody>
      </p:sp>
      <p:sp>
        <p:nvSpPr>
          <p:cNvPr id="22" name="TextBox 21"/>
          <p:cNvSpPr txBox="1"/>
          <p:nvPr/>
        </p:nvSpPr>
        <p:spPr>
          <a:xfrm>
            <a:off x="4348113" y="3591613"/>
            <a:ext cx="4001679" cy="507831"/>
          </a:xfrm>
          <a:prstGeom prst="rect">
            <a:avLst/>
          </a:prstGeom>
          <a:noFill/>
        </p:spPr>
        <p:txBody>
          <a:bodyPr wrap="square" rtlCol="0">
            <a:spAutoFit/>
          </a:bodyPr>
          <a:lstStyle/>
          <a:p>
            <a:pPr defTabSz="685800">
              <a:buClrTx/>
            </a:pPr>
            <a:r>
              <a:rPr lang="en-US" sz="1350" b="1" kern="1200" dirty="0">
                <a:solidFill>
                  <a:prstClr val="black"/>
                </a:solidFill>
                <a:latin typeface="Calibri" panose="020F0502020204030204"/>
                <a:ea typeface="+mn-ea"/>
                <a:cs typeface="+mn-cs"/>
              </a:rPr>
              <a:t>Note:</a:t>
            </a:r>
            <a:r>
              <a:rPr lang="en-US" sz="1350" kern="1200" dirty="0">
                <a:solidFill>
                  <a:prstClr val="black"/>
                </a:solidFill>
                <a:latin typeface="Calibri" panose="020F0502020204030204"/>
                <a:ea typeface="+mn-ea"/>
                <a:cs typeface="+mn-cs"/>
              </a:rPr>
              <a:t> Students are advised to communicate only through their </a:t>
            </a:r>
            <a:r>
              <a:rPr lang="en-US" sz="1350" b="1" kern="1200" dirty="0">
                <a:solidFill>
                  <a:prstClr val="black"/>
                </a:solidFill>
                <a:latin typeface="Calibri" panose="020F0502020204030204"/>
                <a:ea typeface="+mn-ea"/>
                <a:cs typeface="+mn-cs"/>
              </a:rPr>
              <a:t>official email IDs</a:t>
            </a:r>
            <a:r>
              <a:rPr lang="en-US" sz="1350" kern="1200" dirty="0">
                <a:solidFill>
                  <a:prstClr val="black"/>
                </a:solidFill>
                <a:latin typeface="Calibri" panose="020F0502020204030204"/>
                <a:ea typeface="+mn-ea"/>
                <a:cs typeface="+mn-cs"/>
              </a:rPr>
              <a:t>.</a:t>
            </a:r>
          </a:p>
        </p:txBody>
      </p:sp>
      <p:pic>
        <p:nvPicPr>
          <p:cNvPr id="23" name="Picture 22"/>
          <p:cNvPicPr>
            <a:picLocks noChangeAspect="1"/>
          </p:cNvPicPr>
          <p:nvPr/>
        </p:nvPicPr>
        <p:blipFill>
          <a:blip r:embed="rId4"/>
          <a:stretch>
            <a:fillRect/>
          </a:stretch>
        </p:blipFill>
        <p:spPr>
          <a:xfrm>
            <a:off x="342860" y="155844"/>
            <a:ext cx="571580" cy="957396"/>
          </a:xfrm>
          <a:prstGeom prst="rect">
            <a:avLst/>
          </a:prstGeom>
        </p:spPr>
      </p:pic>
      <p:pic>
        <p:nvPicPr>
          <p:cNvPr id="24" name="Picture 23"/>
          <p:cNvPicPr>
            <a:picLocks noChangeAspect="1"/>
          </p:cNvPicPr>
          <p:nvPr/>
        </p:nvPicPr>
        <p:blipFill>
          <a:blip r:embed="rId5"/>
          <a:stretch>
            <a:fillRect/>
          </a:stretch>
        </p:blipFill>
        <p:spPr>
          <a:xfrm>
            <a:off x="7100836" y="110676"/>
            <a:ext cx="1786187" cy="785922"/>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lang="en-US" b="1" dirty="0" err="1">
                <a:solidFill>
                  <a:srgbClr val="FF0000"/>
                </a:solidFill>
              </a:rPr>
              <a:t>HoD</a:t>
            </a:r>
            <a:r>
              <a:rPr lang="en-US" b="1" dirty="0">
                <a:solidFill>
                  <a:srgbClr val="FF0000"/>
                </a:solidFill>
              </a:rPr>
              <a:t> Office(504,Block D2)</a:t>
            </a:r>
          </a:p>
        </p:txBody>
      </p:sp>
      <p:sp>
        <p:nvSpPr>
          <p:cNvPr id="3" name="Content Placeholder 2"/>
          <p:cNvSpPr>
            <a:spLocks noGrp="1"/>
          </p:cNvSpPr>
          <p:nvPr>
            <p:ph idx="1"/>
          </p:nvPr>
        </p:nvSpPr>
        <p:spPr/>
        <p:txBody>
          <a:bodyPr/>
          <a:lstStyle/>
          <a:p>
            <a:r>
              <a:rPr lang="en-US" dirty="0"/>
              <a:t>Dr. Suresh </a:t>
            </a:r>
            <a:r>
              <a:rPr lang="en-US" dirty="0" err="1"/>
              <a:t>Kaswan</a:t>
            </a:r>
            <a:r>
              <a:rPr lang="en-US" dirty="0"/>
              <a:t>- </a:t>
            </a:r>
            <a:r>
              <a:rPr lang="en-US" dirty="0" err="1"/>
              <a:t>HoD</a:t>
            </a:r>
            <a:r>
              <a:rPr lang="en-US" dirty="0"/>
              <a:t>, AIT-CSE(AIML)</a:t>
            </a:r>
          </a:p>
          <a:p>
            <a:r>
              <a:rPr lang="en-US" dirty="0"/>
              <a:t>Ms. </a:t>
            </a:r>
            <a:r>
              <a:rPr lang="en-US" dirty="0" err="1"/>
              <a:t>Richa</a:t>
            </a:r>
            <a:r>
              <a:rPr lang="en-US" dirty="0"/>
              <a:t> Tiwari-Administrative Coordinator, AIT-CSE(AIML)</a:t>
            </a:r>
          </a:p>
          <a:p>
            <a:r>
              <a:rPr lang="en-US" dirty="0"/>
              <a:t>Ms. </a:t>
            </a:r>
            <a:r>
              <a:rPr lang="en-US" dirty="0" err="1"/>
              <a:t>Reshma</a:t>
            </a:r>
            <a:r>
              <a:rPr lang="en-US" dirty="0"/>
              <a:t>- Administrative Coordinator, AIT-CSE(AIML)</a:t>
            </a:r>
          </a:p>
          <a:p>
            <a:pPr marL="0" indent="0">
              <a:buNone/>
            </a:pPr>
            <a:endParaRPr lang="en-US" dirty="0"/>
          </a:p>
        </p:txBody>
      </p:sp>
      <p:sp>
        <p:nvSpPr>
          <p:cNvPr id="4" name="Slide Number Placeholder 3"/>
          <p:cNvSpPr>
            <a:spLocks noGrp="1"/>
          </p:cNvSpPr>
          <p:nvPr>
            <p:ph type="sldNum" sz="quarter" idx="12"/>
          </p:nvPr>
        </p:nvSpPr>
        <p:spPr/>
        <p:txBody>
          <a:bodyPr/>
          <a:lstStyle/>
          <a:p>
            <a:pPr defTabSz="685800">
              <a:buClrTx/>
              <a:defRPr/>
            </a:pPr>
            <a:fld id="{BDCDBBEF-AA6C-4BA6-85B2-A17D7F280E38}" type="slidenum">
              <a:rPr lang="en-US" kern="1200">
                <a:solidFill>
                  <a:prstClr val="black">
                    <a:tint val="75000"/>
                  </a:prstClr>
                </a:solidFill>
                <a:latin typeface="Calibri" panose="020F0502020204030204"/>
                <a:ea typeface="+mn-ea"/>
                <a:cs typeface="+mn-cs"/>
              </a:rPr>
              <a:pPr defTabSz="685800">
                <a:buClrTx/>
                <a:defRPr/>
              </a:pPr>
              <a:t>14</a:t>
            </a:fld>
            <a:endParaRPr lang="en-US" kern="1200">
              <a:solidFill>
                <a:prstClr val="black">
                  <a:tint val="75000"/>
                </a:prstClr>
              </a:solidFill>
              <a:latin typeface="Calibri" panose="020F0502020204030204"/>
              <a:ea typeface="+mn-ea"/>
              <a:cs typeface="+mn-cs"/>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lang="en-US" b="1" dirty="0">
                <a:solidFill>
                  <a:srgbClr val="FF0000"/>
                </a:solidFill>
              </a:rPr>
              <a:t>Coordinator Office(404,Block D2)</a:t>
            </a:r>
          </a:p>
        </p:txBody>
      </p:sp>
      <p:sp>
        <p:nvSpPr>
          <p:cNvPr id="3" name="Content Placeholder 2"/>
          <p:cNvSpPr>
            <a:spLocks noGrp="1"/>
          </p:cNvSpPr>
          <p:nvPr>
            <p:ph idx="1"/>
          </p:nvPr>
        </p:nvSpPr>
        <p:spPr/>
        <p:txBody>
          <a:bodyPr/>
          <a:lstStyle/>
          <a:p>
            <a:r>
              <a:rPr lang="en-US" dirty="0"/>
              <a:t>Ms. </a:t>
            </a:r>
            <a:r>
              <a:rPr lang="en-US" dirty="0" err="1"/>
              <a:t>Reema</a:t>
            </a:r>
            <a:r>
              <a:rPr lang="en-US" dirty="0"/>
              <a:t>- Academic Coordinator-4</a:t>
            </a:r>
            <a:r>
              <a:rPr lang="en-US" baseline="30000" dirty="0"/>
              <a:t>th</a:t>
            </a:r>
            <a:r>
              <a:rPr lang="en-US" dirty="0"/>
              <a:t> year, AIT-CSE(AIML)</a:t>
            </a:r>
          </a:p>
          <a:p>
            <a:r>
              <a:rPr lang="en-US" dirty="0"/>
              <a:t>Dr. </a:t>
            </a:r>
            <a:r>
              <a:rPr lang="en-US" dirty="0" err="1"/>
              <a:t>Preeti</a:t>
            </a:r>
            <a:r>
              <a:rPr lang="en-US" dirty="0"/>
              <a:t>-Academic Coordinator-3</a:t>
            </a:r>
            <a:r>
              <a:rPr lang="en-US" baseline="30000" dirty="0"/>
              <a:t>rd</a:t>
            </a:r>
            <a:r>
              <a:rPr lang="en-US" dirty="0"/>
              <a:t> Year, AIT-CSE(AIML)</a:t>
            </a:r>
          </a:p>
          <a:p>
            <a:r>
              <a:rPr lang="en-US" dirty="0"/>
              <a:t>Dr. </a:t>
            </a:r>
            <a:r>
              <a:rPr lang="en-US" dirty="0" err="1"/>
              <a:t>Sashi</a:t>
            </a:r>
            <a:r>
              <a:rPr lang="en-US" dirty="0"/>
              <a:t> </a:t>
            </a:r>
            <a:r>
              <a:rPr lang="en-US" dirty="0" err="1"/>
              <a:t>Tarun</a:t>
            </a:r>
            <a:r>
              <a:rPr lang="en-US" dirty="0"/>
              <a:t>- Academic Coordinator-2</a:t>
            </a:r>
            <a:r>
              <a:rPr lang="en-US" baseline="30000" dirty="0"/>
              <a:t>nd</a:t>
            </a:r>
            <a:r>
              <a:rPr lang="en-US" dirty="0"/>
              <a:t> Year, AIT-CSE(AIML)</a:t>
            </a:r>
          </a:p>
          <a:p>
            <a:pPr marL="0" indent="0">
              <a:buNone/>
            </a:pPr>
            <a:endParaRPr lang="en-US" dirty="0"/>
          </a:p>
        </p:txBody>
      </p:sp>
      <p:sp>
        <p:nvSpPr>
          <p:cNvPr id="4" name="Slide Number Placeholder 3"/>
          <p:cNvSpPr>
            <a:spLocks noGrp="1"/>
          </p:cNvSpPr>
          <p:nvPr>
            <p:ph type="sldNum" sz="quarter" idx="12"/>
          </p:nvPr>
        </p:nvSpPr>
        <p:spPr/>
        <p:txBody>
          <a:bodyPr/>
          <a:lstStyle/>
          <a:p>
            <a:pPr defTabSz="685800">
              <a:buClrTx/>
              <a:defRPr/>
            </a:pPr>
            <a:fld id="{BDCDBBEF-AA6C-4BA6-85B2-A17D7F280E38}" type="slidenum">
              <a:rPr lang="en-US" kern="1200">
                <a:solidFill>
                  <a:prstClr val="black">
                    <a:tint val="75000"/>
                  </a:prstClr>
                </a:solidFill>
                <a:latin typeface="Calibri" panose="020F0502020204030204"/>
                <a:ea typeface="+mn-ea"/>
                <a:cs typeface="+mn-cs"/>
              </a:rPr>
              <a:pPr defTabSz="685800">
                <a:buClrTx/>
                <a:defRPr/>
              </a:pPr>
              <a:t>15</a:t>
            </a:fld>
            <a:endParaRPr lang="en-US" kern="1200">
              <a:solidFill>
                <a:prstClr val="black">
                  <a:tint val="75000"/>
                </a:prstClr>
              </a:solidFill>
              <a:latin typeface="Calibri" panose="020F0502020204030204"/>
              <a:ea typeface="+mn-ea"/>
              <a:cs typeface="+mn-cs"/>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43320" y="273844"/>
            <a:ext cx="7172030" cy="994172"/>
          </a:xfrm>
        </p:spPr>
        <p:txBody>
          <a:bodyPr/>
          <a:lstStyle/>
          <a:p>
            <a:r>
              <a:rPr lang="en-US" b="1" dirty="0">
                <a:solidFill>
                  <a:srgbClr val="FF0000"/>
                </a:solidFill>
              </a:rPr>
              <a:t>Important Email IDs</a:t>
            </a:r>
          </a:p>
        </p:txBody>
      </p:sp>
      <p:sp>
        <p:nvSpPr>
          <p:cNvPr id="3" name="Content Placeholder 2"/>
          <p:cNvSpPr>
            <a:spLocks noGrp="1"/>
          </p:cNvSpPr>
          <p:nvPr>
            <p:ph idx="1"/>
          </p:nvPr>
        </p:nvSpPr>
        <p:spPr/>
        <p:txBody>
          <a:bodyPr>
            <a:normAutofit fontScale="92500" lnSpcReduction="20000"/>
          </a:bodyPr>
          <a:lstStyle/>
          <a:p>
            <a:r>
              <a:rPr lang="en-US" dirty="0"/>
              <a:t>Dr. Suresh </a:t>
            </a:r>
            <a:r>
              <a:rPr lang="en-US" dirty="0" err="1"/>
              <a:t>Kaswan</a:t>
            </a:r>
            <a:r>
              <a:rPr lang="en-US" dirty="0"/>
              <a:t>- </a:t>
            </a:r>
            <a:r>
              <a:rPr lang="en-US" dirty="0" err="1"/>
              <a:t>HoD</a:t>
            </a:r>
            <a:r>
              <a:rPr lang="en-US" dirty="0"/>
              <a:t>, AIT-CSE(AIML), </a:t>
            </a:r>
          </a:p>
          <a:p>
            <a:pPr marL="0" indent="0">
              <a:buNone/>
            </a:pPr>
            <a:r>
              <a:rPr lang="en-US" b="1" dirty="0"/>
              <a:t>   hod.aiml.aitcse@cumail.in </a:t>
            </a:r>
          </a:p>
          <a:p>
            <a:r>
              <a:rPr lang="en-US" dirty="0"/>
              <a:t>Ms. </a:t>
            </a:r>
            <a:r>
              <a:rPr lang="en-US" dirty="0" err="1"/>
              <a:t>Richa</a:t>
            </a:r>
            <a:r>
              <a:rPr lang="en-US" dirty="0"/>
              <a:t> Tiwari-Administrative Coordinator, AIT-CSE(AIML), </a:t>
            </a:r>
            <a:r>
              <a:rPr lang="en-US" b="1" dirty="0"/>
              <a:t>ao.aiml.aitcse@cumail.in</a:t>
            </a:r>
          </a:p>
          <a:p>
            <a:r>
              <a:rPr lang="en-US" dirty="0"/>
              <a:t>Ms. </a:t>
            </a:r>
            <a:r>
              <a:rPr lang="en-US" dirty="0" err="1"/>
              <a:t>Reshma</a:t>
            </a:r>
            <a:r>
              <a:rPr lang="en-US" dirty="0"/>
              <a:t>- Administrative Coordinator, AIT-CSE(AIML), </a:t>
            </a:r>
            <a:r>
              <a:rPr lang="en-US" b="1" dirty="0"/>
              <a:t>ao2.aiml.aitcse@cumail.in</a:t>
            </a:r>
          </a:p>
          <a:p>
            <a:r>
              <a:rPr lang="en-US" dirty="0"/>
              <a:t>Ms. </a:t>
            </a:r>
            <a:r>
              <a:rPr lang="en-US" dirty="0" err="1"/>
              <a:t>Reema</a:t>
            </a:r>
            <a:r>
              <a:rPr lang="en-US" dirty="0"/>
              <a:t>- Academic Coordinator-4</a:t>
            </a:r>
            <a:r>
              <a:rPr lang="en-US" baseline="30000" dirty="0"/>
              <a:t>th</a:t>
            </a:r>
            <a:r>
              <a:rPr lang="en-US" dirty="0"/>
              <a:t> year, AIT-CSE(AIML), </a:t>
            </a:r>
            <a:r>
              <a:rPr lang="en-US" b="1" dirty="0"/>
              <a:t>reema.e16536@cumail.in</a:t>
            </a:r>
          </a:p>
          <a:p>
            <a:r>
              <a:rPr lang="en-US" dirty="0"/>
              <a:t>Dr. </a:t>
            </a:r>
            <a:r>
              <a:rPr lang="en-US" dirty="0" err="1"/>
              <a:t>Preeti</a:t>
            </a:r>
            <a:r>
              <a:rPr lang="en-US" dirty="0"/>
              <a:t>-Academic Coordinator-3</a:t>
            </a:r>
            <a:r>
              <a:rPr lang="en-US" baseline="30000" dirty="0"/>
              <a:t>rd</a:t>
            </a:r>
            <a:r>
              <a:rPr lang="en-US" dirty="0"/>
              <a:t> Year, AIT-CSE(AIML), </a:t>
            </a:r>
            <a:r>
              <a:rPr lang="en-US" b="1" dirty="0"/>
              <a:t>preeti.e16576@cumail.in</a:t>
            </a:r>
          </a:p>
          <a:p>
            <a:r>
              <a:rPr lang="en-US" dirty="0"/>
              <a:t>Dr. </a:t>
            </a:r>
            <a:r>
              <a:rPr lang="en-US" dirty="0" err="1"/>
              <a:t>Sashi</a:t>
            </a:r>
            <a:r>
              <a:rPr lang="en-US" dirty="0"/>
              <a:t> </a:t>
            </a:r>
            <a:r>
              <a:rPr lang="en-US" dirty="0" err="1"/>
              <a:t>Tarun</a:t>
            </a:r>
            <a:r>
              <a:rPr lang="en-US" dirty="0"/>
              <a:t>- Academic Coordinator-2</a:t>
            </a:r>
            <a:r>
              <a:rPr lang="en-US" baseline="30000" dirty="0"/>
              <a:t>nd</a:t>
            </a:r>
            <a:r>
              <a:rPr lang="en-US" dirty="0"/>
              <a:t> Year, AIT-CSE(AIML), </a:t>
            </a:r>
            <a:r>
              <a:rPr lang="en-US" b="1" dirty="0"/>
              <a:t>sashi.e19174@cumail.in</a:t>
            </a:r>
          </a:p>
          <a:p>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418864" y="172641"/>
            <a:ext cx="571580" cy="957396"/>
          </a:xfrm>
          <a:prstGeom prst="rect">
            <a:avLst/>
          </a:prstGeom>
        </p:spPr>
      </p:pic>
      <p:pic>
        <p:nvPicPr>
          <p:cNvPr id="5" name="Picture 4"/>
          <p:cNvPicPr>
            <a:picLocks noChangeAspect="1"/>
          </p:cNvPicPr>
          <p:nvPr/>
        </p:nvPicPr>
        <p:blipFill>
          <a:blip r:embed="rId3"/>
          <a:stretch>
            <a:fillRect/>
          </a:stretch>
        </p:blipFill>
        <p:spPr>
          <a:xfrm>
            <a:off x="7206888" y="70745"/>
            <a:ext cx="1786187" cy="785922"/>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968604" y="273844"/>
            <a:ext cx="6389210" cy="994172"/>
          </a:xfrm>
        </p:spPr>
        <p:txBody>
          <a:bodyPr>
            <a:normAutofit fontScale="90000"/>
          </a:bodyPr>
          <a:lstStyle/>
          <a:p>
            <a:pPr algn="ctr"/>
            <a:r>
              <a:rPr lang="en-US" b="1" dirty="0">
                <a:solidFill>
                  <a:srgbClr val="FF0000"/>
                </a:solidFill>
              </a:rPr>
              <a:t>STUDENT DRESS CODE POLICY – FOR DAY SCHOLARS AND HOSTELLERS</a:t>
            </a:r>
          </a:p>
        </p:txBody>
      </p:sp>
      <p:sp>
        <p:nvSpPr>
          <p:cNvPr id="3" name="Content Placeholder 2"/>
          <p:cNvSpPr>
            <a:spLocks noGrp="1"/>
          </p:cNvSpPr>
          <p:nvPr>
            <p:ph idx="1"/>
          </p:nvPr>
        </p:nvSpPr>
        <p:spPr/>
        <p:txBody>
          <a:bodyPr>
            <a:normAutofit fontScale="55000" lnSpcReduction="20000"/>
          </a:bodyPr>
          <a:lstStyle/>
          <a:p>
            <a:pPr marL="0" indent="0">
              <a:buNone/>
            </a:pPr>
            <a:r>
              <a:rPr lang="en-US" b="1" dirty="0"/>
              <a:t>SECTION A: Dress Code during Official Working Hours (09.00 </a:t>
            </a:r>
            <a:r>
              <a:rPr lang="en-US" b="1" dirty="0" err="1"/>
              <a:t>hrs</a:t>
            </a:r>
            <a:r>
              <a:rPr lang="en-US" b="1" dirty="0"/>
              <a:t> to 16.30 </a:t>
            </a:r>
            <a:r>
              <a:rPr lang="en-US" b="1" dirty="0" err="1"/>
              <a:t>hrs</a:t>
            </a:r>
            <a:r>
              <a:rPr lang="en-US" b="1" dirty="0"/>
              <a:t>) </a:t>
            </a:r>
          </a:p>
          <a:p>
            <a:pPr marL="385763" indent="-385763">
              <a:buAutoNum type="arabicPeriod"/>
            </a:pPr>
            <a:r>
              <a:rPr lang="en-US" dirty="0"/>
              <a:t>All students must wear decent, formal, and presentable attire within the campus during official working hours. Torn jeans, ripped clothing, deep necklines, revealing or transparent outfits, short dresses/skirts, and attire with inappropriate graphics or slogans are strictly prohibited. </a:t>
            </a:r>
          </a:p>
          <a:p>
            <a:pPr marL="385763" indent="-385763">
              <a:buAutoNum type="arabicPeriod"/>
            </a:pPr>
            <a:r>
              <a:rPr lang="en-US" dirty="0"/>
              <a:t>It is mandatory for all students to wear their department-specific uniforms every Wednesday, during practical and theory examinations, university-level events, and whenever instructed by the University. </a:t>
            </a:r>
          </a:p>
          <a:p>
            <a:pPr marL="385763" indent="-385763">
              <a:buAutoNum type="arabicPeriod"/>
            </a:pPr>
            <a:r>
              <a:rPr lang="en-US" dirty="0"/>
              <a:t>Clothing must be clean, well-ironed, and reflect academic seriousness. </a:t>
            </a:r>
          </a:p>
          <a:p>
            <a:pPr marL="385763" indent="-385763">
              <a:buAutoNum type="arabicPeriod"/>
            </a:pPr>
            <a:r>
              <a:rPr lang="en-US" dirty="0"/>
              <a:t>Footwear must be formal or semi-formal. Bathroom Slippers, floaters, flip-flops, bathroom sandals are not permitted. or 6. Violation of dress code norms during official hours may result in disciplinary warning and marking of absence for the day. </a:t>
            </a:r>
          </a:p>
          <a:p>
            <a:pPr marL="0" indent="0">
              <a:buNone/>
            </a:pPr>
            <a:r>
              <a:rPr lang="en-US" b="1" dirty="0"/>
              <a:t>SECTION B: Dress Code after Working Hours (For Hostellers) </a:t>
            </a:r>
          </a:p>
          <a:p>
            <a:pPr marL="385763" indent="-385763">
              <a:buAutoNum type="arabicPeriod"/>
            </a:pPr>
            <a:r>
              <a:rPr lang="en-US" dirty="0"/>
              <a:t>Hostellers may wear casual clothing post working hours, provided it is modest, neat, and inoffensive. Revealing or objectionable attire is not permitted in mess areas, corridors, hostel lobbies, or common rooms.</a:t>
            </a:r>
          </a:p>
          <a:p>
            <a:pPr marL="385763" indent="-385763">
              <a:buAutoNum type="arabicPeriod"/>
            </a:pPr>
            <a:r>
              <a:rPr lang="en-US" dirty="0"/>
              <a:t>When entering the main campus after working hours (for library, labs, etc.), students must be properly dressed in appropriate casuals with formal footwear. Bathroom Slippers, floaters, and open-toed footwear are strictly prohibited in the academic zone at any time. </a:t>
            </a:r>
          </a:p>
          <a:p>
            <a:pPr marL="385763" indent="-385763">
              <a:buAutoNum type="arabicPeriod"/>
            </a:pPr>
            <a:r>
              <a:rPr lang="en-US" dirty="0"/>
              <a:t>Students must carry their University ID Cards at all times when outside the hostel blocks.</a:t>
            </a:r>
          </a:p>
        </p:txBody>
      </p:sp>
      <p:pic>
        <p:nvPicPr>
          <p:cNvPr id="5" name="Picture 4"/>
          <p:cNvPicPr>
            <a:picLocks noChangeAspect="1"/>
          </p:cNvPicPr>
          <p:nvPr/>
        </p:nvPicPr>
        <p:blipFill>
          <a:blip r:embed="rId2"/>
          <a:stretch>
            <a:fillRect/>
          </a:stretch>
        </p:blipFill>
        <p:spPr>
          <a:xfrm>
            <a:off x="342860" y="155844"/>
            <a:ext cx="571580" cy="957396"/>
          </a:xfrm>
          <a:prstGeom prst="rect">
            <a:avLst/>
          </a:prstGeom>
        </p:spPr>
      </p:pic>
      <p:pic>
        <p:nvPicPr>
          <p:cNvPr id="6" name="Picture 5"/>
          <p:cNvPicPr>
            <a:picLocks noChangeAspect="1"/>
          </p:cNvPicPr>
          <p:nvPr/>
        </p:nvPicPr>
        <p:blipFill>
          <a:blip r:embed="rId3"/>
          <a:stretch>
            <a:fillRect/>
          </a:stretch>
        </p:blipFill>
        <p:spPr>
          <a:xfrm>
            <a:off x="7357813" y="139735"/>
            <a:ext cx="1786187" cy="785922"/>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F747624B-0C18-317D-65C8-0061060FE185}"/>
              </a:ext>
            </a:extLst>
          </p:cNvPr>
          <p:cNvGraphicFramePr/>
          <p:nvPr>
            <p:extLst>
              <p:ext uri="{D42A27DB-BD31-4B8C-83A1-F6EECF244321}">
                <p14:modId xmlns:p14="http://schemas.microsoft.com/office/powerpoint/2010/main" val="3612049379"/>
              </p:ext>
            </p:extLst>
          </p:nvPr>
        </p:nvGraphicFramePr>
        <p:xfrm>
          <a:off x="1754132" y="1053636"/>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a:extLst>
              <a:ext uri="{FF2B5EF4-FFF2-40B4-BE49-F238E27FC236}">
                <a16:creationId xmlns:a16="http://schemas.microsoft.com/office/drawing/2014/main" id="{52EE2858-CD8A-F949-A4B2-AC2182FC412E}"/>
              </a:ext>
            </a:extLst>
          </p:cNvPr>
          <p:cNvSpPr txBox="1">
            <a:spLocks noGrp="1"/>
          </p:cNvSpPr>
          <p:nvPr>
            <p:ph type="body" idx="1"/>
          </p:nvPr>
        </p:nvSpPr>
        <p:spPr>
          <a:xfrm>
            <a:off x="654237" y="2033970"/>
            <a:ext cx="8001000" cy="3360234"/>
          </a:xfrm>
          <a:prstGeom prst="rect">
            <a:avLst/>
          </a:prstGeom>
          <a:noFill/>
          <a:ln>
            <a:noFill/>
          </a:ln>
        </p:spPr>
        <p:txBody>
          <a:bodyPr spcFirstLastPara="1" wrap="square" lIns="91425" tIns="45700" rIns="91425" bIns="45700" anchor="t" anchorCtr="0">
            <a:noAutofit/>
          </a:bodyPr>
          <a:lstStyle/>
          <a:p>
            <a:pPr marL="76200" indent="0" algn="just">
              <a:buNone/>
            </a:pPr>
            <a:r>
              <a:rPr lang="en-US" sz="1600" dirty="0">
                <a:solidFill>
                  <a:schemeClr val="bg2"/>
                </a:solidFill>
                <a:latin typeface="Times New Roman" panose="02020603050405020304" pitchFamily="18" charset="0"/>
                <a:cs typeface="Times New Roman" panose="02020603050405020304" pitchFamily="18" charset="0"/>
              </a:rPr>
              <a:t>This course provides a comprehensive introduction to the statistical foundations and analytical techniques essential for modern Artificial Intelligence (AI) and machine learning applications. Designed for students aiming to build strong quantitative and analytical capabilities, the course integrates core statistical theory with practical modelling skills relevant to data-driven decision-making.</a:t>
            </a:r>
            <a:endParaRPr lang="en-IN" sz="1600" dirty="0">
              <a:solidFill>
                <a:schemeClr val="bg2"/>
              </a:solidFill>
              <a:latin typeface="Times New Roman" panose="02020603050405020304" pitchFamily="18" charset="0"/>
              <a:cs typeface="Times New Roman" panose="02020603050405020304" pitchFamily="18" charset="0"/>
            </a:endParaRPr>
          </a:p>
        </p:txBody>
      </p:sp>
      <p:pic>
        <p:nvPicPr>
          <p:cNvPr id="118" name="Google Shape;118;p17">
            <a:extLst>
              <a:ext uri="{FF2B5EF4-FFF2-40B4-BE49-F238E27FC236}">
                <a16:creationId xmlns:a16="http://schemas.microsoft.com/office/drawing/2014/main" id="{3422635B-406B-2956-3A50-9F2AD50D01AE}"/>
              </a:ext>
            </a:extLst>
          </p:cNvPr>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388835E0-1F40-F56B-1534-54369D032611}"/>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703C5C91-F24E-5D99-1998-2D36767FFFC3}"/>
              </a:ext>
            </a:extLst>
          </p:cNvPr>
          <p:cNvGraphicFramePr/>
          <p:nvPr>
            <p:extLst>
              <p:ext uri="{D42A27DB-BD31-4B8C-83A1-F6EECF244321}">
                <p14:modId xmlns:p14="http://schemas.microsoft.com/office/powerpoint/2010/main" val="3429363817"/>
              </p:ext>
            </p:extLst>
          </p:nvPr>
        </p:nvGraphicFramePr>
        <p:xfrm>
          <a:off x="1908099" y="963113"/>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a:extLst>
              <a:ext uri="{FF2B5EF4-FFF2-40B4-BE49-F238E27FC236}">
                <a16:creationId xmlns:a16="http://schemas.microsoft.com/office/drawing/2014/main" id="{617C7D35-9A0C-0644-FE37-0413F11700AA}"/>
              </a:ext>
            </a:extLst>
          </p:cNvPr>
          <p:cNvSpPr txBox="1">
            <a:spLocks noGrp="1"/>
          </p:cNvSpPr>
          <p:nvPr>
            <p:ph type="body" idx="1"/>
          </p:nvPr>
        </p:nvSpPr>
        <p:spPr>
          <a:xfrm>
            <a:off x="654237" y="1486829"/>
            <a:ext cx="8001000" cy="3360234"/>
          </a:xfrm>
          <a:prstGeom prst="rect">
            <a:avLst/>
          </a:prstGeom>
          <a:noFill/>
          <a:ln>
            <a:noFill/>
          </a:ln>
        </p:spPr>
        <p:txBody>
          <a:bodyPr spcFirstLastPara="1" wrap="square" lIns="91425" tIns="45700" rIns="91425" bIns="45700" anchor="t" anchorCtr="0">
            <a:noAutofit/>
          </a:bodyPr>
          <a:lstStyle/>
          <a:p>
            <a:pPr lvl="1">
              <a:buFont typeface="Wingdings" panose="05000000000000000000" pitchFamily="2" charset="2"/>
              <a:buChar char="§"/>
            </a:pPr>
            <a:r>
              <a:rPr lang="en-US" sz="1400" dirty="0">
                <a:solidFill>
                  <a:schemeClr val="bg2"/>
                </a:solidFill>
              </a:rPr>
              <a:t>To enable students to</a:t>
            </a:r>
            <a:r>
              <a:rPr lang="en-US" sz="1400" b="1" dirty="0">
                <a:solidFill>
                  <a:schemeClr val="bg2"/>
                </a:solidFill>
              </a:rPr>
              <a:t> </a:t>
            </a:r>
            <a:r>
              <a:rPr lang="en-US" sz="1400" dirty="0">
                <a:solidFill>
                  <a:schemeClr val="bg2"/>
                </a:solidFill>
              </a:rPr>
              <a:t>develop a solid understanding of foundational statistical concepts and techniques relevant to artificial intelligence applications. </a:t>
            </a:r>
            <a:endParaRPr lang="en-IN" sz="1400" dirty="0">
              <a:solidFill>
                <a:schemeClr val="bg2"/>
              </a:solidFill>
            </a:endParaRPr>
          </a:p>
          <a:p>
            <a:pPr lvl="1">
              <a:buFont typeface="Wingdings" panose="05000000000000000000" pitchFamily="2" charset="2"/>
              <a:buChar char="§"/>
            </a:pPr>
            <a:r>
              <a:rPr lang="en-US" sz="1400" dirty="0">
                <a:solidFill>
                  <a:schemeClr val="bg2"/>
                </a:solidFill>
              </a:rPr>
              <a:t>To impart analytical ability in solving mathematical problems as applied to the respective branches of Engineering.</a:t>
            </a:r>
            <a:endParaRPr lang="en-IN" sz="1400" dirty="0">
              <a:solidFill>
                <a:schemeClr val="bg2"/>
              </a:solidFill>
            </a:endParaRPr>
          </a:p>
          <a:p>
            <a:pPr lvl="1">
              <a:buFont typeface="Wingdings" panose="05000000000000000000" pitchFamily="2" charset="2"/>
              <a:buChar char="§"/>
            </a:pPr>
            <a:r>
              <a:rPr lang="en-US" sz="1400" dirty="0">
                <a:solidFill>
                  <a:schemeClr val="bg2"/>
                </a:solidFill>
              </a:rPr>
              <a:t>To enable students to gain proficiency in applying statistical methodologies, including regression, classification, clustering, time series analysis, and experimental design, to analyze and model data in AI contexts.</a:t>
            </a:r>
            <a:endParaRPr lang="en-IN" sz="1400" dirty="0">
              <a:solidFill>
                <a:schemeClr val="bg2"/>
              </a:solidFill>
            </a:endParaRPr>
          </a:p>
          <a:p>
            <a:pPr lvl="1">
              <a:buFont typeface="Wingdings" panose="05000000000000000000" pitchFamily="2" charset="2"/>
              <a:buChar char="§"/>
            </a:pPr>
            <a:r>
              <a:rPr lang="en-US" sz="1400" dirty="0">
                <a:solidFill>
                  <a:schemeClr val="bg2"/>
                </a:solidFill>
              </a:rPr>
              <a:t>To prepare students for real-world AI projects and research endeavors by providing them with a solid foundation in statistical methods, enabling them to contribute effectively to the advancement of AI technologies.</a:t>
            </a:r>
            <a:endParaRPr lang="en-IN" sz="1400" dirty="0">
              <a:solidFill>
                <a:schemeClr val="bg2"/>
              </a:solidFill>
            </a:endParaRPr>
          </a:p>
        </p:txBody>
      </p:sp>
      <p:pic>
        <p:nvPicPr>
          <p:cNvPr id="118" name="Google Shape;118;p17">
            <a:extLst>
              <a:ext uri="{FF2B5EF4-FFF2-40B4-BE49-F238E27FC236}">
                <a16:creationId xmlns:a16="http://schemas.microsoft.com/office/drawing/2014/main" id="{DB233EBC-2431-575C-632C-19DF843B4813}"/>
              </a:ext>
            </a:extLst>
          </p:cNvPr>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6D3AB0F3-1532-633A-7131-6BA5BD9ACD9D}"/>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34490376-20E4-FA37-6394-6E9AB2D32B63}"/>
              </a:ext>
            </a:extLst>
          </p:cNvPr>
          <p:cNvGraphicFramePr/>
          <p:nvPr>
            <p:extLst>
              <p:ext uri="{D42A27DB-BD31-4B8C-83A1-F6EECF244321}">
                <p14:modId xmlns:p14="http://schemas.microsoft.com/office/powerpoint/2010/main" val="3648969954"/>
              </p:ext>
            </p:extLst>
          </p:nvPr>
        </p:nvGraphicFramePr>
        <p:xfrm>
          <a:off x="2241312" y="631702"/>
          <a:ext cx="5493275" cy="457200"/>
        </p:xfrm>
        <a:graphic>
          <a:graphicData uri="http://schemas.openxmlformats.org/drawingml/2006/diagram">
            <dgm:relIds xmlns:dgm="http://schemas.openxmlformats.org/drawingml/2006/diagram" r:dm="rId3" r:lo="rId4" r:qs="rId5" r:cs="rId6"/>
          </a:graphicData>
        </a:graphic>
      </p:graphicFrame>
      <p:sp>
        <p:nvSpPr>
          <p:cNvPr id="117" name="Google Shape;117;p17">
            <a:extLst>
              <a:ext uri="{FF2B5EF4-FFF2-40B4-BE49-F238E27FC236}">
                <a16:creationId xmlns:a16="http://schemas.microsoft.com/office/drawing/2014/main" id="{A03ED46A-2A6C-2721-30B7-50A135E622B6}"/>
              </a:ext>
            </a:extLst>
          </p:cNvPr>
          <p:cNvSpPr txBox="1">
            <a:spLocks noGrp="1"/>
          </p:cNvSpPr>
          <p:nvPr>
            <p:ph type="body" idx="1"/>
          </p:nvPr>
        </p:nvSpPr>
        <p:spPr>
          <a:xfrm>
            <a:off x="654237" y="1486829"/>
            <a:ext cx="8001000" cy="3360234"/>
          </a:xfrm>
          <a:prstGeom prst="rect">
            <a:avLst/>
          </a:prstGeom>
          <a:noFill/>
          <a:ln>
            <a:noFill/>
          </a:ln>
        </p:spPr>
        <p:txBody>
          <a:bodyPr spcFirstLastPara="1" wrap="square" lIns="91425" tIns="45700" rIns="91425" bIns="45700" anchor="t" anchorCtr="0">
            <a:noAutofit/>
          </a:bodyPr>
          <a:lstStyle/>
          <a:p>
            <a:pPr marL="558800" lvl="1" indent="0">
              <a:buNone/>
            </a:pPr>
            <a:endParaRPr lang="en-IN" sz="1400" dirty="0">
              <a:solidFill>
                <a:schemeClr val="bg2"/>
              </a:solidFill>
            </a:endParaRPr>
          </a:p>
        </p:txBody>
      </p:sp>
      <p:pic>
        <p:nvPicPr>
          <p:cNvPr id="118" name="Google Shape;118;p17">
            <a:extLst>
              <a:ext uri="{FF2B5EF4-FFF2-40B4-BE49-F238E27FC236}">
                <a16:creationId xmlns:a16="http://schemas.microsoft.com/office/drawing/2014/main" id="{34D6987E-C353-591F-B395-C1B397C08BDD}"/>
              </a:ext>
            </a:extLst>
          </p:cNvPr>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7" name="Table 6">
            <a:extLst>
              <a:ext uri="{FF2B5EF4-FFF2-40B4-BE49-F238E27FC236}">
                <a16:creationId xmlns:a16="http://schemas.microsoft.com/office/drawing/2014/main" id="{C852AEB2-E3DF-7FDA-B5FC-0C3D7748A575}"/>
              </a:ext>
            </a:extLst>
          </p:cNvPr>
          <p:cNvGraphicFramePr>
            <a:graphicFrameLocks noGrp="1"/>
          </p:cNvGraphicFramePr>
          <p:nvPr>
            <p:extLst>
              <p:ext uri="{D42A27DB-BD31-4B8C-83A1-F6EECF244321}">
                <p14:modId xmlns:p14="http://schemas.microsoft.com/office/powerpoint/2010/main" val="4028638497"/>
              </p:ext>
            </p:extLst>
          </p:nvPr>
        </p:nvGraphicFramePr>
        <p:xfrm>
          <a:off x="654237" y="1431562"/>
          <a:ext cx="8001000" cy="3310938"/>
        </p:xfrm>
        <a:graphic>
          <a:graphicData uri="http://schemas.openxmlformats.org/drawingml/2006/table">
            <a:tbl>
              <a:tblPr bandRow="1">
                <a:tableStyleId>{5C22544A-7EE6-4342-B048-85BDC9FD1C3A}</a:tableStyleId>
              </a:tblPr>
              <a:tblGrid>
                <a:gridCol w="1169841">
                  <a:extLst>
                    <a:ext uri="{9D8B030D-6E8A-4147-A177-3AD203B41FA5}">
                      <a16:colId xmlns:a16="http://schemas.microsoft.com/office/drawing/2014/main" val="2346854672"/>
                    </a:ext>
                  </a:extLst>
                </a:gridCol>
                <a:gridCol w="6831159">
                  <a:extLst>
                    <a:ext uri="{9D8B030D-6E8A-4147-A177-3AD203B41FA5}">
                      <a16:colId xmlns:a16="http://schemas.microsoft.com/office/drawing/2014/main" val="2998114836"/>
                    </a:ext>
                  </a:extLst>
                </a:gridCol>
              </a:tblGrid>
              <a:tr h="482987">
                <a:tc>
                  <a:txBody>
                    <a:bodyPr/>
                    <a:lstStyle/>
                    <a:p>
                      <a:pPr marR="53975" algn="just">
                        <a:lnSpc>
                          <a:spcPct val="107000"/>
                        </a:lnSpc>
                        <a:buNone/>
                      </a:pPr>
                      <a:r>
                        <a:rPr lang="en-US" sz="1200">
                          <a:solidFill>
                            <a:schemeClr val="bg2"/>
                          </a:solidFill>
                          <a:effectLst/>
                        </a:rPr>
                        <a:t>CO No</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buNone/>
                      </a:pPr>
                      <a:r>
                        <a:rPr lang="en-US" sz="1200">
                          <a:solidFill>
                            <a:schemeClr val="bg2"/>
                          </a:solidFill>
                          <a:effectLst/>
                        </a:rPr>
                        <a:t>Statement</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00491727"/>
                  </a:ext>
                </a:extLst>
              </a:tr>
              <a:tr h="433203">
                <a:tc>
                  <a:txBody>
                    <a:bodyPr/>
                    <a:lstStyle/>
                    <a:p>
                      <a:pPr marR="53975" algn="just">
                        <a:lnSpc>
                          <a:spcPct val="107000"/>
                        </a:lnSpc>
                        <a:buNone/>
                      </a:pPr>
                      <a:r>
                        <a:rPr lang="en-US" sz="1200">
                          <a:solidFill>
                            <a:schemeClr val="bg2"/>
                          </a:solidFill>
                          <a:effectLst/>
                        </a:rPr>
                        <a:t>CO1</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buNone/>
                      </a:pPr>
                      <a:r>
                        <a:rPr lang="en-US" sz="1200">
                          <a:solidFill>
                            <a:schemeClr val="bg2"/>
                          </a:solidFill>
                          <a:effectLst/>
                        </a:rPr>
                        <a:t>Remember the foundational concepts of statistics, probability theory, regression methods, and estimation principles essential for AI and data-driven problem-solving.</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2806469"/>
                  </a:ext>
                </a:extLst>
              </a:tr>
              <a:tr h="600021">
                <a:tc>
                  <a:txBody>
                    <a:bodyPr/>
                    <a:lstStyle/>
                    <a:p>
                      <a:pPr marR="53975" algn="just">
                        <a:lnSpc>
                          <a:spcPct val="107000"/>
                        </a:lnSpc>
                        <a:buNone/>
                      </a:pPr>
                      <a:r>
                        <a:rPr lang="en-US" sz="1200">
                          <a:solidFill>
                            <a:schemeClr val="bg2"/>
                          </a:solidFill>
                          <a:effectLst/>
                        </a:rPr>
                        <a:t>CO2</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buNone/>
                      </a:pPr>
                      <a:r>
                        <a:rPr lang="en-US" sz="1200">
                          <a:solidFill>
                            <a:schemeClr val="bg2"/>
                          </a:solidFill>
                          <a:effectLst/>
                        </a:rPr>
                        <a:t>Understand descriptive and inferential statistical techniques, probability distributions, regression models, and estimator properties relevant to AI applications.</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16675730"/>
                  </a:ext>
                </a:extLst>
              </a:tr>
              <a:tr h="610502">
                <a:tc>
                  <a:txBody>
                    <a:bodyPr/>
                    <a:lstStyle/>
                    <a:p>
                      <a:pPr marR="53975" algn="just">
                        <a:lnSpc>
                          <a:spcPct val="107000"/>
                        </a:lnSpc>
                        <a:buNone/>
                      </a:pPr>
                      <a:r>
                        <a:rPr lang="en-US" sz="1200">
                          <a:solidFill>
                            <a:schemeClr val="bg2"/>
                          </a:solidFill>
                          <a:effectLst/>
                        </a:rPr>
                        <a:t>CO3</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buNone/>
                      </a:pPr>
                      <a:r>
                        <a:rPr lang="en-US" sz="1200">
                          <a:solidFill>
                            <a:schemeClr val="bg2"/>
                          </a:solidFill>
                          <a:effectLst/>
                        </a:rPr>
                        <a:t>Apply probability models, EDA techniques, regression algorithms (linear, logistic, non-linear), and estimation methods (MoM, MLE) to analyze and solve AI-related problems.</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97100600"/>
                  </a:ext>
                </a:extLst>
              </a:tr>
              <a:tr h="610502">
                <a:tc>
                  <a:txBody>
                    <a:bodyPr/>
                    <a:lstStyle/>
                    <a:p>
                      <a:pPr marR="53975" algn="just">
                        <a:lnSpc>
                          <a:spcPct val="107000"/>
                        </a:lnSpc>
                        <a:buNone/>
                      </a:pPr>
                      <a:r>
                        <a:rPr lang="en-US" sz="1200">
                          <a:solidFill>
                            <a:schemeClr val="bg2"/>
                          </a:solidFill>
                          <a:effectLst/>
                        </a:rPr>
                        <a:t>CO4</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buNone/>
                      </a:pPr>
                      <a:r>
                        <a:rPr lang="en-US" sz="1200">
                          <a:solidFill>
                            <a:schemeClr val="bg2"/>
                          </a:solidFill>
                          <a:effectLst/>
                        </a:rPr>
                        <a:t>Analyze datasets using statistical inference, regression diagnostics, correlation measures, time-series components, and estimator properties (unbiasedness, consistency, efficiency).</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64508672"/>
                  </a:ext>
                </a:extLst>
              </a:tr>
              <a:tr h="433203">
                <a:tc>
                  <a:txBody>
                    <a:bodyPr/>
                    <a:lstStyle/>
                    <a:p>
                      <a:pPr marR="53975" algn="just">
                        <a:lnSpc>
                          <a:spcPct val="107000"/>
                        </a:lnSpc>
                        <a:buNone/>
                      </a:pPr>
                      <a:r>
                        <a:rPr lang="en-US" sz="1200">
                          <a:solidFill>
                            <a:schemeClr val="bg2"/>
                          </a:solidFill>
                          <a:effectLst/>
                        </a:rPr>
                        <a:t>CO5</a:t>
                      </a:r>
                      <a:endParaRPr lang="en-IN" sz="120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buNone/>
                      </a:pPr>
                      <a:r>
                        <a:rPr lang="en-US" sz="1200" dirty="0">
                          <a:solidFill>
                            <a:schemeClr val="bg2"/>
                          </a:solidFill>
                          <a:effectLst/>
                        </a:rPr>
                        <a:t>Evaluate statistical and predictive models: including probability distributions, regression models, and advanced estimators: considering accuracy, interpretability, computational efficiency, and AI relevance.</a:t>
                      </a:r>
                      <a:endParaRPr lang="en-IN" sz="1200"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67968582"/>
                  </a:ext>
                </a:extLst>
              </a:tr>
            </a:tbl>
          </a:graphicData>
        </a:graphic>
      </p:graphicFrame>
      <p:pic>
        <p:nvPicPr>
          <p:cNvPr id="3" name="Picture 2">
            <a:extLst>
              <a:ext uri="{FF2B5EF4-FFF2-40B4-BE49-F238E27FC236}">
                <a16:creationId xmlns:a16="http://schemas.microsoft.com/office/drawing/2014/main" id="{17E855C6-8B53-E0BE-B054-A9E0278992ED}"/>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3701186334"/>
              </p:ext>
            </p:extLst>
          </p:nvPr>
        </p:nvGraphicFramePr>
        <p:xfrm>
          <a:off x="2115537" y="332017"/>
          <a:ext cx="6160169" cy="479115"/>
        </p:xfrm>
        <a:graphic>
          <a:graphicData uri="http://schemas.openxmlformats.org/drawingml/2006/diagram">
            <dgm:relIds xmlns:dgm="http://schemas.openxmlformats.org/drawingml/2006/diagram" r:dm="rId3" r:lo="rId4" r:qs="rId5" r:cs="rId6"/>
          </a:graphicData>
        </a:graphic>
      </p:graphicFrame>
      <p:pic>
        <p:nvPicPr>
          <p:cNvPr id="173" name="Google Shape;173;p25"/>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4" name="Table 3">
            <a:extLst>
              <a:ext uri="{FF2B5EF4-FFF2-40B4-BE49-F238E27FC236}">
                <a16:creationId xmlns:a16="http://schemas.microsoft.com/office/drawing/2014/main" id="{75632EE7-1F92-165E-AB0C-83AC0FDDDE5C}"/>
              </a:ext>
            </a:extLst>
          </p:cNvPr>
          <p:cNvGraphicFramePr>
            <a:graphicFrameLocks noGrp="1"/>
          </p:cNvGraphicFramePr>
          <p:nvPr>
            <p:extLst>
              <p:ext uri="{D42A27DB-BD31-4B8C-83A1-F6EECF244321}">
                <p14:modId xmlns:p14="http://schemas.microsoft.com/office/powerpoint/2010/main" val="956656639"/>
              </p:ext>
            </p:extLst>
          </p:nvPr>
        </p:nvGraphicFramePr>
        <p:xfrm>
          <a:off x="614597" y="1531433"/>
          <a:ext cx="8132195" cy="3306380"/>
        </p:xfrm>
        <a:graphic>
          <a:graphicData uri="http://schemas.openxmlformats.org/drawingml/2006/table">
            <a:tbl>
              <a:tblPr/>
              <a:tblGrid>
                <a:gridCol w="8132195">
                  <a:extLst>
                    <a:ext uri="{9D8B030D-6E8A-4147-A177-3AD203B41FA5}">
                      <a16:colId xmlns:a16="http://schemas.microsoft.com/office/drawing/2014/main" val="2585717238"/>
                    </a:ext>
                  </a:extLst>
                </a:gridCol>
              </a:tblGrid>
              <a:tr h="386499">
                <a:tc>
                  <a:txBody>
                    <a:bodyPr/>
                    <a:lstStyle/>
                    <a:p>
                      <a:pPr marR="1557020" indent="57150" algn="ctr">
                        <a:lnSpc>
                          <a:spcPct val="115000"/>
                        </a:lnSpc>
                        <a:spcBef>
                          <a:spcPts val="40"/>
                        </a:spcBef>
                        <a:spcAft>
                          <a:spcPts val="1000"/>
                        </a:spcAft>
                      </a:pPr>
                      <a:r>
                        <a:rPr lang="en-US" sz="1400" b="1" kern="100" dirty="0">
                          <a:solidFill>
                            <a:schemeClr val="bg2"/>
                          </a:solidFill>
                          <a:effectLst/>
                          <a:latin typeface="Times New Roman" pitchFamily="18" charset="0"/>
                          <a:ea typeface="Calibri" panose="020F0502020204030204" pitchFamily="34" charset="0"/>
                          <a:cs typeface="Times New Roman" pitchFamily="18" charset="0"/>
                        </a:rPr>
                        <a:t>UNIT- 1 -</a:t>
                      </a:r>
                      <a:r>
                        <a:rPr lang="en-US" sz="1400" b="1" i="0" u="none" strike="noStrike" cap="none" dirty="0">
                          <a:solidFill>
                            <a:schemeClr val="bg2"/>
                          </a:solidFill>
                          <a:effectLst/>
                          <a:latin typeface="+mn-lt"/>
                          <a:ea typeface="+mn-ea"/>
                          <a:cs typeface="+mn-cs"/>
                          <a:sym typeface="Arial"/>
                        </a:rPr>
                        <a:t>Foundations of Statistics for AI</a:t>
                      </a:r>
                      <a:endParaRPr lang="en-IN" sz="1400" kern="100" dirty="0">
                        <a:solidFill>
                          <a:schemeClr val="bg2"/>
                        </a:solidFill>
                        <a:effectLst/>
                        <a:latin typeface="Times New Roman" pitchFamily="18" charset="0"/>
                        <a:ea typeface="Calibri" panose="020F0502020204030204" pitchFamily="34" charset="0"/>
                        <a:cs typeface="Times New Roman" pitchFamily="18" charset="0"/>
                      </a:endParaRPr>
                    </a:p>
                  </a:txBody>
                  <a:tcPr marL="47927" marR="4792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5450332"/>
                  </a:ext>
                </a:extLst>
              </a:tr>
              <a:tr h="2919881">
                <a:tc>
                  <a:txBody>
                    <a:bodyPr/>
                    <a:lstStyle/>
                    <a:p>
                      <a:r>
                        <a:rPr lang="en-US" sz="1400" b="1" i="0" u="none" strike="noStrike" cap="none" dirty="0">
                          <a:solidFill>
                            <a:schemeClr val="bg2"/>
                          </a:solidFill>
                          <a:effectLst/>
                          <a:latin typeface="+mn-lt"/>
                          <a:ea typeface="+mn-ea"/>
                          <a:cs typeface="+mn-cs"/>
                          <a:sym typeface="Arial"/>
                        </a:rPr>
                        <a:t>Introduction to Statistics and Probability Theory: </a:t>
                      </a:r>
                      <a:r>
                        <a:rPr lang="en-US" sz="1400" b="0" i="0" u="none" strike="noStrike" cap="none" dirty="0">
                          <a:solidFill>
                            <a:schemeClr val="bg2"/>
                          </a:solidFill>
                          <a:effectLst/>
                          <a:latin typeface="+mn-lt"/>
                          <a:ea typeface="+mn-ea"/>
                          <a:cs typeface="+mn-cs"/>
                          <a:sym typeface="Arial"/>
                        </a:rPr>
                        <a:t>Overview of basic statistical concepts, including population vs. sample, descriptive vs. inferential statistics, and types of data.</a:t>
                      </a:r>
                      <a:endParaRPr lang="en-IN" sz="1400" b="0" i="0" u="none" strike="noStrike" cap="none" dirty="0">
                        <a:solidFill>
                          <a:schemeClr val="bg2"/>
                        </a:solidFill>
                        <a:effectLst/>
                        <a:latin typeface="+mn-lt"/>
                        <a:ea typeface="+mn-ea"/>
                        <a:cs typeface="+mn-cs"/>
                        <a:sym typeface="Arial"/>
                      </a:endParaRPr>
                    </a:p>
                    <a:p>
                      <a:r>
                        <a:rPr lang="en-US" sz="1400" b="0" i="0" u="none" strike="noStrike" cap="none" dirty="0">
                          <a:solidFill>
                            <a:schemeClr val="bg2"/>
                          </a:solidFill>
                          <a:effectLst/>
                          <a:latin typeface="+mn-lt"/>
                          <a:ea typeface="+mn-ea"/>
                          <a:cs typeface="+mn-cs"/>
                          <a:sym typeface="Arial"/>
                        </a:rPr>
                        <a:t>Probability basics, conditional probability, random variables, probability distributions (discrete and continuous), and their relevance to AI.</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 </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Statistical Inference and Exploratory Data Analysis (EDA):</a:t>
                      </a:r>
                      <a:r>
                        <a:rPr lang="en-US" sz="1400" b="0" i="0" u="none" strike="noStrike" cap="none" dirty="0">
                          <a:solidFill>
                            <a:schemeClr val="bg2"/>
                          </a:solidFill>
                          <a:effectLst/>
                          <a:latin typeface="+mn-lt"/>
                          <a:ea typeface="+mn-ea"/>
                          <a:cs typeface="+mn-cs"/>
                          <a:sym typeface="Arial"/>
                        </a:rPr>
                        <a:t>  Hypothesis testing, confidence intervals, p-values, and significance testing in the context of AI experimentation.</a:t>
                      </a:r>
                      <a:endParaRPr lang="en-IN" sz="1400" b="0" i="0" u="none" strike="noStrike" cap="none" dirty="0">
                        <a:solidFill>
                          <a:schemeClr val="bg2"/>
                        </a:solidFill>
                        <a:effectLst/>
                        <a:latin typeface="+mn-lt"/>
                        <a:ea typeface="+mn-ea"/>
                        <a:cs typeface="+mn-cs"/>
                        <a:sym typeface="Arial"/>
                      </a:endParaRPr>
                    </a:p>
                    <a:p>
                      <a:r>
                        <a:rPr lang="en-US" sz="1400" b="0" i="0" u="none" strike="noStrike" cap="none" dirty="0">
                          <a:solidFill>
                            <a:schemeClr val="bg2"/>
                          </a:solidFill>
                          <a:effectLst/>
                          <a:latin typeface="+mn-lt"/>
                          <a:ea typeface="+mn-ea"/>
                          <a:cs typeface="+mn-cs"/>
                          <a:sym typeface="Arial"/>
                        </a:rPr>
                        <a:t>Techniques for visualizing and summarizing data, including histograms, box plots, scatter plots, and correlation analysis</a:t>
                      </a:r>
                      <a:endParaRPr lang="en-IN" sz="1400" kern="100" dirty="0">
                        <a:solidFill>
                          <a:schemeClr val="bg2"/>
                        </a:solidFill>
                        <a:effectLst/>
                        <a:latin typeface="Times New Roman" pitchFamily="18" charset="0"/>
                        <a:ea typeface="Calibri" panose="020F0502020204030204" pitchFamily="34" charset="0"/>
                        <a:cs typeface="Times New Roman" pitchFamily="18" charset="0"/>
                      </a:endParaRPr>
                    </a:p>
                  </a:txBody>
                  <a:tcPr marL="47927" marR="4792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1437775"/>
                  </a:ext>
                </a:extLst>
              </a:tr>
            </a:tbl>
          </a:graphicData>
        </a:graphic>
      </p:graphicFrame>
      <p:pic>
        <p:nvPicPr>
          <p:cNvPr id="3" name="Picture 2">
            <a:extLst>
              <a:ext uri="{FF2B5EF4-FFF2-40B4-BE49-F238E27FC236}">
                <a16:creationId xmlns:a16="http://schemas.microsoft.com/office/drawing/2014/main" id="{2A1E7374-3A97-4E62-A644-EA3FFB4866C8}"/>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1499247230"/>
              </p:ext>
            </p:extLst>
          </p:nvPr>
        </p:nvGraphicFramePr>
        <p:xfrm>
          <a:off x="2057241" y="421486"/>
          <a:ext cx="6160169" cy="479115"/>
        </p:xfrm>
        <a:graphic>
          <a:graphicData uri="http://schemas.openxmlformats.org/drawingml/2006/diagram">
            <dgm:relIds xmlns:dgm="http://schemas.openxmlformats.org/drawingml/2006/diagram" r:dm="rId3" r:lo="rId4" r:qs="rId5" r:cs="rId6"/>
          </a:graphicData>
        </a:graphic>
      </p:graphicFrame>
      <p:pic>
        <p:nvPicPr>
          <p:cNvPr id="173" name="Google Shape;173;p25"/>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5" name="Table 4">
            <a:extLst>
              <a:ext uri="{FF2B5EF4-FFF2-40B4-BE49-F238E27FC236}">
                <a16:creationId xmlns:a16="http://schemas.microsoft.com/office/drawing/2014/main" id="{F844D3A3-E144-CCCD-D55A-B0CDF4BA8021}"/>
              </a:ext>
            </a:extLst>
          </p:cNvPr>
          <p:cNvGraphicFramePr>
            <a:graphicFrameLocks noGrp="1"/>
          </p:cNvGraphicFramePr>
          <p:nvPr>
            <p:extLst>
              <p:ext uri="{D42A27DB-BD31-4B8C-83A1-F6EECF244321}">
                <p14:modId xmlns:p14="http://schemas.microsoft.com/office/powerpoint/2010/main" val="470406278"/>
              </p:ext>
            </p:extLst>
          </p:nvPr>
        </p:nvGraphicFramePr>
        <p:xfrm>
          <a:off x="169490" y="1584250"/>
          <a:ext cx="8826283" cy="2676393"/>
        </p:xfrm>
        <a:graphic>
          <a:graphicData uri="http://schemas.openxmlformats.org/drawingml/2006/table">
            <a:tbl>
              <a:tblPr/>
              <a:tblGrid>
                <a:gridCol w="8826283">
                  <a:extLst>
                    <a:ext uri="{9D8B030D-6E8A-4147-A177-3AD203B41FA5}">
                      <a16:colId xmlns:a16="http://schemas.microsoft.com/office/drawing/2014/main" val="1316885351"/>
                    </a:ext>
                  </a:extLst>
                </a:gridCol>
              </a:tblGrid>
              <a:tr h="393405">
                <a:tc>
                  <a:txBody>
                    <a:bodyPr/>
                    <a:lstStyle/>
                    <a:p>
                      <a:pPr indent="57150" algn="ctr">
                        <a:lnSpc>
                          <a:spcPct val="115000"/>
                        </a:lnSpc>
                        <a:spcBef>
                          <a:spcPts val="55"/>
                        </a:spcBef>
                        <a:spcAft>
                          <a:spcPts val="1000"/>
                        </a:spcAft>
                      </a:pPr>
                      <a:r>
                        <a:rPr lang="en-US" sz="14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UNIT- 2-</a:t>
                      </a:r>
                      <a:r>
                        <a:rPr lang="en-US" sz="1400" b="1" i="0" u="none" strike="noStrike" cap="none" dirty="0">
                          <a:solidFill>
                            <a:schemeClr val="bg2"/>
                          </a:solidFill>
                          <a:effectLst/>
                          <a:latin typeface="+mn-lt"/>
                          <a:ea typeface="+mn-ea"/>
                          <a:cs typeface="+mn-cs"/>
                          <a:sym typeface="Arial"/>
                        </a:rPr>
                        <a:t>Regression and Correlation </a:t>
                      </a:r>
                      <a:endParaRPr lang="en-IN" sz="1400"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8586" marR="5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3526228"/>
                  </a:ext>
                </a:extLst>
              </a:tr>
              <a:tr h="2282988">
                <a:tc>
                  <a:txBody>
                    <a:bodyPr/>
                    <a:lstStyle/>
                    <a:p>
                      <a:r>
                        <a:rPr lang="en-US" sz="1400" b="1" i="0" u="none" strike="noStrike" cap="none" dirty="0">
                          <a:solidFill>
                            <a:schemeClr val="bg2"/>
                          </a:solidFill>
                          <a:effectLst/>
                          <a:latin typeface="+mn-lt"/>
                          <a:ea typeface="+mn-ea"/>
                          <a:cs typeface="+mn-cs"/>
                          <a:sym typeface="Arial"/>
                        </a:rPr>
                        <a:t>Introduction to Regression Analysis and correlation</a:t>
                      </a:r>
                      <a:r>
                        <a:rPr lang="en-US" sz="1400" b="0" i="0" u="none" strike="noStrike" cap="none" dirty="0">
                          <a:solidFill>
                            <a:schemeClr val="bg2"/>
                          </a:solidFill>
                          <a:effectLst/>
                          <a:latin typeface="+mn-lt"/>
                          <a:ea typeface="+mn-ea"/>
                          <a:cs typeface="+mn-cs"/>
                          <a:sym typeface="Arial"/>
                        </a:rPr>
                        <a:t>: Simple linear regression, multiple linear regressions, logistic regression, and their application in predicting outcomes in AI tasks.</a:t>
                      </a:r>
                      <a:endParaRPr lang="en-IN" sz="1400" b="0" i="0" u="none" strike="noStrike" cap="none" dirty="0">
                        <a:solidFill>
                          <a:schemeClr val="bg2"/>
                        </a:solidFill>
                        <a:effectLst/>
                        <a:latin typeface="+mn-lt"/>
                        <a:ea typeface="+mn-ea"/>
                        <a:cs typeface="+mn-cs"/>
                        <a:sym typeface="Arial"/>
                      </a:endParaRPr>
                    </a:p>
                    <a:p>
                      <a:r>
                        <a:rPr lang="en-US" sz="1400" b="0" i="0" u="none" strike="noStrike" cap="none" dirty="0">
                          <a:solidFill>
                            <a:schemeClr val="bg2"/>
                          </a:solidFill>
                          <a:effectLst/>
                          <a:latin typeface="+mn-lt"/>
                          <a:ea typeface="+mn-ea"/>
                          <a:cs typeface="+mn-cs"/>
                          <a:sym typeface="Arial"/>
                        </a:rPr>
                        <a:t>Evaluation metrics for regression models, including mean squared error (MSE), R-squared, and interpretation of regression coefficients. Partial and multiple correlation coefficients.</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 </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Non-linear Regression and Time Series Analysis:</a:t>
                      </a:r>
                      <a:r>
                        <a:rPr lang="en-US" sz="1400" b="0" i="0" u="none" strike="noStrike" cap="none" dirty="0">
                          <a:solidFill>
                            <a:schemeClr val="bg2"/>
                          </a:solidFill>
                          <a:effectLst/>
                          <a:latin typeface="+mn-lt"/>
                          <a:ea typeface="+mn-ea"/>
                          <a:cs typeface="+mn-cs"/>
                          <a:sym typeface="Arial"/>
                        </a:rPr>
                        <a:t>  Curvilinear regression, polynomial fit of Non-linear regression, regularization techniques, non-linear relationships between variables. Time series data exploration, trend analysis, seasonality decomposition, and forecasting methods for predicting future values.</a:t>
                      </a:r>
                      <a:endParaRPr lang="en-IN" sz="1200" b="1" kern="100"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8586" marR="5858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6440648"/>
                  </a:ext>
                </a:extLst>
              </a:tr>
            </a:tbl>
          </a:graphicData>
        </a:graphic>
      </p:graphicFrame>
      <p:pic>
        <p:nvPicPr>
          <p:cNvPr id="3" name="Picture 2">
            <a:extLst>
              <a:ext uri="{FF2B5EF4-FFF2-40B4-BE49-F238E27FC236}">
                <a16:creationId xmlns:a16="http://schemas.microsoft.com/office/drawing/2014/main" id="{5A235FC7-EEEC-9FB9-4319-923DDEAA9C8E}"/>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4294A4C7-A034-2A95-579C-EBDE929699A3}"/>
              </a:ext>
            </a:extLst>
          </p:cNvPr>
          <p:cNvGraphicFramePr/>
          <p:nvPr>
            <p:extLst>
              <p:ext uri="{D42A27DB-BD31-4B8C-83A1-F6EECF244321}">
                <p14:modId xmlns:p14="http://schemas.microsoft.com/office/powerpoint/2010/main" val="1651249268"/>
              </p:ext>
            </p:extLst>
          </p:nvPr>
        </p:nvGraphicFramePr>
        <p:xfrm>
          <a:off x="1924151" y="640361"/>
          <a:ext cx="6160169" cy="479115"/>
        </p:xfrm>
        <a:graphic>
          <a:graphicData uri="http://schemas.openxmlformats.org/drawingml/2006/diagram">
            <dgm:relIds xmlns:dgm="http://schemas.openxmlformats.org/drawingml/2006/diagram" r:dm="rId3" r:lo="rId4" r:qs="rId5" r:cs="rId6"/>
          </a:graphicData>
        </a:graphic>
      </p:graphicFrame>
      <p:pic>
        <p:nvPicPr>
          <p:cNvPr id="173" name="Google Shape;173;p25"/>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5" name="Table 4">
            <a:extLst>
              <a:ext uri="{FF2B5EF4-FFF2-40B4-BE49-F238E27FC236}">
                <a16:creationId xmlns:a16="http://schemas.microsoft.com/office/drawing/2014/main" id="{AD17BA92-F374-22FF-F273-F18784D42EC9}"/>
              </a:ext>
            </a:extLst>
          </p:cNvPr>
          <p:cNvGraphicFramePr>
            <a:graphicFrameLocks noGrp="1"/>
          </p:cNvGraphicFramePr>
          <p:nvPr>
            <p:extLst>
              <p:ext uri="{D42A27DB-BD31-4B8C-83A1-F6EECF244321}">
                <p14:modId xmlns:p14="http://schemas.microsoft.com/office/powerpoint/2010/main" val="1576464654"/>
              </p:ext>
            </p:extLst>
          </p:nvPr>
        </p:nvGraphicFramePr>
        <p:xfrm>
          <a:off x="494974" y="1840988"/>
          <a:ext cx="8259337" cy="2390769"/>
        </p:xfrm>
        <a:graphic>
          <a:graphicData uri="http://schemas.openxmlformats.org/drawingml/2006/table">
            <a:tbl>
              <a:tblPr/>
              <a:tblGrid>
                <a:gridCol w="8259337">
                  <a:extLst>
                    <a:ext uri="{9D8B030D-6E8A-4147-A177-3AD203B41FA5}">
                      <a16:colId xmlns:a16="http://schemas.microsoft.com/office/drawing/2014/main" val="4215732116"/>
                    </a:ext>
                  </a:extLst>
                </a:gridCol>
              </a:tblGrid>
              <a:tr h="304795">
                <a:tc>
                  <a:txBody>
                    <a:bodyPr/>
                    <a:lstStyle/>
                    <a:p>
                      <a:pPr marL="90170" indent="57150" algn="ctr">
                        <a:lnSpc>
                          <a:spcPct val="115000"/>
                        </a:lnSpc>
                        <a:spcBef>
                          <a:spcPts val="5"/>
                        </a:spcBef>
                        <a:spcAft>
                          <a:spcPts val="1000"/>
                        </a:spcAft>
                      </a:pPr>
                      <a:r>
                        <a:rPr lang="en-US" sz="1400" b="1" kern="100" dirty="0">
                          <a:solidFill>
                            <a:schemeClr val="bg2"/>
                          </a:solidFill>
                          <a:effectLst/>
                          <a:latin typeface="Times New Roman" pitchFamily="18" charset="0"/>
                          <a:ea typeface="Calibri" panose="020F0502020204030204" pitchFamily="34" charset="0"/>
                          <a:cs typeface="Times New Roman" pitchFamily="18" charset="0"/>
                        </a:rPr>
                        <a:t>UNIT- 3-</a:t>
                      </a:r>
                      <a:r>
                        <a:rPr lang="en-US" sz="1400" b="1" i="0" u="none" strike="noStrike" cap="none" dirty="0">
                          <a:solidFill>
                            <a:schemeClr val="bg2"/>
                          </a:solidFill>
                          <a:effectLst/>
                          <a:latin typeface="+mn-lt"/>
                          <a:ea typeface="+mn-ea"/>
                          <a:cs typeface="+mn-cs"/>
                          <a:sym typeface="Arial"/>
                        </a:rPr>
                        <a:t>Estimation Theory and Methods of estimation:</a:t>
                      </a:r>
                      <a:endParaRPr lang="en-IN" sz="1400" kern="100" dirty="0">
                        <a:solidFill>
                          <a:schemeClr val="bg2"/>
                        </a:solidFill>
                        <a:effectLst/>
                        <a:latin typeface="Times New Roman" pitchFamily="18" charset="0"/>
                        <a:ea typeface="Calibri" panose="020F0502020204030204" pitchFamily="34"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5393172"/>
                  </a:ext>
                </a:extLst>
              </a:tr>
              <a:tr h="2085974">
                <a:tc>
                  <a:txBody>
                    <a:bodyPr/>
                    <a:lstStyle/>
                    <a:p>
                      <a:r>
                        <a:rPr lang="en-US" sz="1400" b="1" i="0" u="none" strike="noStrike" cap="none" dirty="0">
                          <a:solidFill>
                            <a:schemeClr val="bg2"/>
                          </a:solidFill>
                          <a:effectLst/>
                          <a:latin typeface="+mn-lt"/>
                          <a:ea typeface="+mn-ea"/>
                          <a:cs typeface="+mn-cs"/>
                          <a:sym typeface="Arial"/>
                        </a:rPr>
                        <a:t>Introduction to Statistical estimators and their properties: </a:t>
                      </a:r>
                      <a:r>
                        <a:rPr lang="en-US" sz="1400" b="0" i="0" u="none" strike="noStrike" cap="none" dirty="0">
                          <a:solidFill>
                            <a:schemeClr val="bg2"/>
                          </a:solidFill>
                          <a:effectLst/>
                          <a:latin typeface="+mn-lt"/>
                          <a:ea typeface="+mn-ea"/>
                          <a:cs typeface="+mn-cs"/>
                          <a:sym typeface="Arial"/>
                        </a:rPr>
                        <a:t>Definition of an estimator, Parameters and statistical models, Types of estimators (point estimators, interval estimators). Properties of Estimators: Unbiasedness, consistency, efficiency (Cramer-Rao Lower Bound), sufficiency.</a:t>
                      </a:r>
                      <a:endParaRPr lang="en-IN" sz="1400" b="0" i="0" u="none" strike="noStrike" cap="none" dirty="0">
                        <a:solidFill>
                          <a:schemeClr val="bg2"/>
                        </a:solidFill>
                        <a:effectLst/>
                        <a:latin typeface="+mn-lt"/>
                        <a:ea typeface="+mn-ea"/>
                        <a:cs typeface="+mn-cs"/>
                        <a:sym typeface="Arial"/>
                      </a:endParaRPr>
                    </a:p>
                    <a:p>
                      <a:r>
                        <a:rPr lang="en-US" sz="1400" b="1" i="0" u="none" strike="noStrike" cap="none" dirty="0">
                          <a:solidFill>
                            <a:schemeClr val="bg2"/>
                          </a:solidFill>
                          <a:effectLst/>
                          <a:latin typeface="+mn-lt"/>
                          <a:ea typeface="+mn-ea"/>
                          <a:cs typeface="+mn-cs"/>
                          <a:sym typeface="Arial"/>
                        </a:rPr>
                        <a:t>Methods of Estimation and Asymptotic Properties of Estimators: </a:t>
                      </a:r>
                      <a:r>
                        <a:rPr lang="en-US" sz="1400" b="0" i="0" u="none" strike="noStrike" cap="none" dirty="0">
                          <a:solidFill>
                            <a:schemeClr val="bg2"/>
                          </a:solidFill>
                          <a:effectLst/>
                          <a:latin typeface="+mn-lt"/>
                          <a:ea typeface="+mn-ea"/>
                          <a:cs typeface="+mn-cs"/>
                          <a:sym typeface="Arial"/>
                        </a:rPr>
                        <a:t>Method of moments, deriving estimators using moment conditions, examples and applications, Maximum Likelihood Estimation (MLE),  Properties of MLE, MLE for commonly used distributions (normal, exponential, binomial), Law of Large Numbers (LLN), Weak and Strong Law of Large Numbers, Implications for estimators, Central Limit Theorem (CLT), Application of CLT in estimation, Asymptotic normality of estimators,  Asymptotic Efficiency, Asymptotic variance, Comparison of estimators in large samples.</a:t>
                      </a:r>
                      <a:endParaRPr lang="en-IN" sz="1400" kern="100" dirty="0">
                        <a:solidFill>
                          <a:schemeClr val="bg2"/>
                        </a:solidFill>
                        <a:effectLst/>
                        <a:latin typeface="Times New Roman" pitchFamily="18" charset="0"/>
                        <a:ea typeface="Calibri" panose="020F0502020204030204" pitchFamily="34" charset="0"/>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6246491"/>
                  </a:ext>
                </a:extLst>
              </a:tr>
            </a:tbl>
          </a:graphicData>
        </a:graphic>
      </p:graphicFrame>
      <p:pic>
        <p:nvPicPr>
          <p:cNvPr id="3" name="Picture 2">
            <a:extLst>
              <a:ext uri="{FF2B5EF4-FFF2-40B4-BE49-F238E27FC236}">
                <a16:creationId xmlns:a16="http://schemas.microsoft.com/office/drawing/2014/main" id="{13DFE2A3-D7CC-0150-AA07-E90AA4786C82}"/>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B3551C2D-02E7-4E0F-77B2-69761EF010D3}"/>
              </a:ext>
            </a:extLst>
          </p:cNvPr>
          <p:cNvGraphicFramePr/>
          <p:nvPr>
            <p:extLst>
              <p:ext uri="{D42A27DB-BD31-4B8C-83A1-F6EECF244321}">
                <p14:modId xmlns:p14="http://schemas.microsoft.com/office/powerpoint/2010/main" val="421292251"/>
              </p:ext>
            </p:extLst>
          </p:nvPr>
        </p:nvGraphicFramePr>
        <p:xfrm>
          <a:off x="1534418" y="713550"/>
          <a:ext cx="7011546" cy="457200"/>
        </p:xfrm>
        <a:graphic>
          <a:graphicData uri="http://schemas.openxmlformats.org/drawingml/2006/diagram">
            <dgm:relIds xmlns:dgm="http://schemas.openxmlformats.org/drawingml/2006/diagram" r:dm="rId3" r:lo="rId4" r:qs="rId5" r:cs="rId6"/>
          </a:graphicData>
        </a:graphic>
      </p:graphicFrame>
      <p:sp>
        <p:nvSpPr>
          <p:cNvPr id="207" name="Google Shape;207;p30"/>
          <p:cNvSpPr txBox="1">
            <a:spLocks noGrp="1"/>
          </p:cNvSpPr>
          <p:nvPr>
            <p:ph type="body" idx="1"/>
          </p:nvPr>
        </p:nvSpPr>
        <p:spPr>
          <a:xfrm>
            <a:off x="571500" y="1292858"/>
            <a:ext cx="8001000" cy="2976926"/>
          </a:xfrm>
          <a:prstGeom prst="rect">
            <a:avLst/>
          </a:prstGeom>
          <a:noFill/>
          <a:ln>
            <a:noFill/>
          </a:ln>
        </p:spPr>
        <p:txBody>
          <a:bodyPr spcFirstLastPara="1" wrap="square" lIns="91425" tIns="45700" rIns="91425" bIns="45700" anchor="t" anchorCtr="0">
            <a:noAutofit/>
          </a:bodyPr>
          <a:lstStyle/>
          <a:p>
            <a:pPr marL="1016000" lvl="2" indent="0">
              <a:buNone/>
            </a:pPr>
            <a:endParaRPr lang="en-US" sz="1200" b="1" dirty="0">
              <a:solidFill>
                <a:schemeClr val="bg2"/>
              </a:solidFill>
            </a:endParaRPr>
          </a:p>
          <a:p>
            <a:pPr marL="76200" indent="0">
              <a:buNone/>
            </a:pPr>
            <a:r>
              <a:rPr lang="en-US" sz="1200" b="1" dirty="0">
                <a:solidFill>
                  <a:schemeClr val="bg2"/>
                </a:solidFill>
              </a:rPr>
              <a:t>TEXTBOOKS</a:t>
            </a:r>
          </a:p>
          <a:p>
            <a:r>
              <a:rPr lang="en-US" sz="1200" b="1" dirty="0">
                <a:solidFill>
                  <a:schemeClr val="bg2"/>
                </a:solidFill>
              </a:rPr>
              <a:t>T1 </a:t>
            </a:r>
            <a:r>
              <a:rPr lang="en-US" sz="1200" dirty="0">
                <a:solidFill>
                  <a:schemeClr val="bg2"/>
                </a:solidFill>
              </a:rPr>
              <a:t>M Deisenroth, A. Faisal, </a:t>
            </a:r>
            <a:r>
              <a:rPr lang="en-US" sz="1200" dirty="0" err="1">
                <a:solidFill>
                  <a:schemeClr val="bg2"/>
                </a:solidFill>
              </a:rPr>
              <a:t>C.Ong</a:t>
            </a:r>
            <a:r>
              <a:rPr lang="en-US" sz="1200" dirty="0">
                <a:solidFill>
                  <a:schemeClr val="bg2"/>
                </a:solidFill>
              </a:rPr>
              <a:t>, Mathematics for Machine Learning, Cambridge Univ Press, 2020.</a:t>
            </a:r>
            <a:endParaRPr lang="en-IN" sz="1200" dirty="0">
              <a:solidFill>
                <a:schemeClr val="bg2"/>
              </a:solidFill>
            </a:endParaRPr>
          </a:p>
          <a:p>
            <a:r>
              <a:rPr lang="en-US" sz="1200" b="1" dirty="0">
                <a:solidFill>
                  <a:schemeClr val="bg2"/>
                </a:solidFill>
              </a:rPr>
              <a:t>T2 </a:t>
            </a:r>
            <a:r>
              <a:rPr lang="en-US" sz="1200" dirty="0">
                <a:solidFill>
                  <a:schemeClr val="bg2"/>
                </a:solidFill>
              </a:rPr>
              <a:t>Gareth James, Daniela Witten, Trevor Hastie, and Robert </a:t>
            </a:r>
            <a:r>
              <a:rPr lang="en-US" sz="1200" dirty="0" err="1">
                <a:solidFill>
                  <a:schemeClr val="bg2"/>
                </a:solidFill>
              </a:rPr>
              <a:t>Tibshirani</a:t>
            </a:r>
            <a:r>
              <a:rPr lang="en-US" sz="1200" dirty="0">
                <a:solidFill>
                  <a:schemeClr val="bg2"/>
                </a:solidFill>
              </a:rPr>
              <a:t>, An Introduction to Statistical Learning: with Applications in R, Springer, 2021.</a:t>
            </a:r>
            <a:endParaRPr lang="en-IN" sz="1200" dirty="0">
              <a:solidFill>
                <a:schemeClr val="bg2"/>
              </a:solidFill>
            </a:endParaRPr>
          </a:p>
          <a:p>
            <a:r>
              <a:rPr lang="en-US" sz="1200" b="1" dirty="0">
                <a:solidFill>
                  <a:schemeClr val="bg2"/>
                </a:solidFill>
              </a:rPr>
              <a:t>T3 </a:t>
            </a:r>
            <a:r>
              <a:rPr lang="en-US" sz="1200" dirty="0">
                <a:solidFill>
                  <a:schemeClr val="bg2"/>
                </a:solidFill>
              </a:rPr>
              <a:t>Bruce, Peter, and Andrew Bruce. Practical Statistics for Data Scientists: 50+ Essential Concepts Using R and Python. 2</a:t>
            </a:r>
            <a:r>
              <a:rPr lang="en-US" sz="1200" baseline="30000" dirty="0">
                <a:solidFill>
                  <a:schemeClr val="bg2"/>
                </a:solidFill>
              </a:rPr>
              <a:t>nd</a:t>
            </a:r>
            <a:r>
              <a:rPr lang="en-US" sz="1200" dirty="0">
                <a:solidFill>
                  <a:schemeClr val="bg2"/>
                </a:solidFill>
              </a:rPr>
              <a:t> Ed, O'Reilly Media, 2020.</a:t>
            </a:r>
            <a:endParaRPr lang="en-IN" sz="1200" dirty="0">
              <a:solidFill>
                <a:schemeClr val="bg2"/>
              </a:solidFill>
            </a:endParaRPr>
          </a:p>
          <a:p>
            <a:r>
              <a:rPr lang="en-US" sz="1200" b="1" dirty="0">
                <a:solidFill>
                  <a:schemeClr val="bg2"/>
                </a:solidFill>
              </a:rPr>
              <a:t>T4 </a:t>
            </a:r>
            <a:r>
              <a:rPr lang="en-US" sz="1200" dirty="0">
                <a:solidFill>
                  <a:schemeClr val="bg2"/>
                </a:solidFill>
              </a:rPr>
              <a:t>Chatterjee, Samprit, and Ali S. Hadi. Regression Analysis by Example. 5th ed., Wiley, 2015.</a:t>
            </a:r>
            <a:endParaRPr lang="en-IN" sz="1200" dirty="0">
              <a:solidFill>
                <a:schemeClr val="bg2"/>
              </a:solidFill>
            </a:endParaRPr>
          </a:p>
          <a:p>
            <a:r>
              <a:rPr lang="en-US" sz="1200" b="1" dirty="0">
                <a:solidFill>
                  <a:schemeClr val="bg2"/>
                </a:solidFill>
              </a:rPr>
              <a:t>T5 </a:t>
            </a:r>
            <a:r>
              <a:rPr lang="en-US" sz="1200" dirty="0">
                <a:solidFill>
                  <a:schemeClr val="bg2"/>
                </a:solidFill>
              </a:rPr>
              <a:t>Mendenhall, William, Robert J. Beaver, and Barbara M. Beaver. Mathematical Statistics with Applications. 7th ed., Cengage Learning, 2013.</a:t>
            </a:r>
            <a:endParaRPr lang="en-IN" sz="1200" dirty="0">
              <a:solidFill>
                <a:schemeClr val="bg2"/>
              </a:solidFill>
            </a:endParaRPr>
          </a:p>
          <a:p>
            <a:pPr marL="76200" indent="0">
              <a:buNone/>
            </a:pPr>
            <a:r>
              <a:rPr lang="en-US" sz="1200" b="1" dirty="0">
                <a:solidFill>
                  <a:schemeClr val="bg2"/>
                </a:solidFill>
              </a:rPr>
              <a:t>REFERENCE BOOKS</a:t>
            </a:r>
            <a:endParaRPr lang="en-IN" sz="1200" dirty="0">
              <a:solidFill>
                <a:schemeClr val="bg2"/>
              </a:solidFill>
            </a:endParaRPr>
          </a:p>
          <a:p>
            <a:r>
              <a:rPr lang="en-US" sz="1200" b="1" dirty="0">
                <a:solidFill>
                  <a:schemeClr val="bg2"/>
                </a:solidFill>
              </a:rPr>
              <a:t>R1  </a:t>
            </a:r>
            <a:r>
              <a:rPr lang="en-US" sz="1200" dirty="0">
                <a:solidFill>
                  <a:schemeClr val="bg2"/>
                </a:solidFill>
              </a:rPr>
              <a:t>Jay L. Devore, Probability and Statistics for Engineering and the Sciences, Cengage Learning, 2016.</a:t>
            </a:r>
            <a:endParaRPr lang="en-IN" sz="1200" dirty="0">
              <a:solidFill>
                <a:schemeClr val="bg2"/>
              </a:solidFill>
            </a:endParaRPr>
          </a:p>
          <a:p>
            <a:r>
              <a:rPr lang="en-US" sz="1200" b="1" dirty="0">
                <a:solidFill>
                  <a:schemeClr val="bg2"/>
                </a:solidFill>
              </a:rPr>
              <a:t>R2 </a:t>
            </a:r>
            <a:r>
              <a:rPr lang="en-US" sz="1200" dirty="0">
                <a:solidFill>
                  <a:schemeClr val="bg2"/>
                </a:solidFill>
              </a:rPr>
              <a:t>I</a:t>
            </a:r>
            <a:r>
              <a:rPr lang="en-US" sz="1200" b="1" dirty="0">
                <a:solidFill>
                  <a:schemeClr val="bg2"/>
                </a:solidFill>
              </a:rPr>
              <a:t> </a:t>
            </a:r>
            <a:r>
              <a:rPr lang="en-US" sz="1200" dirty="0">
                <a:solidFill>
                  <a:schemeClr val="bg2"/>
                </a:solidFill>
              </a:rPr>
              <a:t>Goodfellow, Y. Bengio, A. Courville, Deep Learning, MIT Press, 2016.</a:t>
            </a:r>
            <a:endParaRPr lang="en-IN" sz="1200" dirty="0">
              <a:solidFill>
                <a:schemeClr val="bg2"/>
              </a:solidFill>
            </a:endParaRPr>
          </a:p>
          <a:p>
            <a:pPr marL="342900" marR="0" lvl="0" indent="-190500" algn="l" rtl="0">
              <a:spcBef>
                <a:spcPts val="480"/>
              </a:spcBef>
              <a:spcAft>
                <a:spcPts val="0"/>
              </a:spcAft>
              <a:buClr>
                <a:schemeClr val="dk1"/>
              </a:buClr>
              <a:buSzPts val="2400"/>
              <a:buFont typeface="Arial"/>
              <a:buNone/>
            </a:pPr>
            <a:endParaRPr sz="1200" b="0" i="0" u="none" dirty="0">
              <a:solidFill>
                <a:schemeClr val="dk1"/>
              </a:solidFill>
              <a:latin typeface="Times New Roman"/>
              <a:ea typeface="Times New Roman"/>
              <a:cs typeface="Times New Roman"/>
              <a:sym typeface="Times New Roman"/>
            </a:endParaRPr>
          </a:p>
        </p:txBody>
      </p:sp>
      <p:pic>
        <p:nvPicPr>
          <p:cNvPr id="208" name="Google Shape;208;p30"/>
          <p:cNvPicPr preferRelativeResize="0"/>
          <p:nvPr/>
        </p:nvPicPr>
        <p:blipFill rotWithShape="1">
          <a:blip r:embed="rId8">
            <a:alphaModFix/>
          </a:blip>
          <a:srcRect/>
          <a:stretch/>
        </p:blipFill>
        <p:spPr>
          <a:xfrm>
            <a:off x="76200" y="57150"/>
            <a:ext cx="1959775" cy="656400"/>
          </a:xfrm>
          <a:prstGeom prst="rect">
            <a:avLst/>
          </a:prstGeom>
          <a:noFill/>
          <a:ln>
            <a:noFill/>
          </a:ln>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0AC97CA8-DE90-6534-C0DF-5B09214015D1}"/>
              </a:ext>
            </a:extLst>
          </p:cNvPr>
          <p:cNvGraphicFramePr/>
          <p:nvPr>
            <p:extLst>
              <p:ext uri="{D42A27DB-BD31-4B8C-83A1-F6EECF244321}">
                <p14:modId xmlns:p14="http://schemas.microsoft.com/office/powerpoint/2010/main" val="3429137374"/>
              </p:ext>
            </p:extLst>
          </p:nvPr>
        </p:nvGraphicFramePr>
        <p:xfrm>
          <a:off x="2419074" y="359078"/>
          <a:ext cx="4220792" cy="457200"/>
        </p:xfrm>
        <a:graphic>
          <a:graphicData uri="http://schemas.openxmlformats.org/drawingml/2006/diagram">
            <dgm:relIds xmlns:dgm="http://schemas.openxmlformats.org/drawingml/2006/diagram" r:dm="rId3" r:lo="rId4" r:qs="rId5" r:cs="rId6"/>
          </a:graphicData>
        </a:graphic>
      </p:graphicFrame>
      <p:pic>
        <p:nvPicPr>
          <p:cNvPr id="243" name="Google Shape;243;p35"/>
          <p:cNvPicPr preferRelativeResize="0"/>
          <p:nvPr/>
        </p:nvPicPr>
        <p:blipFill rotWithShape="1">
          <a:blip r:embed="rId8">
            <a:alphaModFix/>
          </a:blip>
          <a:srcRect/>
          <a:stretch/>
        </p:blipFill>
        <p:spPr>
          <a:xfrm>
            <a:off x="76200" y="57150"/>
            <a:ext cx="1959775" cy="656400"/>
          </a:xfrm>
          <a:prstGeom prst="rect">
            <a:avLst/>
          </a:prstGeom>
          <a:noFill/>
          <a:ln>
            <a:noFill/>
          </a:ln>
        </p:spPr>
      </p:pic>
      <p:sp>
        <p:nvSpPr>
          <p:cNvPr id="37889"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The performance of students is evaluated as follows:</a:t>
            </a:r>
            <a:endParaRPr kumimoji="0" lang="en-US" sz="8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 name="Table 3">
            <a:extLst>
              <a:ext uri="{FF2B5EF4-FFF2-40B4-BE49-F238E27FC236}">
                <a16:creationId xmlns:a16="http://schemas.microsoft.com/office/drawing/2014/main" id="{18700859-8AF6-4B4B-E692-7799F7E3D17E}"/>
              </a:ext>
            </a:extLst>
          </p:cNvPr>
          <p:cNvGraphicFramePr>
            <a:graphicFrameLocks noGrp="1"/>
          </p:cNvGraphicFramePr>
          <p:nvPr>
            <p:extLst>
              <p:ext uri="{D42A27DB-BD31-4B8C-83A1-F6EECF244321}">
                <p14:modId xmlns:p14="http://schemas.microsoft.com/office/powerpoint/2010/main" val="1756558945"/>
              </p:ext>
            </p:extLst>
          </p:nvPr>
        </p:nvGraphicFramePr>
        <p:xfrm>
          <a:off x="539645" y="1446551"/>
          <a:ext cx="8012243" cy="2413416"/>
        </p:xfrm>
        <a:graphic>
          <a:graphicData uri="http://schemas.openxmlformats.org/drawingml/2006/table">
            <a:tbl>
              <a:tblPr firstRow="1" firstCol="1" bandRow="1">
                <a:tableStyleId>{5C22544A-7EE6-4342-B048-85BDC9FD1C3A}</a:tableStyleId>
              </a:tblPr>
              <a:tblGrid>
                <a:gridCol w="1640083">
                  <a:extLst>
                    <a:ext uri="{9D8B030D-6E8A-4147-A177-3AD203B41FA5}">
                      <a16:colId xmlns:a16="http://schemas.microsoft.com/office/drawing/2014/main" val="858975861"/>
                    </a:ext>
                  </a:extLst>
                </a:gridCol>
                <a:gridCol w="3165000">
                  <a:extLst>
                    <a:ext uri="{9D8B030D-6E8A-4147-A177-3AD203B41FA5}">
                      <a16:colId xmlns:a16="http://schemas.microsoft.com/office/drawing/2014/main" val="2605875300"/>
                    </a:ext>
                  </a:extLst>
                </a:gridCol>
                <a:gridCol w="3207160">
                  <a:extLst>
                    <a:ext uri="{9D8B030D-6E8A-4147-A177-3AD203B41FA5}">
                      <a16:colId xmlns:a16="http://schemas.microsoft.com/office/drawing/2014/main" val="2812516828"/>
                    </a:ext>
                  </a:extLst>
                </a:gridCol>
              </a:tblGrid>
              <a:tr h="334234">
                <a:tc>
                  <a:txBody>
                    <a:bodyPr/>
                    <a:lstStyle/>
                    <a:p>
                      <a:pPr marR="53975" algn="just">
                        <a:lnSpc>
                          <a:spcPct val="107000"/>
                        </a:lnSpc>
                        <a:buNone/>
                      </a:pPr>
                      <a:r>
                        <a:rPr lang="en-US" sz="1400" dirty="0">
                          <a:effectLst/>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R="53975" algn="ctr">
                        <a:lnSpc>
                          <a:spcPct val="107000"/>
                        </a:lnSpc>
                        <a:buNone/>
                      </a:pPr>
                      <a:r>
                        <a:rPr lang="en-US" sz="1400">
                          <a:effectLst/>
                        </a:rPr>
                        <a:t>Theory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2835123081"/>
                  </a:ext>
                </a:extLst>
              </a:tr>
              <a:tr h="1051887">
                <a:tc>
                  <a:txBody>
                    <a:bodyPr/>
                    <a:lstStyle/>
                    <a:p>
                      <a:pPr marR="53975" algn="just">
                        <a:lnSpc>
                          <a:spcPct val="107000"/>
                        </a:lnSpc>
                        <a:buNone/>
                      </a:pPr>
                      <a:r>
                        <a:rPr lang="en-US" sz="1400" dirty="0">
                          <a:effectLst/>
                        </a:rPr>
                        <a:t>Components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7000"/>
                        </a:lnSpc>
                        <a:buNone/>
                      </a:pPr>
                      <a:r>
                        <a:rPr lang="en-US" sz="1400" dirty="0">
                          <a:effectLst/>
                        </a:rPr>
                        <a:t>Continuous Internal Assessment (CAE) [Formative]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7000"/>
                        </a:lnSpc>
                        <a:buNone/>
                      </a:pPr>
                      <a:r>
                        <a:rPr lang="en-US" sz="1400">
                          <a:effectLst/>
                        </a:rPr>
                        <a:t>Semester End Examination (SEE)</a:t>
                      </a:r>
                      <a:br>
                        <a:rPr lang="en-US" sz="1400">
                          <a:effectLst/>
                        </a:rPr>
                      </a:br>
                      <a:r>
                        <a:rPr lang="en-US" sz="1400">
                          <a:effectLst/>
                        </a:rPr>
                        <a:t>[Summative]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22992735"/>
                  </a:ext>
                </a:extLst>
              </a:tr>
              <a:tr h="334234">
                <a:tc>
                  <a:txBody>
                    <a:bodyPr/>
                    <a:lstStyle/>
                    <a:p>
                      <a:pPr marR="53975" algn="just">
                        <a:lnSpc>
                          <a:spcPct val="107000"/>
                        </a:lnSpc>
                        <a:buNone/>
                      </a:pPr>
                      <a:r>
                        <a:rPr lang="en-US" sz="1400">
                          <a:effectLst/>
                        </a:rPr>
                        <a:t>Marks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ctr">
                        <a:lnSpc>
                          <a:spcPct val="107000"/>
                        </a:lnSpc>
                        <a:buNone/>
                      </a:pPr>
                      <a:r>
                        <a:rPr lang="en-US" sz="1400">
                          <a:effectLst/>
                        </a:rPr>
                        <a:t>40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ctr">
                        <a:lnSpc>
                          <a:spcPct val="107000"/>
                        </a:lnSpc>
                        <a:buNone/>
                      </a:pPr>
                      <a:r>
                        <a:rPr lang="en-US" sz="1400" dirty="0">
                          <a:effectLst/>
                        </a:rPr>
                        <a:t>60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6847471"/>
                  </a:ext>
                </a:extLst>
              </a:tr>
              <a:tr h="693061">
                <a:tc>
                  <a:txBody>
                    <a:bodyPr/>
                    <a:lstStyle/>
                    <a:p>
                      <a:pPr marR="53975" algn="just">
                        <a:lnSpc>
                          <a:spcPct val="107000"/>
                        </a:lnSpc>
                        <a:buNone/>
                      </a:pPr>
                      <a:r>
                        <a:rPr lang="en-US" sz="1400" dirty="0">
                          <a:effectLst/>
                        </a:rPr>
                        <a:t>Total Marks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R="53975" algn="ctr">
                        <a:lnSpc>
                          <a:spcPct val="107000"/>
                        </a:lnSpc>
                        <a:buNone/>
                      </a:pPr>
                      <a:r>
                        <a:rPr lang="en-US" sz="1400" dirty="0">
                          <a:effectLst/>
                        </a:rPr>
                        <a:t>100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2976010148"/>
                  </a:ext>
                </a:extLst>
              </a:tr>
            </a:tbl>
          </a:graphicData>
        </a:graphic>
      </p:graphicFrame>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8C8CA4BE-630B-D844-EEB4-9F5C65E303C2}"/>
              </a:ext>
            </a:extLst>
          </p:cNvPr>
          <p:cNvGraphicFramePr/>
          <p:nvPr>
            <p:extLst>
              <p:ext uri="{D42A27DB-BD31-4B8C-83A1-F6EECF244321}">
                <p14:modId xmlns:p14="http://schemas.microsoft.com/office/powerpoint/2010/main" val="162184391"/>
              </p:ext>
            </p:extLst>
          </p:nvPr>
        </p:nvGraphicFramePr>
        <p:xfrm>
          <a:off x="2172559" y="0"/>
          <a:ext cx="5610154" cy="552893"/>
        </p:xfrm>
        <a:graphic>
          <a:graphicData uri="http://schemas.openxmlformats.org/drawingml/2006/diagram">
            <dgm:relIds xmlns:dgm="http://schemas.openxmlformats.org/drawingml/2006/diagram" r:dm="rId3" r:lo="rId4" r:qs="rId5" r:cs="rId6"/>
          </a:graphicData>
        </a:graphic>
      </p:graphicFrame>
      <p:pic>
        <p:nvPicPr>
          <p:cNvPr id="251" name="Google Shape;251;p36"/>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4" name="Table 3">
            <a:extLst>
              <a:ext uri="{FF2B5EF4-FFF2-40B4-BE49-F238E27FC236}">
                <a16:creationId xmlns:a16="http://schemas.microsoft.com/office/drawing/2014/main" id="{6FBDB1F7-06EF-0A60-F9AC-4E10742CD393}"/>
              </a:ext>
            </a:extLst>
          </p:cNvPr>
          <p:cNvGraphicFramePr>
            <a:graphicFrameLocks noGrp="1"/>
          </p:cNvGraphicFramePr>
          <p:nvPr>
            <p:extLst>
              <p:ext uri="{D42A27DB-BD31-4B8C-83A1-F6EECF244321}">
                <p14:modId xmlns:p14="http://schemas.microsoft.com/office/powerpoint/2010/main" val="723733977"/>
              </p:ext>
            </p:extLst>
          </p:nvPr>
        </p:nvGraphicFramePr>
        <p:xfrm>
          <a:off x="659567" y="951875"/>
          <a:ext cx="7847351" cy="4143257"/>
        </p:xfrm>
        <a:graphic>
          <a:graphicData uri="http://schemas.openxmlformats.org/drawingml/2006/table">
            <a:tbl>
              <a:tblPr firstRow="1" firstCol="1" bandRow="1">
                <a:tableStyleId>{5C22544A-7EE6-4342-B048-85BDC9FD1C3A}</a:tableStyleId>
              </a:tblPr>
              <a:tblGrid>
                <a:gridCol w="432328">
                  <a:extLst>
                    <a:ext uri="{9D8B030D-6E8A-4147-A177-3AD203B41FA5}">
                      <a16:colId xmlns:a16="http://schemas.microsoft.com/office/drawing/2014/main" val="1359105310"/>
                    </a:ext>
                  </a:extLst>
                </a:gridCol>
                <a:gridCol w="880638">
                  <a:extLst>
                    <a:ext uri="{9D8B030D-6E8A-4147-A177-3AD203B41FA5}">
                      <a16:colId xmlns:a16="http://schemas.microsoft.com/office/drawing/2014/main" val="1735118162"/>
                    </a:ext>
                  </a:extLst>
                </a:gridCol>
                <a:gridCol w="1031344">
                  <a:extLst>
                    <a:ext uri="{9D8B030D-6E8A-4147-A177-3AD203B41FA5}">
                      <a16:colId xmlns:a16="http://schemas.microsoft.com/office/drawing/2014/main" val="4260591323"/>
                    </a:ext>
                  </a:extLst>
                </a:gridCol>
                <a:gridCol w="823554">
                  <a:extLst>
                    <a:ext uri="{9D8B030D-6E8A-4147-A177-3AD203B41FA5}">
                      <a16:colId xmlns:a16="http://schemas.microsoft.com/office/drawing/2014/main" val="1381534930"/>
                    </a:ext>
                  </a:extLst>
                </a:gridCol>
                <a:gridCol w="953708">
                  <a:extLst>
                    <a:ext uri="{9D8B030D-6E8A-4147-A177-3AD203B41FA5}">
                      <a16:colId xmlns:a16="http://schemas.microsoft.com/office/drawing/2014/main" val="538724483"/>
                    </a:ext>
                  </a:extLst>
                </a:gridCol>
                <a:gridCol w="533558">
                  <a:extLst>
                    <a:ext uri="{9D8B030D-6E8A-4147-A177-3AD203B41FA5}">
                      <a16:colId xmlns:a16="http://schemas.microsoft.com/office/drawing/2014/main" val="28636006"/>
                    </a:ext>
                  </a:extLst>
                </a:gridCol>
                <a:gridCol w="1057985">
                  <a:extLst>
                    <a:ext uri="{9D8B030D-6E8A-4147-A177-3AD203B41FA5}">
                      <a16:colId xmlns:a16="http://schemas.microsoft.com/office/drawing/2014/main" val="1685937187"/>
                    </a:ext>
                  </a:extLst>
                </a:gridCol>
                <a:gridCol w="711665">
                  <a:extLst>
                    <a:ext uri="{9D8B030D-6E8A-4147-A177-3AD203B41FA5}">
                      <a16:colId xmlns:a16="http://schemas.microsoft.com/office/drawing/2014/main" val="252402563"/>
                    </a:ext>
                  </a:extLst>
                </a:gridCol>
                <a:gridCol w="711665">
                  <a:extLst>
                    <a:ext uri="{9D8B030D-6E8A-4147-A177-3AD203B41FA5}">
                      <a16:colId xmlns:a16="http://schemas.microsoft.com/office/drawing/2014/main" val="3572941832"/>
                    </a:ext>
                  </a:extLst>
                </a:gridCol>
                <a:gridCol w="710906">
                  <a:extLst>
                    <a:ext uri="{9D8B030D-6E8A-4147-A177-3AD203B41FA5}">
                      <a16:colId xmlns:a16="http://schemas.microsoft.com/office/drawing/2014/main" val="2122740057"/>
                    </a:ext>
                  </a:extLst>
                </a:gridCol>
              </a:tblGrid>
              <a:tr h="898570">
                <a:tc>
                  <a:txBody>
                    <a:bodyPr/>
                    <a:lstStyle/>
                    <a:p>
                      <a:pPr indent="-82550" algn="ctr">
                        <a:lnSpc>
                          <a:spcPct val="107000"/>
                        </a:lnSpc>
                        <a:buNone/>
                      </a:pPr>
                      <a:r>
                        <a:rPr lang="en-US" sz="1000" dirty="0" err="1">
                          <a:effectLst/>
                        </a:rPr>
                        <a:t>S.No</a:t>
                      </a:r>
                      <a:r>
                        <a:rPr lang="en-US" sz="1000" dirty="0">
                          <a:effectLst/>
                        </a:rPr>
                        <a:t>.</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135890" algn="just">
                        <a:lnSpc>
                          <a:spcPct val="107000"/>
                        </a:lnSpc>
                        <a:buNone/>
                      </a:pPr>
                      <a:r>
                        <a:rPr lang="en-US" sz="1000" dirty="0">
                          <a:effectLst/>
                        </a:rPr>
                        <a:t>Direct Evaluation Instruments</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135890">
                        <a:lnSpc>
                          <a:spcPct val="107000"/>
                        </a:lnSpc>
                        <a:buNone/>
                      </a:pPr>
                      <a:r>
                        <a:rPr lang="en-US" sz="1000">
                          <a:effectLst/>
                        </a:rPr>
                        <a:t>Weightage of actual conduct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Frequency of Task</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Final Weightage in Internal Assessment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BT Levels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 Mapping</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Mapping with SIs (ABET)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Mapping with PIs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Remarks</a:t>
                      </a:r>
                      <a:endParaRPr lang="en-IN" sz="1000">
                        <a:effectLst/>
                      </a:endParaRPr>
                    </a:p>
                    <a:p>
                      <a:pPr indent="-228600" algn="ctr">
                        <a:lnSpc>
                          <a:spcPct val="107000"/>
                        </a:lnSpc>
                        <a:buNone/>
                      </a:pPr>
                      <a:r>
                        <a:rPr lang="en-US" sz="1000">
                          <a:effectLst/>
                        </a:rPr>
                        <a:t>(Graded/Non-Graded)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1003662295"/>
                  </a:ext>
                </a:extLst>
              </a:tr>
              <a:tr h="388993">
                <a:tc>
                  <a:txBody>
                    <a:bodyPr/>
                    <a:lstStyle/>
                    <a:p>
                      <a:pPr indent="-82550" algn="ctr">
                        <a:lnSpc>
                          <a:spcPct val="107000"/>
                        </a:lnSpc>
                        <a:buNone/>
                      </a:pPr>
                      <a:r>
                        <a:rPr lang="en-US" sz="1000">
                          <a:effectLst/>
                        </a:rPr>
                        <a:t>1</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Assignment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dirty="0">
                          <a:effectLst/>
                        </a:rPr>
                        <a:t>10 marks for each assignment</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One per unit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10</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CO4,CO5</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SO1,SO2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1.2,1.3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214937263"/>
                  </a:ext>
                </a:extLst>
              </a:tr>
              <a:tr h="290079">
                <a:tc>
                  <a:txBody>
                    <a:bodyPr/>
                    <a:lstStyle/>
                    <a:p>
                      <a:pPr indent="-82550" algn="ctr">
                        <a:lnSpc>
                          <a:spcPct val="107000"/>
                        </a:lnSpc>
                        <a:buNone/>
                      </a:pPr>
                      <a:r>
                        <a:rPr lang="en-US" sz="1000">
                          <a:effectLst/>
                        </a:rPr>
                        <a:t>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Exam</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20 marks for one MST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dirty="0">
                          <a:effectLst/>
                        </a:rPr>
                        <a:t>2 per semester</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20</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CO1,CO2,CO3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SO5</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3.1</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987078350"/>
                  </a:ext>
                </a:extLst>
              </a:tr>
              <a:tr h="290079">
                <a:tc>
                  <a:txBody>
                    <a:bodyPr/>
                    <a:lstStyle/>
                    <a:p>
                      <a:pPr indent="-82550" algn="ctr">
                        <a:lnSpc>
                          <a:spcPct val="107000"/>
                        </a:lnSpc>
                        <a:buNone/>
                      </a:pPr>
                      <a:r>
                        <a:rPr lang="en-US" sz="1000">
                          <a:effectLst/>
                        </a:rPr>
                        <a:t>3</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Quiz/Test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4 marks for each quiz</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dirty="0">
                          <a:effectLst/>
                        </a:rPr>
                        <a:t>2 per unit</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1</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CO1, CO2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SO1, SO6</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1.3,4.2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3518508724"/>
                  </a:ext>
                </a:extLst>
              </a:tr>
              <a:tr h="290079">
                <a:tc>
                  <a:txBody>
                    <a:bodyPr/>
                    <a:lstStyle/>
                    <a:p>
                      <a:pPr indent="-82550" algn="ctr">
                        <a:lnSpc>
                          <a:spcPct val="107000"/>
                        </a:lnSpc>
                        <a:buNone/>
                      </a:pPr>
                      <a:r>
                        <a:rPr lang="en-US" sz="1000">
                          <a:effectLst/>
                        </a:rPr>
                        <a:t>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Surprise test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12 marks for each test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One per unit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CO3,CO4</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SO1, SO4,SO5</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1.2,5.2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3861387359"/>
                  </a:ext>
                </a:extLst>
              </a:tr>
              <a:tr h="685735">
                <a:tc>
                  <a:txBody>
                    <a:bodyPr/>
                    <a:lstStyle/>
                    <a:p>
                      <a:pPr indent="-82550" algn="ctr">
                        <a:lnSpc>
                          <a:spcPct val="107000"/>
                        </a:lnSpc>
                        <a:buNone/>
                      </a:pPr>
                      <a:r>
                        <a:rPr lang="en-US" sz="1000">
                          <a:effectLst/>
                        </a:rPr>
                        <a:t>5</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Homework</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One per lecture topic (of 2 questions)</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dirty="0">
                          <a:effectLst/>
                        </a:rPr>
                        <a:t>NA</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NA</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Non-Graded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188819282"/>
                  </a:ext>
                </a:extLst>
              </a:tr>
              <a:tr h="290079">
                <a:tc>
                  <a:txBody>
                    <a:bodyPr/>
                    <a:lstStyle/>
                    <a:p>
                      <a:pPr indent="-82550" algn="ctr">
                        <a:lnSpc>
                          <a:spcPct val="107000"/>
                        </a:lnSpc>
                        <a:buNone/>
                      </a:pPr>
                      <a:r>
                        <a:rPr lang="en-US" sz="1000">
                          <a:effectLst/>
                        </a:rPr>
                        <a:t>6</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Case study</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NA</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Non-Graded</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192830728"/>
                  </a:ext>
                </a:extLst>
              </a:tr>
              <a:tr h="290079">
                <a:tc>
                  <a:txBody>
                    <a:bodyPr/>
                    <a:lstStyle/>
                    <a:p>
                      <a:pPr indent="-82550" algn="ctr">
                        <a:lnSpc>
                          <a:spcPct val="107000"/>
                        </a:lnSpc>
                        <a:buNone/>
                      </a:pPr>
                      <a:r>
                        <a:rPr lang="en-US" sz="1000">
                          <a:effectLst/>
                        </a:rPr>
                        <a:t>7</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Discussion Forum</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One per unit</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NA</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Non-Graded</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4142338445"/>
                  </a:ext>
                </a:extLst>
              </a:tr>
              <a:tr h="290079">
                <a:tc>
                  <a:txBody>
                    <a:bodyPr/>
                    <a:lstStyle/>
                    <a:p>
                      <a:pPr indent="-82550" algn="ctr">
                        <a:lnSpc>
                          <a:spcPct val="107000"/>
                        </a:lnSpc>
                        <a:buNone/>
                      </a:pPr>
                      <a:r>
                        <a:rPr lang="en-US" sz="1000">
                          <a:effectLst/>
                        </a:rPr>
                        <a:t>8</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Presentation</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Non-Graded</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2997332152"/>
                  </a:ext>
                </a:extLst>
              </a:tr>
              <a:tr h="191164">
                <a:tc>
                  <a:txBody>
                    <a:bodyPr/>
                    <a:lstStyle/>
                    <a:p>
                      <a:pPr indent="-82550" algn="ctr">
                        <a:lnSpc>
                          <a:spcPct val="107000"/>
                        </a:lnSpc>
                        <a:buNone/>
                      </a:pPr>
                      <a:r>
                        <a:rPr lang="en-US" sz="1000">
                          <a:effectLst/>
                        </a:rPr>
                        <a:t>9</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57150" algn="ctr">
                        <a:lnSpc>
                          <a:spcPct val="107000"/>
                        </a:lnSpc>
                        <a:buNone/>
                      </a:pPr>
                      <a:r>
                        <a:rPr lang="en-US" sz="1000">
                          <a:effectLst/>
                        </a:rPr>
                        <a:t>Attendance</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marR="28575" algn="just">
                        <a:lnSpc>
                          <a:spcPct val="107000"/>
                        </a:lnSpc>
                        <a:buNone/>
                      </a:pPr>
                      <a:r>
                        <a:rPr lang="en-US" sz="1000">
                          <a:effectLst/>
                        </a:rPr>
                        <a:t>2</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a:effectLst/>
                        </a:rPr>
                        <a:t>NA</a:t>
                      </a:r>
                      <a:endParaRPr lang="en-IN"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tc>
                <a:tc>
                  <a:txBody>
                    <a:bodyPr/>
                    <a:lstStyle/>
                    <a:p>
                      <a:pPr algn="ctr">
                        <a:lnSpc>
                          <a:spcPct val="107000"/>
                        </a:lnSpc>
                        <a:buNone/>
                      </a:pPr>
                      <a:r>
                        <a:rPr lang="en-US" sz="1000" dirty="0">
                          <a:effectLst/>
                        </a:rPr>
                        <a:t>Graded</a:t>
                      </a:r>
                      <a:endParaRPr lang="en-IN"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917" marR="39917" marT="0" marB="0" anchor="ctr"/>
                </a:tc>
                <a:extLst>
                  <a:ext uri="{0D108BD9-81ED-4DB2-BD59-A6C34878D82A}">
                    <a16:rowId xmlns:a16="http://schemas.microsoft.com/office/drawing/2014/main" val="1705954318"/>
                  </a:ext>
                </a:extLst>
              </a:tr>
            </a:tbl>
          </a:graphicData>
        </a:graphic>
      </p:graphicFrame>
      <p:pic>
        <p:nvPicPr>
          <p:cNvPr id="3" name="Picture 2">
            <a:extLst>
              <a:ext uri="{FF2B5EF4-FFF2-40B4-BE49-F238E27FC236}">
                <a16:creationId xmlns:a16="http://schemas.microsoft.com/office/drawing/2014/main" id="{060A19A0-F748-8163-FD7F-BC17076D9A8B}"/>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2BF9E167-2B75-171E-3F49-CEEEA8FD0AB5}"/>
              </a:ext>
            </a:extLst>
          </p:cNvPr>
          <p:cNvGraphicFramePr/>
          <p:nvPr>
            <p:extLst>
              <p:ext uri="{D42A27DB-BD31-4B8C-83A1-F6EECF244321}">
                <p14:modId xmlns:p14="http://schemas.microsoft.com/office/powerpoint/2010/main" val="2431907980"/>
              </p:ext>
            </p:extLst>
          </p:nvPr>
        </p:nvGraphicFramePr>
        <p:xfrm>
          <a:off x="2108378" y="560809"/>
          <a:ext cx="5650257" cy="484800"/>
        </p:xfrm>
        <a:graphic>
          <a:graphicData uri="http://schemas.openxmlformats.org/drawingml/2006/diagram">
            <dgm:relIds xmlns:dgm="http://schemas.openxmlformats.org/drawingml/2006/diagram" r:dm="rId3" r:lo="rId4" r:qs="rId5" r:cs="rId6"/>
          </a:graphicData>
        </a:graphic>
      </p:graphicFrame>
      <p:sp>
        <p:nvSpPr>
          <p:cNvPr id="221" name="Google Shape;221;p32"/>
          <p:cNvSpPr txBox="1">
            <a:spLocks noGrp="1"/>
          </p:cNvSpPr>
          <p:nvPr>
            <p:ph type="body" idx="1"/>
          </p:nvPr>
        </p:nvSpPr>
        <p:spPr>
          <a:xfrm>
            <a:off x="681789" y="1658309"/>
            <a:ext cx="8001000" cy="3115800"/>
          </a:xfrm>
          <a:prstGeom prst="rect">
            <a:avLst/>
          </a:prstGeom>
          <a:noFill/>
          <a:ln>
            <a:noFill/>
          </a:ln>
        </p:spPr>
        <p:txBody>
          <a:bodyPr spcFirstLastPara="1" wrap="square" lIns="91425" tIns="45700" rIns="91425" bIns="45700" anchor="t" anchorCtr="0">
            <a:normAutofit/>
          </a:bodyPr>
          <a:lstStyle/>
          <a:p>
            <a:pPr marL="342900" marR="0" lvl="0" indent="0" algn="l" rtl="0">
              <a:lnSpc>
                <a:spcPct val="80000"/>
              </a:lnSpc>
              <a:spcBef>
                <a:spcPts val="440"/>
              </a:spcBef>
              <a:spcAft>
                <a:spcPts val="0"/>
              </a:spcAft>
              <a:buNone/>
            </a:pPr>
            <a:r>
              <a:rPr lang="en-US" sz="2200" b="0" i="0" u="none" dirty="0">
                <a:solidFill>
                  <a:schemeClr val="dk1"/>
                </a:solidFill>
                <a:latin typeface="Cambria"/>
                <a:ea typeface="Cambria"/>
                <a:cs typeface="Cambria"/>
                <a:sym typeface="Cambria"/>
              </a:rPr>
              <a:t>  </a:t>
            </a:r>
            <a:endParaRPr sz="2200" b="0" i="0" u="none" dirty="0">
              <a:solidFill>
                <a:schemeClr val="dk1"/>
              </a:solidFill>
              <a:latin typeface="Cambria"/>
              <a:ea typeface="Cambria"/>
              <a:cs typeface="Cambria"/>
              <a:sym typeface="Cambria"/>
            </a:endParaRPr>
          </a:p>
        </p:txBody>
      </p:sp>
      <p:pic>
        <p:nvPicPr>
          <p:cNvPr id="222" name="Google Shape;222;p32"/>
          <p:cNvPicPr preferRelativeResize="0"/>
          <p:nvPr/>
        </p:nvPicPr>
        <p:blipFill rotWithShape="1">
          <a:blip r:embed="rId8">
            <a:alphaModFix/>
          </a:blip>
          <a:srcRect/>
          <a:stretch/>
        </p:blipFill>
        <p:spPr>
          <a:xfrm>
            <a:off x="76200" y="57150"/>
            <a:ext cx="1959775" cy="656400"/>
          </a:xfrm>
          <a:prstGeom prst="rect">
            <a:avLst/>
          </a:prstGeom>
          <a:noFill/>
          <a:ln>
            <a:noFill/>
          </a:ln>
        </p:spPr>
      </p:pic>
      <p:graphicFrame>
        <p:nvGraphicFramePr>
          <p:cNvPr id="6" name="Table 5"/>
          <p:cNvGraphicFramePr>
            <a:graphicFrameLocks noGrp="1"/>
          </p:cNvGraphicFramePr>
          <p:nvPr/>
        </p:nvGraphicFramePr>
        <p:xfrm>
          <a:off x="127591" y="1754372"/>
          <a:ext cx="8878191" cy="2977114"/>
        </p:xfrm>
        <a:graphic>
          <a:graphicData uri="http://schemas.openxmlformats.org/drawingml/2006/table">
            <a:tbl>
              <a:tblPr/>
              <a:tblGrid>
                <a:gridCol w="422771">
                  <a:extLst>
                    <a:ext uri="{9D8B030D-6E8A-4147-A177-3AD203B41FA5}">
                      <a16:colId xmlns:a16="http://schemas.microsoft.com/office/drawing/2014/main" val="20000"/>
                    </a:ext>
                  </a:extLst>
                </a:gridCol>
                <a:gridCol w="422771">
                  <a:extLst>
                    <a:ext uri="{9D8B030D-6E8A-4147-A177-3AD203B41FA5}">
                      <a16:colId xmlns:a16="http://schemas.microsoft.com/office/drawing/2014/main" val="20001"/>
                    </a:ext>
                  </a:extLst>
                </a:gridCol>
                <a:gridCol w="422771">
                  <a:extLst>
                    <a:ext uri="{9D8B030D-6E8A-4147-A177-3AD203B41FA5}">
                      <a16:colId xmlns:a16="http://schemas.microsoft.com/office/drawing/2014/main" val="20002"/>
                    </a:ext>
                  </a:extLst>
                </a:gridCol>
                <a:gridCol w="422771">
                  <a:extLst>
                    <a:ext uri="{9D8B030D-6E8A-4147-A177-3AD203B41FA5}">
                      <a16:colId xmlns:a16="http://schemas.microsoft.com/office/drawing/2014/main" val="20003"/>
                    </a:ext>
                  </a:extLst>
                </a:gridCol>
                <a:gridCol w="422771">
                  <a:extLst>
                    <a:ext uri="{9D8B030D-6E8A-4147-A177-3AD203B41FA5}">
                      <a16:colId xmlns:a16="http://schemas.microsoft.com/office/drawing/2014/main" val="20004"/>
                    </a:ext>
                  </a:extLst>
                </a:gridCol>
                <a:gridCol w="422771">
                  <a:extLst>
                    <a:ext uri="{9D8B030D-6E8A-4147-A177-3AD203B41FA5}">
                      <a16:colId xmlns:a16="http://schemas.microsoft.com/office/drawing/2014/main" val="20005"/>
                    </a:ext>
                  </a:extLst>
                </a:gridCol>
                <a:gridCol w="422771">
                  <a:extLst>
                    <a:ext uri="{9D8B030D-6E8A-4147-A177-3AD203B41FA5}">
                      <a16:colId xmlns:a16="http://schemas.microsoft.com/office/drawing/2014/main" val="20006"/>
                    </a:ext>
                  </a:extLst>
                </a:gridCol>
                <a:gridCol w="422771">
                  <a:extLst>
                    <a:ext uri="{9D8B030D-6E8A-4147-A177-3AD203B41FA5}">
                      <a16:colId xmlns:a16="http://schemas.microsoft.com/office/drawing/2014/main" val="20007"/>
                    </a:ext>
                  </a:extLst>
                </a:gridCol>
                <a:gridCol w="422771">
                  <a:extLst>
                    <a:ext uri="{9D8B030D-6E8A-4147-A177-3AD203B41FA5}">
                      <a16:colId xmlns:a16="http://schemas.microsoft.com/office/drawing/2014/main" val="20008"/>
                    </a:ext>
                  </a:extLst>
                </a:gridCol>
                <a:gridCol w="422771">
                  <a:extLst>
                    <a:ext uri="{9D8B030D-6E8A-4147-A177-3AD203B41FA5}">
                      <a16:colId xmlns:a16="http://schemas.microsoft.com/office/drawing/2014/main" val="20009"/>
                    </a:ext>
                  </a:extLst>
                </a:gridCol>
                <a:gridCol w="422771">
                  <a:extLst>
                    <a:ext uri="{9D8B030D-6E8A-4147-A177-3AD203B41FA5}">
                      <a16:colId xmlns:a16="http://schemas.microsoft.com/office/drawing/2014/main" val="20010"/>
                    </a:ext>
                  </a:extLst>
                </a:gridCol>
                <a:gridCol w="422771">
                  <a:extLst>
                    <a:ext uri="{9D8B030D-6E8A-4147-A177-3AD203B41FA5}">
                      <a16:colId xmlns:a16="http://schemas.microsoft.com/office/drawing/2014/main" val="20011"/>
                    </a:ext>
                  </a:extLst>
                </a:gridCol>
                <a:gridCol w="422771">
                  <a:extLst>
                    <a:ext uri="{9D8B030D-6E8A-4147-A177-3AD203B41FA5}">
                      <a16:colId xmlns:a16="http://schemas.microsoft.com/office/drawing/2014/main" val="20012"/>
                    </a:ext>
                  </a:extLst>
                </a:gridCol>
                <a:gridCol w="422771">
                  <a:extLst>
                    <a:ext uri="{9D8B030D-6E8A-4147-A177-3AD203B41FA5}">
                      <a16:colId xmlns:a16="http://schemas.microsoft.com/office/drawing/2014/main" val="20013"/>
                    </a:ext>
                  </a:extLst>
                </a:gridCol>
                <a:gridCol w="422771">
                  <a:extLst>
                    <a:ext uri="{9D8B030D-6E8A-4147-A177-3AD203B41FA5}">
                      <a16:colId xmlns:a16="http://schemas.microsoft.com/office/drawing/2014/main" val="20014"/>
                    </a:ext>
                  </a:extLst>
                </a:gridCol>
                <a:gridCol w="422771">
                  <a:extLst>
                    <a:ext uri="{9D8B030D-6E8A-4147-A177-3AD203B41FA5}">
                      <a16:colId xmlns:a16="http://schemas.microsoft.com/office/drawing/2014/main" val="20015"/>
                    </a:ext>
                  </a:extLst>
                </a:gridCol>
                <a:gridCol w="422771">
                  <a:extLst>
                    <a:ext uri="{9D8B030D-6E8A-4147-A177-3AD203B41FA5}">
                      <a16:colId xmlns:a16="http://schemas.microsoft.com/office/drawing/2014/main" val="20016"/>
                    </a:ext>
                  </a:extLst>
                </a:gridCol>
                <a:gridCol w="422771">
                  <a:extLst>
                    <a:ext uri="{9D8B030D-6E8A-4147-A177-3AD203B41FA5}">
                      <a16:colId xmlns:a16="http://schemas.microsoft.com/office/drawing/2014/main" val="20017"/>
                    </a:ext>
                  </a:extLst>
                </a:gridCol>
                <a:gridCol w="422771">
                  <a:extLst>
                    <a:ext uri="{9D8B030D-6E8A-4147-A177-3AD203B41FA5}">
                      <a16:colId xmlns:a16="http://schemas.microsoft.com/office/drawing/2014/main" val="20018"/>
                    </a:ext>
                  </a:extLst>
                </a:gridCol>
                <a:gridCol w="422771">
                  <a:extLst>
                    <a:ext uri="{9D8B030D-6E8A-4147-A177-3AD203B41FA5}">
                      <a16:colId xmlns:a16="http://schemas.microsoft.com/office/drawing/2014/main" val="20019"/>
                    </a:ext>
                  </a:extLst>
                </a:gridCol>
                <a:gridCol w="422771">
                  <a:extLst>
                    <a:ext uri="{9D8B030D-6E8A-4147-A177-3AD203B41FA5}">
                      <a16:colId xmlns:a16="http://schemas.microsoft.com/office/drawing/2014/main" val="20020"/>
                    </a:ext>
                  </a:extLst>
                </a:gridCol>
              </a:tblGrid>
              <a:tr h="777504">
                <a:tc>
                  <a:txBody>
                    <a:bodyPr/>
                    <a:lstStyle/>
                    <a:p>
                      <a:pPr algn="ctr" fontAlgn="b"/>
                      <a:r>
                        <a:rPr lang="en-US" sz="800" b="0" i="0" u="none" strike="noStrike" dirty="0">
                          <a:solidFill>
                            <a:srgbClr val="000000"/>
                          </a:solidFill>
                          <a:latin typeface="Times New Roman"/>
                        </a:rPr>
                        <a:t>Course Outcome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dirty="0">
                          <a:solidFill>
                            <a:srgbClr val="000000"/>
                          </a:solidFill>
                          <a:latin typeface="Times New Roman"/>
                        </a:rPr>
                        <a:t>PO1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dirty="0">
                          <a:solidFill>
                            <a:srgbClr val="000000"/>
                          </a:solidFill>
                          <a:latin typeface="Times New Roman"/>
                        </a:rPr>
                        <a:t>PO5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PO8</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PO17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fontAlgn="b"/>
                      <a:r>
                        <a:rPr lang="en-US" sz="800" b="0" i="0" u="none" strike="noStrike">
                          <a:solidFill>
                            <a:srgbClr val="000000"/>
                          </a:solidFill>
                          <a:latin typeface="Times New Roman"/>
                        </a:rPr>
                        <a:t>PSO1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b"/>
                      <a:r>
                        <a:rPr lang="en-US" sz="800" b="0" i="0" u="none" strike="noStrike">
                          <a:solidFill>
                            <a:srgbClr val="000000"/>
                          </a:solidFill>
                          <a:latin typeface="Times New Roman"/>
                        </a:rPr>
                        <a:t>PSO2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b"/>
                      <a:r>
                        <a:rPr lang="en-US" sz="800" b="0" i="0" u="none" strike="noStrike">
                          <a:solidFill>
                            <a:srgbClr val="000000"/>
                          </a:solidFill>
                          <a:latin typeface="Times New Roman"/>
                        </a:rPr>
                        <a:t>PSO3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0"/>
                  </a:ext>
                </a:extLst>
              </a:tr>
              <a:tr h="439922">
                <a:tc>
                  <a:txBody>
                    <a:bodyPr/>
                    <a:lstStyle/>
                    <a:p>
                      <a:pPr algn="ctr" fontAlgn="b"/>
                      <a:r>
                        <a:rPr lang="en-US" sz="800" b="0" i="0" u="none" strike="noStrike">
                          <a:solidFill>
                            <a:srgbClr val="000000"/>
                          </a:solidFill>
                          <a:latin typeface="Times New Roman"/>
                        </a:rPr>
                        <a:t>CO1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dirty="0">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1"/>
                  </a:ext>
                </a:extLst>
              </a:tr>
              <a:tr h="439922">
                <a:tc>
                  <a:txBody>
                    <a:bodyPr/>
                    <a:lstStyle/>
                    <a:p>
                      <a:pPr algn="ctr" fontAlgn="b"/>
                      <a:r>
                        <a:rPr lang="en-US" sz="800" b="0" i="0" u="none" strike="noStrike">
                          <a:solidFill>
                            <a:srgbClr val="000000"/>
                          </a:solidFill>
                          <a:latin typeface="Times New Roman"/>
                        </a:rPr>
                        <a:t>CO2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2"/>
                  </a:ext>
                </a:extLst>
              </a:tr>
              <a:tr h="439922">
                <a:tc>
                  <a:txBody>
                    <a:bodyPr/>
                    <a:lstStyle/>
                    <a:p>
                      <a:pPr algn="ctr" fontAlgn="b"/>
                      <a:r>
                        <a:rPr lang="en-US" sz="800" b="0" i="0" u="none" strike="noStrike">
                          <a:solidFill>
                            <a:srgbClr val="000000"/>
                          </a:solidFill>
                          <a:latin typeface="Times New Roman"/>
                        </a:rPr>
                        <a:t>CO3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3"/>
                  </a:ext>
                </a:extLst>
              </a:tr>
              <a:tr h="439922">
                <a:tc>
                  <a:txBody>
                    <a:bodyPr/>
                    <a:lstStyle/>
                    <a:p>
                      <a:pPr algn="ctr" fontAlgn="b"/>
                      <a:r>
                        <a:rPr lang="en-US" sz="800" b="0" i="0" u="none" strike="noStrike">
                          <a:solidFill>
                            <a:srgbClr val="000000"/>
                          </a:solidFill>
                          <a:latin typeface="Times New Roman"/>
                        </a:rPr>
                        <a:t>CO4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4"/>
                  </a:ext>
                </a:extLst>
              </a:tr>
              <a:tr h="439922">
                <a:tc>
                  <a:txBody>
                    <a:bodyPr/>
                    <a:lstStyle/>
                    <a:p>
                      <a:pPr algn="ctr" fontAlgn="b"/>
                      <a:r>
                        <a:rPr lang="en-US" sz="800" b="0" i="0" u="none" strike="noStrike">
                          <a:solidFill>
                            <a:srgbClr val="000000"/>
                          </a:solidFill>
                          <a:latin typeface="Times New Roman"/>
                        </a:rPr>
                        <a:t>CO5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dirty="0">
                          <a:solidFill>
                            <a:srgbClr val="000000"/>
                          </a:solidFill>
                          <a:latin typeface="Times New Roman"/>
                        </a:rPr>
                        <a:t>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800" b="0" i="0" u="none" strike="noStrike">
                          <a:solidFill>
                            <a:srgbClr val="000000"/>
                          </a:solidFill>
                          <a:latin typeface="Times New Roman"/>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a:solidFill>
                            <a:srgbClr val="000000"/>
                          </a:solidFill>
                          <a:latin typeface="Times New Roman"/>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tc>
                  <a:txBody>
                    <a:bodyPr/>
                    <a:lstStyle/>
                    <a:p>
                      <a:pPr algn="ctr" fontAlgn="ctr"/>
                      <a:r>
                        <a:rPr lang="en-US" sz="800" b="0" i="0" u="none" strike="noStrike" dirty="0">
                          <a:solidFill>
                            <a:srgbClr val="000000"/>
                          </a:solidFill>
                          <a:latin typeface="Times New Roman"/>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BF6"/>
                    </a:solidFill>
                  </a:tcPr>
                </a:tc>
                <a:extLst>
                  <a:ext uri="{0D108BD9-81ED-4DB2-BD59-A6C34878D82A}">
                    <a16:rowId xmlns:a16="http://schemas.microsoft.com/office/drawing/2014/main" val="10005"/>
                  </a:ext>
                </a:extLst>
              </a:tr>
            </a:tbl>
          </a:graphicData>
        </a:graphic>
      </p:graphicFrame>
      <p:pic>
        <p:nvPicPr>
          <p:cNvPr id="3" name="Picture 2">
            <a:extLst>
              <a:ext uri="{FF2B5EF4-FFF2-40B4-BE49-F238E27FC236}">
                <a16:creationId xmlns:a16="http://schemas.microsoft.com/office/drawing/2014/main" id="{C17D6A82-AAEE-9197-56BD-39E1536A627B}"/>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iagram 1">
            <a:extLst>
              <a:ext uri="{FF2B5EF4-FFF2-40B4-BE49-F238E27FC236}">
                <a16:creationId xmlns:a16="http://schemas.microsoft.com/office/drawing/2014/main" id="{2B604A24-1C43-EF98-001D-3F5EDC937F75}"/>
              </a:ext>
            </a:extLst>
          </p:cNvPr>
          <p:cNvGraphicFramePr/>
          <p:nvPr>
            <p:extLst>
              <p:ext uri="{D42A27DB-BD31-4B8C-83A1-F6EECF244321}">
                <p14:modId xmlns:p14="http://schemas.microsoft.com/office/powerpoint/2010/main" val="2892614361"/>
              </p:ext>
            </p:extLst>
          </p:nvPr>
        </p:nvGraphicFramePr>
        <p:xfrm>
          <a:off x="2436053" y="484950"/>
          <a:ext cx="4625856" cy="457200"/>
        </p:xfrm>
        <a:graphic>
          <a:graphicData uri="http://schemas.openxmlformats.org/drawingml/2006/diagram">
            <dgm:relIds xmlns:dgm="http://schemas.openxmlformats.org/drawingml/2006/diagram" r:dm="rId3" r:lo="rId4" r:qs="rId5" r:cs="rId6"/>
          </a:graphicData>
        </a:graphic>
      </p:graphicFrame>
      <p:sp>
        <p:nvSpPr>
          <p:cNvPr id="277" name="Google Shape;277;p40"/>
          <p:cNvSpPr txBox="1">
            <a:spLocks noGrp="1"/>
          </p:cNvSpPr>
          <p:nvPr>
            <p:ph type="body" idx="1"/>
          </p:nvPr>
        </p:nvSpPr>
        <p:spPr>
          <a:xfrm>
            <a:off x="574158" y="1329070"/>
            <a:ext cx="7998341" cy="3519377"/>
          </a:xfrm>
          <a:prstGeom prst="rect">
            <a:avLst/>
          </a:prstGeom>
          <a:noFill/>
          <a:ln>
            <a:noFill/>
          </a:ln>
        </p:spPr>
        <p:txBody>
          <a:bodyPr spcFirstLastPara="1" wrap="square" lIns="91425" tIns="45700" rIns="91425" bIns="45700" anchor="t" anchorCtr="0">
            <a:normAutofit fontScale="92500" lnSpcReduction="10000"/>
          </a:bodyPr>
          <a:lstStyle/>
          <a:p>
            <a:pPr marL="76200" indent="0" algn="just">
              <a:lnSpc>
                <a:spcPct val="250000"/>
              </a:lnSpc>
              <a:buNone/>
            </a:pPr>
            <a:r>
              <a:rPr lang="en-US" sz="1400" dirty="0">
                <a:solidFill>
                  <a:schemeClr val="bg2"/>
                </a:solidFill>
                <a:latin typeface="Times New Roman" panose="02020603050405020304" pitchFamily="18" charset="0"/>
                <a:cs typeface="Times New Roman" panose="02020603050405020304" pitchFamily="18" charset="0"/>
              </a:rPr>
              <a:t>The future of Statistical Methods for AI is strong, supported by the rapid growth of data-driven technologies, machine learning, and intelligent decision-making systems across all sectors. Key areas include developing more accurate predictive models, advancing probabilistic and Bayesian techniques, strengthening statistical tools for ethical and explainable AI, and creating methods capable of handling large-scale, complex, and real-time data. Statistical thinking will remain essential for improving model reliability, reducing uncertainty, and ensuring fairness in AI applications. The field will continue to be fundamental for careers such as data scientist, AI specialist, machine learning engineer, business analyst, and research scientist.. </a:t>
            </a:r>
            <a:endParaRPr sz="1400" i="0" u="none" dirty="0">
              <a:solidFill>
                <a:schemeClr val="bg2"/>
              </a:solidFill>
              <a:latin typeface="Times New Roman" panose="02020603050405020304" pitchFamily="18" charset="0"/>
              <a:ea typeface="Times New Roman"/>
              <a:cs typeface="Times New Roman" pitchFamily="18" charset="0"/>
              <a:sym typeface="Times New Roman"/>
            </a:endParaRPr>
          </a:p>
        </p:txBody>
      </p:sp>
      <p:pic>
        <p:nvPicPr>
          <p:cNvPr id="278" name="Google Shape;278;p40"/>
          <p:cNvPicPr preferRelativeResize="0"/>
          <p:nvPr/>
        </p:nvPicPr>
        <p:blipFill rotWithShape="1">
          <a:blip r:embed="rId8">
            <a:alphaModFix/>
          </a:blip>
          <a:srcRect/>
          <a:stretch/>
        </p:blipFill>
        <p:spPr>
          <a:xfrm>
            <a:off x="76200" y="57150"/>
            <a:ext cx="1959775" cy="656400"/>
          </a:xfrm>
          <a:prstGeom prst="rect">
            <a:avLst/>
          </a:prstGeom>
          <a:noFill/>
          <a:ln>
            <a:noFill/>
          </a:ln>
        </p:spPr>
      </p:pic>
      <p:pic>
        <p:nvPicPr>
          <p:cNvPr id="3" name="Picture 2">
            <a:extLst>
              <a:ext uri="{FF2B5EF4-FFF2-40B4-BE49-F238E27FC236}">
                <a16:creationId xmlns:a16="http://schemas.microsoft.com/office/drawing/2014/main" id="{31026913-1238-3DF5-2D46-95863CCB8271}"/>
              </a:ext>
            </a:extLst>
          </p:cNvPr>
          <p:cNvPicPr>
            <a:picLocks noChangeAspect="1"/>
          </p:cNvPicPr>
          <p:nvPr/>
        </p:nvPicPr>
        <p:blipFill>
          <a:blip r:embed="rId9"/>
          <a:stretch>
            <a:fillRect/>
          </a:stretch>
        </p:blipFill>
        <p:spPr>
          <a:xfrm>
            <a:off x="7100836" y="110676"/>
            <a:ext cx="1786187" cy="785922"/>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0" name="Google Shape;290;p42"/>
          <p:cNvSpPr txBox="1"/>
          <p:nvPr/>
        </p:nvSpPr>
        <p:spPr>
          <a:xfrm>
            <a:off x="262049" y="744279"/>
            <a:ext cx="8794883" cy="4183571"/>
          </a:xfrm>
          <a:prstGeom prst="rect">
            <a:avLst/>
          </a:prstGeom>
          <a:solidFill>
            <a:srgbClr val="7030A0">
              <a:alpha val="59609"/>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 sz="1800" b="0" i="0" u="none" dirty="0">
                <a:solidFill>
                  <a:srgbClr val="FFFFFF"/>
                </a:solidFill>
                <a:latin typeface="Calibri"/>
                <a:ea typeface="Calibri"/>
                <a:cs typeface="Calibri"/>
                <a:sym typeface="Calibri"/>
              </a:rPr>
              <a:t> </a:t>
            </a:r>
            <a:endParaRPr dirty="0"/>
          </a:p>
        </p:txBody>
      </p:sp>
      <p:sp>
        <p:nvSpPr>
          <p:cNvPr id="295" name="Google Shape;295;p42"/>
          <p:cNvSpPr txBox="1"/>
          <p:nvPr/>
        </p:nvSpPr>
        <p:spPr>
          <a:xfrm>
            <a:off x="1725312" y="2759306"/>
            <a:ext cx="6959176" cy="615553"/>
          </a:xfrm>
          <a:prstGeom prst="rect">
            <a:avLst/>
          </a:prstGeom>
          <a:solidFill>
            <a:schemeClr val="accent5"/>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 sz="4000" b="0" i="0" u="none" dirty="0">
                <a:solidFill>
                  <a:srgbClr val="FFFFFF"/>
                </a:solidFill>
                <a:latin typeface="Times New Roman" pitchFamily="18" charset="0"/>
                <a:cs typeface="Times New Roman" pitchFamily="18" charset="0"/>
                <a:sym typeface="Arial"/>
              </a:rPr>
              <a:t>THANK YOU</a:t>
            </a:r>
            <a:endParaRPr sz="4000" dirty="0">
              <a:latin typeface="Times New Roman" pitchFamily="18" charset="0"/>
              <a:cs typeface="Times New Roman" pitchFamily="18" charset="0"/>
            </a:endParaRPr>
          </a:p>
        </p:txBody>
      </p:sp>
      <p:sp>
        <p:nvSpPr>
          <p:cNvPr id="296" name="Google Shape;296;p42"/>
          <p:cNvSpPr/>
          <p:nvPr/>
        </p:nvSpPr>
        <p:spPr>
          <a:xfrm>
            <a:off x="384708" y="2143556"/>
            <a:ext cx="1822847" cy="241935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sp>
        <p:nvSpPr>
          <p:cNvPr id="297" name="Google Shape;297;p42"/>
          <p:cNvSpPr/>
          <p:nvPr/>
        </p:nvSpPr>
        <p:spPr>
          <a:xfrm>
            <a:off x="813889" y="2165381"/>
            <a:ext cx="1822847" cy="241935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pic>
        <p:nvPicPr>
          <p:cNvPr id="2" name="Google Shape;285;p41">
            <a:extLst>
              <a:ext uri="{FF2B5EF4-FFF2-40B4-BE49-F238E27FC236}">
                <a16:creationId xmlns:a16="http://schemas.microsoft.com/office/drawing/2014/main" id="{E39F1BBB-9367-AD1D-ED1E-9240AD7C5909}"/>
              </a:ext>
            </a:extLst>
          </p:cNvPr>
          <p:cNvPicPr preferRelativeResize="0"/>
          <p:nvPr/>
        </p:nvPicPr>
        <p:blipFill rotWithShape="1">
          <a:blip r:embed="rId3">
            <a:alphaModFix/>
          </a:blip>
          <a:srcRect/>
          <a:stretch/>
        </p:blipFill>
        <p:spPr>
          <a:xfrm>
            <a:off x="76200" y="57150"/>
            <a:ext cx="1959775" cy="656400"/>
          </a:xfrm>
          <a:prstGeom prst="rect">
            <a:avLst/>
          </a:prstGeom>
          <a:noFill/>
          <a:ln>
            <a:noFill/>
          </a:ln>
        </p:spPr>
      </p:pic>
      <p:sp>
        <p:nvSpPr>
          <p:cNvPr id="7" name="Rectangle 6"/>
          <p:cNvSpPr/>
          <p:nvPr/>
        </p:nvSpPr>
        <p:spPr>
          <a:xfrm>
            <a:off x="5164111" y="3402419"/>
            <a:ext cx="3522689" cy="1041992"/>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For any doubt:</a:t>
            </a:r>
          </a:p>
          <a:p>
            <a:pPr algn="ctr"/>
            <a:r>
              <a:rPr lang="en-US"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Contact:neetu.e17077@cumail.in</a:t>
            </a:r>
          </a:p>
        </p:txBody>
      </p:sp>
      <p:pic>
        <p:nvPicPr>
          <p:cNvPr id="3" name="Picture 2">
            <a:extLst>
              <a:ext uri="{FF2B5EF4-FFF2-40B4-BE49-F238E27FC236}">
                <a16:creationId xmlns:a16="http://schemas.microsoft.com/office/drawing/2014/main" id="{F6FBB9D8-DE92-3B5C-1F56-DCDBEB7A329D}"/>
              </a:ext>
            </a:extLst>
          </p:cNvPr>
          <p:cNvPicPr>
            <a:picLocks noChangeAspect="1"/>
          </p:cNvPicPr>
          <p:nvPr/>
        </p:nvPicPr>
        <p:blipFill>
          <a:blip r:embed="rId4"/>
          <a:stretch>
            <a:fillRect/>
          </a:stretch>
        </p:blipFill>
        <p:spPr>
          <a:xfrm>
            <a:off x="7357813" y="0"/>
            <a:ext cx="1786187" cy="7859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